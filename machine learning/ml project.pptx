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65" r:id="rId4"/>
    <p:sldId id="266" r:id="rId5"/>
    <p:sldId id="272" r:id="rId6"/>
    <p:sldId id="273" r:id="rId7"/>
    <p:sldId id="274" r:id="rId8"/>
    <p:sldId id="275" r:id="rId9"/>
    <p:sldId id="264" r:id="rId10"/>
    <p:sldId id="278" r:id="rId11"/>
    <p:sldId id="276" r:id="rId12"/>
    <p:sldId id="261" r:id="rId13"/>
    <p:sldId id="262" r:id="rId14"/>
    <p:sldId id="277" r:id="rId15"/>
    <p:sldId id="263" r:id="rId16"/>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6F5"/>
    <a:srgbClr val="CFCF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varScale="1">
        <p:scale>
          <a:sx n="84" d="100"/>
          <a:sy n="84" d="100"/>
        </p:scale>
        <p:origin x="1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B18F3B-85F5-487A-A9B1-A3B389597F68}"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BB3DCBE2-A3BE-463D-BF7A-CA06B3E95342}">
      <dgm:prSet/>
      <dgm:spPr/>
      <dgm:t>
        <a:bodyPr/>
        <a:lstStyle/>
        <a:p>
          <a:r>
            <a:rPr lang="en-US" dirty="0"/>
            <a:t>Techniques:</a:t>
          </a:r>
        </a:p>
      </dgm:t>
    </dgm:pt>
    <dgm:pt modelId="{91E70D31-3828-487F-AADD-DB596827499F}" type="parTrans" cxnId="{26805B18-3367-4434-AEE8-B08F9BEA4B62}">
      <dgm:prSet/>
      <dgm:spPr/>
      <dgm:t>
        <a:bodyPr/>
        <a:lstStyle/>
        <a:p>
          <a:endParaRPr lang="en-US"/>
        </a:p>
      </dgm:t>
    </dgm:pt>
    <dgm:pt modelId="{2DF3450C-654B-4649-88FA-254B86F547CC}" type="sibTrans" cxnId="{26805B18-3367-4434-AEE8-B08F9BEA4B62}">
      <dgm:prSet/>
      <dgm:spPr/>
      <dgm:t>
        <a:bodyPr/>
        <a:lstStyle/>
        <a:p>
          <a:endParaRPr lang="en-US"/>
        </a:p>
      </dgm:t>
    </dgm:pt>
    <dgm:pt modelId="{DA20C15D-3FA2-427A-AFE3-99C8306CF7BB}">
      <dgm:prSet/>
      <dgm:spPr/>
      <dgm:t>
        <a:bodyPr/>
        <a:lstStyle/>
        <a:p>
          <a:r>
            <a:rPr lang="en-US" dirty="0"/>
            <a:t>1) transform categorical data into numerical </a:t>
          </a:r>
        </a:p>
      </dgm:t>
    </dgm:pt>
    <dgm:pt modelId="{EA3A9641-9AD5-4205-AA9A-75BAD5891816}" type="parTrans" cxnId="{9AFC5DA2-17C9-493A-9FF8-87031839058D}">
      <dgm:prSet/>
      <dgm:spPr/>
      <dgm:t>
        <a:bodyPr/>
        <a:lstStyle/>
        <a:p>
          <a:endParaRPr lang="en-US"/>
        </a:p>
      </dgm:t>
    </dgm:pt>
    <dgm:pt modelId="{B696DF01-232B-4611-BAB6-0D12370E9B83}" type="sibTrans" cxnId="{9AFC5DA2-17C9-493A-9FF8-87031839058D}">
      <dgm:prSet/>
      <dgm:spPr/>
      <dgm:t>
        <a:bodyPr/>
        <a:lstStyle/>
        <a:p>
          <a:endParaRPr lang="en-US"/>
        </a:p>
      </dgm:t>
    </dgm:pt>
    <dgm:pt modelId="{54B6FCB9-3D9D-4D85-9ABD-279820EE673C}">
      <dgm:prSet/>
      <dgm:spPr/>
      <dgm:t>
        <a:bodyPr/>
        <a:lstStyle/>
        <a:p>
          <a:r>
            <a:rPr lang="en-US" dirty="0"/>
            <a:t>2) Feature scaling</a:t>
          </a:r>
        </a:p>
      </dgm:t>
    </dgm:pt>
    <dgm:pt modelId="{C3D272B3-5198-4650-8712-6500C9CE63D7}" type="parTrans" cxnId="{390BE429-1B51-4D79-8AEC-75F23B6DAA52}">
      <dgm:prSet/>
      <dgm:spPr/>
      <dgm:t>
        <a:bodyPr/>
        <a:lstStyle/>
        <a:p>
          <a:endParaRPr lang="en-US"/>
        </a:p>
      </dgm:t>
    </dgm:pt>
    <dgm:pt modelId="{8821A458-A988-461F-BD4D-DB6E8EE41C79}" type="sibTrans" cxnId="{390BE429-1B51-4D79-8AEC-75F23B6DAA52}">
      <dgm:prSet/>
      <dgm:spPr/>
      <dgm:t>
        <a:bodyPr/>
        <a:lstStyle/>
        <a:p>
          <a:endParaRPr lang="en-US"/>
        </a:p>
      </dgm:t>
    </dgm:pt>
    <dgm:pt modelId="{70C3F05B-D51E-485F-A9FF-7A26FB830FE7}">
      <dgm:prSet/>
      <dgm:spPr/>
      <dgm:t>
        <a:bodyPr/>
        <a:lstStyle/>
        <a:p>
          <a:r>
            <a:rPr lang="en-US" dirty="0"/>
            <a:t>3) Splitting data into training and testing sets</a:t>
          </a:r>
        </a:p>
      </dgm:t>
    </dgm:pt>
    <dgm:pt modelId="{699A0BE0-3D4B-4B42-B147-D04186017CA4}" type="parTrans" cxnId="{16FF5474-0BE5-4DF9-9E22-EA2B56CA46F2}">
      <dgm:prSet/>
      <dgm:spPr/>
      <dgm:t>
        <a:bodyPr/>
        <a:lstStyle/>
        <a:p>
          <a:endParaRPr lang="en-US"/>
        </a:p>
      </dgm:t>
    </dgm:pt>
    <dgm:pt modelId="{AF110E1D-838C-475F-A7FF-EE18E9928F04}" type="sibTrans" cxnId="{16FF5474-0BE5-4DF9-9E22-EA2B56CA46F2}">
      <dgm:prSet/>
      <dgm:spPr/>
      <dgm:t>
        <a:bodyPr/>
        <a:lstStyle/>
        <a:p>
          <a:endParaRPr lang="en-US"/>
        </a:p>
      </dgm:t>
    </dgm:pt>
    <dgm:pt modelId="{974DAF1A-121E-48C3-840B-C6A218C7E8FB}">
      <dgm:prSet/>
      <dgm:spPr/>
      <dgm:t>
        <a:bodyPr/>
        <a:lstStyle/>
        <a:p>
          <a:r>
            <a:rPr lang="en-US" dirty="0"/>
            <a:t>4)Scaled the dataset features values</a:t>
          </a:r>
        </a:p>
      </dgm:t>
    </dgm:pt>
    <dgm:pt modelId="{915777BB-909D-47A0-B780-0B3C26D3AD2F}" type="parTrans" cxnId="{B4F0823D-AB09-492B-A94A-9F104B51E3A3}">
      <dgm:prSet/>
      <dgm:spPr/>
      <dgm:t>
        <a:bodyPr/>
        <a:lstStyle/>
        <a:p>
          <a:endParaRPr lang="en-US"/>
        </a:p>
      </dgm:t>
    </dgm:pt>
    <dgm:pt modelId="{E174BF21-652B-42FA-94F8-3998259BE710}" type="sibTrans" cxnId="{B4F0823D-AB09-492B-A94A-9F104B51E3A3}">
      <dgm:prSet/>
      <dgm:spPr/>
      <dgm:t>
        <a:bodyPr/>
        <a:lstStyle/>
        <a:p>
          <a:endParaRPr lang="en-US"/>
        </a:p>
      </dgm:t>
    </dgm:pt>
    <dgm:pt modelId="{57DEF676-0246-4509-8877-B9CD56DAD40F}" type="pres">
      <dgm:prSet presAssocID="{0EB18F3B-85F5-487A-A9B1-A3B389597F68}" presName="vert0" presStyleCnt="0">
        <dgm:presLayoutVars>
          <dgm:dir/>
          <dgm:animOne val="branch"/>
          <dgm:animLvl val="lvl"/>
        </dgm:presLayoutVars>
      </dgm:prSet>
      <dgm:spPr/>
    </dgm:pt>
    <dgm:pt modelId="{F2C31CC9-D0A1-46B2-94BE-2B2DD83D8517}" type="pres">
      <dgm:prSet presAssocID="{BB3DCBE2-A3BE-463D-BF7A-CA06B3E95342}" presName="thickLine" presStyleLbl="alignNode1" presStyleIdx="0" presStyleCnt="5"/>
      <dgm:spPr/>
    </dgm:pt>
    <dgm:pt modelId="{8F7E2796-E354-45F2-99ED-9C3BB6B0EDA4}" type="pres">
      <dgm:prSet presAssocID="{BB3DCBE2-A3BE-463D-BF7A-CA06B3E95342}" presName="horz1" presStyleCnt="0"/>
      <dgm:spPr/>
    </dgm:pt>
    <dgm:pt modelId="{20C640A5-A0B4-4AD4-8AD0-9B2FCFB57D6F}" type="pres">
      <dgm:prSet presAssocID="{BB3DCBE2-A3BE-463D-BF7A-CA06B3E95342}" presName="tx1" presStyleLbl="revTx" presStyleIdx="0" presStyleCnt="5"/>
      <dgm:spPr/>
    </dgm:pt>
    <dgm:pt modelId="{0009BFEC-C096-4F8D-B05B-6F32BB63E322}" type="pres">
      <dgm:prSet presAssocID="{BB3DCBE2-A3BE-463D-BF7A-CA06B3E95342}" presName="vert1" presStyleCnt="0"/>
      <dgm:spPr/>
    </dgm:pt>
    <dgm:pt modelId="{55BB134E-3511-47B1-9704-13C94BDAA84F}" type="pres">
      <dgm:prSet presAssocID="{DA20C15D-3FA2-427A-AFE3-99C8306CF7BB}" presName="thickLine" presStyleLbl="alignNode1" presStyleIdx="1" presStyleCnt="5"/>
      <dgm:spPr/>
    </dgm:pt>
    <dgm:pt modelId="{053B2C65-37A1-4FB6-B33D-C4EDD5231144}" type="pres">
      <dgm:prSet presAssocID="{DA20C15D-3FA2-427A-AFE3-99C8306CF7BB}" presName="horz1" presStyleCnt="0"/>
      <dgm:spPr/>
    </dgm:pt>
    <dgm:pt modelId="{48FA163F-6A88-4217-88F2-6025684D05E2}" type="pres">
      <dgm:prSet presAssocID="{DA20C15D-3FA2-427A-AFE3-99C8306CF7BB}" presName="tx1" presStyleLbl="revTx" presStyleIdx="1" presStyleCnt="5"/>
      <dgm:spPr/>
    </dgm:pt>
    <dgm:pt modelId="{5911CCD7-2149-461A-9953-8E6AA9F38BBB}" type="pres">
      <dgm:prSet presAssocID="{DA20C15D-3FA2-427A-AFE3-99C8306CF7BB}" presName="vert1" presStyleCnt="0"/>
      <dgm:spPr/>
    </dgm:pt>
    <dgm:pt modelId="{335129C0-FB85-4F7D-AA30-EC8A667F7A08}" type="pres">
      <dgm:prSet presAssocID="{54B6FCB9-3D9D-4D85-9ABD-279820EE673C}" presName="thickLine" presStyleLbl="alignNode1" presStyleIdx="2" presStyleCnt="5"/>
      <dgm:spPr/>
    </dgm:pt>
    <dgm:pt modelId="{AFB14C12-0B82-4959-8708-F7F2B5A08861}" type="pres">
      <dgm:prSet presAssocID="{54B6FCB9-3D9D-4D85-9ABD-279820EE673C}" presName="horz1" presStyleCnt="0"/>
      <dgm:spPr/>
    </dgm:pt>
    <dgm:pt modelId="{E2537477-BBDA-4834-9B9F-E7D2B1FA2FFD}" type="pres">
      <dgm:prSet presAssocID="{54B6FCB9-3D9D-4D85-9ABD-279820EE673C}" presName="tx1" presStyleLbl="revTx" presStyleIdx="2" presStyleCnt="5"/>
      <dgm:spPr/>
    </dgm:pt>
    <dgm:pt modelId="{264B5938-AF00-4D1A-809E-06D5813DA6F6}" type="pres">
      <dgm:prSet presAssocID="{54B6FCB9-3D9D-4D85-9ABD-279820EE673C}" presName="vert1" presStyleCnt="0"/>
      <dgm:spPr/>
    </dgm:pt>
    <dgm:pt modelId="{D0BCA745-C50D-4E60-830A-BDBE75D0EF33}" type="pres">
      <dgm:prSet presAssocID="{70C3F05B-D51E-485F-A9FF-7A26FB830FE7}" presName="thickLine" presStyleLbl="alignNode1" presStyleIdx="3" presStyleCnt="5"/>
      <dgm:spPr/>
    </dgm:pt>
    <dgm:pt modelId="{6EB5F4DF-FE4D-41A8-85EC-4E504549FD94}" type="pres">
      <dgm:prSet presAssocID="{70C3F05B-D51E-485F-A9FF-7A26FB830FE7}" presName="horz1" presStyleCnt="0"/>
      <dgm:spPr/>
    </dgm:pt>
    <dgm:pt modelId="{AA6C318C-5E77-4AAA-8D87-08BE465097C7}" type="pres">
      <dgm:prSet presAssocID="{70C3F05B-D51E-485F-A9FF-7A26FB830FE7}" presName="tx1" presStyleLbl="revTx" presStyleIdx="3" presStyleCnt="5"/>
      <dgm:spPr/>
    </dgm:pt>
    <dgm:pt modelId="{6F0A4FC0-9602-45F7-8C01-A5581B352EF0}" type="pres">
      <dgm:prSet presAssocID="{70C3F05B-D51E-485F-A9FF-7A26FB830FE7}" presName="vert1" presStyleCnt="0"/>
      <dgm:spPr/>
    </dgm:pt>
    <dgm:pt modelId="{9D767494-1E84-4280-BD33-247BC18B5064}" type="pres">
      <dgm:prSet presAssocID="{974DAF1A-121E-48C3-840B-C6A218C7E8FB}" presName="thickLine" presStyleLbl="alignNode1" presStyleIdx="4" presStyleCnt="5"/>
      <dgm:spPr/>
    </dgm:pt>
    <dgm:pt modelId="{A54E195F-286C-42D9-8FE3-9947C2055CA9}" type="pres">
      <dgm:prSet presAssocID="{974DAF1A-121E-48C3-840B-C6A218C7E8FB}" presName="horz1" presStyleCnt="0"/>
      <dgm:spPr/>
    </dgm:pt>
    <dgm:pt modelId="{7FFF7D68-EAF2-47F5-88E0-A41C68636212}" type="pres">
      <dgm:prSet presAssocID="{974DAF1A-121E-48C3-840B-C6A218C7E8FB}" presName="tx1" presStyleLbl="revTx" presStyleIdx="4" presStyleCnt="5"/>
      <dgm:spPr/>
    </dgm:pt>
    <dgm:pt modelId="{D23F8AD8-2223-4EAE-BA0B-AF9D20914BA6}" type="pres">
      <dgm:prSet presAssocID="{974DAF1A-121E-48C3-840B-C6A218C7E8FB}" presName="vert1" presStyleCnt="0"/>
      <dgm:spPr/>
    </dgm:pt>
  </dgm:ptLst>
  <dgm:cxnLst>
    <dgm:cxn modelId="{E4C36011-949E-472F-936D-5AC86C5D289F}" type="presOf" srcId="{54B6FCB9-3D9D-4D85-9ABD-279820EE673C}" destId="{E2537477-BBDA-4834-9B9F-E7D2B1FA2FFD}" srcOrd="0" destOrd="0" presId="urn:microsoft.com/office/officeart/2008/layout/LinedList"/>
    <dgm:cxn modelId="{26805B18-3367-4434-AEE8-B08F9BEA4B62}" srcId="{0EB18F3B-85F5-487A-A9B1-A3B389597F68}" destId="{BB3DCBE2-A3BE-463D-BF7A-CA06B3E95342}" srcOrd="0" destOrd="0" parTransId="{91E70D31-3828-487F-AADD-DB596827499F}" sibTransId="{2DF3450C-654B-4649-88FA-254B86F547CC}"/>
    <dgm:cxn modelId="{390BE429-1B51-4D79-8AEC-75F23B6DAA52}" srcId="{0EB18F3B-85F5-487A-A9B1-A3B389597F68}" destId="{54B6FCB9-3D9D-4D85-9ABD-279820EE673C}" srcOrd="2" destOrd="0" parTransId="{C3D272B3-5198-4650-8712-6500C9CE63D7}" sibTransId="{8821A458-A988-461F-BD4D-DB6E8EE41C79}"/>
    <dgm:cxn modelId="{814D5537-5DB9-4F47-8BD2-40B34AF5CA21}" type="presOf" srcId="{974DAF1A-121E-48C3-840B-C6A218C7E8FB}" destId="{7FFF7D68-EAF2-47F5-88E0-A41C68636212}" srcOrd="0" destOrd="0" presId="urn:microsoft.com/office/officeart/2008/layout/LinedList"/>
    <dgm:cxn modelId="{B4F0823D-AB09-492B-A94A-9F104B51E3A3}" srcId="{0EB18F3B-85F5-487A-A9B1-A3B389597F68}" destId="{974DAF1A-121E-48C3-840B-C6A218C7E8FB}" srcOrd="4" destOrd="0" parTransId="{915777BB-909D-47A0-B780-0B3C26D3AD2F}" sibTransId="{E174BF21-652B-42FA-94F8-3998259BE710}"/>
    <dgm:cxn modelId="{82C1375F-3042-4211-AEC5-128702E0D184}" type="presOf" srcId="{BB3DCBE2-A3BE-463D-BF7A-CA06B3E95342}" destId="{20C640A5-A0B4-4AD4-8AD0-9B2FCFB57D6F}" srcOrd="0" destOrd="0" presId="urn:microsoft.com/office/officeart/2008/layout/LinedList"/>
    <dgm:cxn modelId="{08D61467-8E36-4A4F-90C7-4B8D3D3CAFA7}" type="presOf" srcId="{DA20C15D-3FA2-427A-AFE3-99C8306CF7BB}" destId="{48FA163F-6A88-4217-88F2-6025684D05E2}" srcOrd="0" destOrd="0" presId="urn:microsoft.com/office/officeart/2008/layout/LinedList"/>
    <dgm:cxn modelId="{F9E13F71-2C0F-4EA7-A678-0BE77C35F23B}" type="presOf" srcId="{0EB18F3B-85F5-487A-A9B1-A3B389597F68}" destId="{57DEF676-0246-4509-8877-B9CD56DAD40F}" srcOrd="0" destOrd="0" presId="urn:microsoft.com/office/officeart/2008/layout/LinedList"/>
    <dgm:cxn modelId="{16FF5474-0BE5-4DF9-9E22-EA2B56CA46F2}" srcId="{0EB18F3B-85F5-487A-A9B1-A3B389597F68}" destId="{70C3F05B-D51E-485F-A9FF-7A26FB830FE7}" srcOrd="3" destOrd="0" parTransId="{699A0BE0-3D4B-4B42-B147-D04186017CA4}" sibTransId="{AF110E1D-838C-475F-A7FF-EE18E9928F04}"/>
    <dgm:cxn modelId="{C151E898-F9E4-4D4A-ABF2-8971BBD15B94}" type="presOf" srcId="{70C3F05B-D51E-485F-A9FF-7A26FB830FE7}" destId="{AA6C318C-5E77-4AAA-8D87-08BE465097C7}" srcOrd="0" destOrd="0" presId="urn:microsoft.com/office/officeart/2008/layout/LinedList"/>
    <dgm:cxn modelId="{9AFC5DA2-17C9-493A-9FF8-87031839058D}" srcId="{0EB18F3B-85F5-487A-A9B1-A3B389597F68}" destId="{DA20C15D-3FA2-427A-AFE3-99C8306CF7BB}" srcOrd="1" destOrd="0" parTransId="{EA3A9641-9AD5-4205-AA9A-75BAD5891816}" sibTransId="{B696DF01-232B-4611-BAB6-0D12370E9B83}"/>
    <dgm:cxn modelId="{8AF94E63-865A-4A7E-8E38-FBB274411FA6}" type="presParOf" srcId="{57DEF676-0246-4509-8877-B9CD56DAD40F}" destId="{F2C31CC9-D0A1-46B2-94BE-2B2DD83D8517}" srcOrd="0" destOrd="0" presId="urn:microsoft.com/office/officeart/2008/layout/LinedList"/>
    <dgm:cxn modelId="{1A87718B-326A-4763-9CBA-CA54F44D9C7A}" type="presParOf" srcId="{57DEF676-0246-4509-8877-B9CD56DAD40F}" destId="{8F7E2796-E354-45F2-99ED-9C3BB6B0EDA4}" srcOrd="1" destOrd="0" presId="urn:microsoft.com/office/officeart/2008/layout/LinedList"/>
    <dgm:cxn modelId="{45678899-DA72-4A36-A120-70151C6E1971}" type="presParOf" srcId="{8F7E2796-E354-45F2-99ED-9C3BB6B0EDA4}" destId="{20C640A5-A0B4-4AD4-8AD0-9B2FCFB57D6F}" srcOrd="0" destOrd="0" presId="urn:microsoft.com/office/officeart/2008/layout/LinedList"/>
    <dgm:cxn modelId="{B4F1A07F-485C-41EB-AADE-98957168D4B6}" type="presParOf" srcId="{8F7E2796-E354-45F2-99ED-9C3BB6B0EDA4}" destId="{0009BFEC-C096-4F8D-B05B-6F32BB63E322}" srcOrd="1" destOrd="0" presId="urn:microsoft.com/office/officeart/2008/layout/LinedList"/>
    <dgm:cxn modelId="{2BC03287-CE2E-4DD1-938C-1B50854D5449}" type="presParOf" srcId="{57DEF676-0246-4509-8877-B9CD56DAD40F}" destId="{55BB134E-3511-47B1-9704-13C94BDAA84F}" srcOrd="2" destOrd="0" presId="urn:microsoft.com/office/officeart/2008/layout/LinedList"/>
    <dgm:cxn modelId="{22A985B5-9587-4A62-9679-4D957895446C}" type="presParOf" srcId="{57DEF676-0246-4509-8877-B9CD56DAD40F}" destId="{053B2C65-37A1-4FB6-B33D-C4EDD5231144}" srcOrd="3" destOrd="0" presId="urn:microsoft.com/office/officeart/2008/layout/LinedList"/>
    <dgm:cxn modelId="{0DD08D11-C926-481C-8453-C68F16DEC22D}" type="presParOf" srcId="{053B2C65-37A1-4FB6-B33D-C4EDD5231144}" destId="{48FA163F-6A88-4217-88F2-6025684D05E2}" srcOrd="0" destOrd="0" presId="urn:microsoft.com/office/officeart/2008/layout/LinedList"/>
    <dgm:cxn modelId="{1B33F27A-8AFC-46BA-93F9-733337E2B76B}" type="presParOf" srcId="{053B2C65-37A1-4FB6-B33D-C4EDD5231144}" destId="{5911CCD7-2149-461A-9953-8E6AA9F38BBB}" srcOrd="1" destOrd="0" presId="urn:microsoft.com/office/officeart/2008/layout/LinedList"/>
    <dgm:cxn modelId="{AA1F8AD4-E55B-4CD3-BCC2-C1D786C828F9}" type="presParOf" srcId="{57DEF676-0246-4509-8877-B9CD56DAD40F}" destId="{335129C0-FB85-4F7D-AA30-EC8A667F7A08}" srcOrd="4" destOrd="0" presId="urn:microsoft.com/office/officeart/2008/layout/LinedList"/>
    <dgm:cxn modelId="{4BF011CD-438A-45EF-84A2-9C6BF948A99B}" type="presParOf" srcId="{57DEF676-0246-4509-8877-B9CD56DAD40F}" destId="{AFB14C12-0B82-4959-8708-F7F2B5A08861}" srcOrd="5" destOrd="0" presId="urn:microsoft.com/office/officeart/2008/layout/LinedList"/>
    <dgm:cxn modelId="{17BD0C04-057D-4FCD-ADFC-6481C6CBCF57}" type="presParOf" srcId="{AFB14C12-0B82-4959-8708-F7F2B5A08861}" destId="{E2537477-BBDA-4834-9B9F-E7D2B1FA2FFD}" srcOrd="0" destOrd="0" presId="urn:microsoft.com/office/officeart/2008/layout/LinedList"/>
    <dgm:cxn modelId="{5C3785E4-09BD-4ECF-BE35-1E873244F779}" type="presParOf" srcId="{AFB14C12-0B82-4959-8708-F7F2B5A08861}" destId="{264B5938-AF00-4D1A-809E-06D5813DA6F6}" srcOrd="1" destOrd="0" presId="urn:microsoft.com/office/officeart/2008/layout/LinedList"/>
    <dgm:cxn modelId="{38A1A91B-C667-493A-9BAD-DA121B2ADCF5}" type="presParOf" srcId="{57DEF676-0246-4509-8877-B9CD56DAD40F}" destId="{D0BCA745-C50D-4E60-830A-BDBE75D0EF33}" srcOrd="6" destOrd="0" presId="urn:microsoft.com/office/officeart/2008/layout/LinedList"/>
    <dgm:cxn modelId="{8C39FFC4-97F0-4DDC-AE38-8D3C241301A1}" type="presParOf" srcId="{57DEF676-0246-4509-8877-B9CD56DAD40F}" destId="{6EB5F4DF-FE4D-41A8-85EC-4E504549FD94}" srcOrd="7" destOrd="0" presId="urn:microsoft.com/office/officeart/2008/layout/LinedList"/>
    <dgm:cxn modelId="{89927F91-4123-4E4B-88E1-9109A8AE4738}" type="presParOf" srcId="{6EB5F4DF-FE4D-41A8-85EC-4E504549FD94}" destId="{AA6C318C-5E77-4AAA-8D87-08BE465097C7}" srcOrd="0" destOrd="0" presId="urn:microsoft.com/office/officeart/2008/layout/LinedList"/>
    <dgm:cxn modelId="{A0FB580E-C473-4206-859F-C2E7A2B00F8E}" type="presParOf" srcId="{6EB5F4DF-FE4D-41A8-85EC-4E504549FD94}" destId="{6F0A4FC0-9602-45F7-8C01-A5581B352EF0}" srcOrd="1" destOrd="0" presId="urn:microsoft.com/office/officeart/2008/layout/LinedList"/>
    <dgm:cxn modelId="{17B58310-F032-4C04-A7B2-48C9A0D1EA0C}" type="presParOf" srcId="{57DEF676-0246-4509-8877-B9CD56DAD40F}" destId="{9D767494-1E84-4280-BD33-247BC18B5064}" srcOrd="8" destOrd="0" presId="urn:microsoft.com/office/officeart/2008/layout/LinedList"/>
    <dgm:cxn modelId="{2DC07A2F-76A1-480F-88CB-167E0D357664}" type="presParOf" srcId="{57DEF676-0246-4509-8877-B9CD56DAD40F}" destId="{A54E195F-286C-42D9-8FE3-9947C2055CA9}" srcOrd="9" destOrd="0" presId="urn:microsoft.com/office/officeart/2008/layout/LinedList"/>
    <dgm:cxn modelId="{8DA18CE6-DAFB-44C0-8D08-EDD584F110CC}" type="presParOf" srcId="{A54E195F-286C-42D9-8FE3-9947C2055CA9}" destId="{7FFF7D68-EAF2-47F5-88E0-A41C68636212}" srcOrd="0" destOrd="0" presId="urn:microsoft.com/office/officeart/2008/layout/LinedList"/>
    <dgm:cxn modelId="{63C86651-C8EA-486A-A3D7-C002A7A213B1}" type="presParOf" srcId="{A54E195F-286C-42D9-8FE3-9947C2055CA9}" destId="{D23F8AD8-2223-4EAE-BA0B-AF9D20914BA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B18F3B-85F5-487A-A9B1-A3B389597F68}"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BB3DCBE2-A3BE-463D-BF7A-CA06B3E95342}">
      <dgm:prSet/>
      <dgm:spPr/>
      <dgm:t>
        <a:bodyPr/>
        <a:lstStyle/>
        <a:p>
          <a:r>
            <a:rPr lang="en-US" dirty="0"/>
            <a:t>Techniques:</a:t>
          </a:r>
        </a:p>
      </dgm:t>
    </dgm:pt>
    <dgm:pt modelId="{91E70D31-3828-487F-AADD-DB596827499F}" type="parTrans" cxnId="{26805B18-3367-4434-AEE8-B08F9BEA4B62}">
      <dgm:prSet/>
      <dgm:spPr/>
      <dgm:t>
        <a:bodyPr/>
        <a:lstStyle/>
        <a:p>
          <a:endParaRPr lang="en-US"/>
        </a:p>
      </dgm:t>
    </dgm:pt>
    <dgm:pt modelId="{2DF3450C-654B-4649-88FA-254B86F547CC}" type="sibTrans" cxnId="{26805B18-3367-4434-AEE8-B08F9BEA4B62}">
      <dgm:prSet/>
      <dgm:spPr/>
      <dgm:t>
        <a:bodyPr/>
        <a:lstStyle/>
        <a:p>
          <a:endParaRPr lang="en-US"/>
        </a:p>
      </dgm:t>
    </dgm:pt>
    <dgm:pt modelId="{DA20C15D-3FA2-427A-AFE3-99C8306CF7BB}">
      <dgm:prSet/>
      <dgm:spPr/>
      <dgm:t>
        <a:bodyPr/>
        <a:lstStyle/>
        <a:p>
          <a:r>
            <a:rPr lang="en-US" dirty="0"/>
            <a:t>1) transform categorical data into numerical </a:t>
          </a:r>
        </a:p>
      </dgm:t>
    </dgm:pt>
    <dgm:pt modelId="{EA3A9641-9AD5-4205-AA9A-75BAD5891816}" type="parTrans" cxnId="{9AFC5DA2-17C9-493A-9FF8-87031839058D}">
      <dgm:prSet/>
      <dgm:spPr/>
      <dgm:t>
        <a:bodyPr/>
        <a:lstStyle/>
        <a:p>
          <a:endParaRPr lang="en-US"/>
        </a:p>
      </dgm:t>
    </dgm:pt>
    <dgm:pt modelId="{B696DF01-232B-4611-BAB6-0D12370E9B83}" type="sibTrans" cxnId="{9AFC5DA2-17C9-493A-9FF8-87031839058D}">
      <dgm:prSet/>
      <dgm:spPr/>
      <dgm:t>
        <a:bodyPr/>
        <a:lstStyle/>
        <a:p>
          <a:endParaRPr lang="en-US"/>
        </a:p>
      </dgm:t>
    </dgm:pt>
    <dgm:pt modelId="{54B6FCB9-3D9D-4D85-9ABD-279820EE673C}">
      <dgm:prSet/>
      <dgm:spPr/>
      <dgm:t>
        <a:bodyPr/>
        <a:lstStyle/>
        <a:p>
          <a:r>
            <a:rPr lang="en-US" dirty="0"/>
            <a:t>2) Feature scaling</a:t>
          </a:r>
        </a:p>
      </dgm:t>
    </dgm:pt>
    <dgm:pt modelId="{C3D272B3-5198-4650-8712-6500C9CE63D7}" type="parTrans" cxnId="{390BE429-1B51-4D79-8AEC-75F23B6DAA52}">
      <dgm:prSet/>
      <dgm:spPr/>
      <dgm:t>
        <a:bodyPr/>
        <a:lstStyle/>
        <a:p>
          <a:endParaRPr lang="en-US"/>
        </a:p>
      </dgm:t>
    </dgm:pt>
    <dgm:pt modelId="{8821A458-A988-461F-BD4D-DB6E8EE41C79}" type="sibTrans" cxnId="{390BE429-1B51-4D79-8AEC-75F23B6DAA52}">
      <dgm:prSet/>
      <dgm:spPr/>
      <dgm:t>
        <a:bodyPr/>
        <a:lstStyle/>
        <a:p>
          <a:endParaRPr lang="en-US"/>
        </a:p>
      </dgm:t>
    </dgm:pt>
    <dgm:pt modelId="{70C3F05B-D51E-485F-A9FF-7A26FB830FE7}">
      <dgm:prSet/>
      <dgm:spPr/>
      <dgm:t>
        <a:bodyPr/>
        <a:lstStyle/>
        <a:p>
          <a:r>
            <a:rPr lang="en-US" dirty="0"/>
            <a:t>3) Splitting data into training and testing sets</a:t>
          </a:r>
        </a:p>
      </dgm:t>
    </dgm:pt>
    <dgm:pt modelId="{699A0BE0-3D4B-4B42-B147-D04186017CA4}" type="parTrans" cxnId="{16FF5474-0BE5-4DF9-9E22-EA2B56CA46F2}">
      <dgm:prSet/>
      <dgm:spPr/>
      <dgm:t>
        <a:bodyPr/>
        <a:lstStyle/>
        <a:p>
          <a:endParaRPr lang="en-US"/>
        </a:p>
      </dgm:t>
    </dgm:pt>
    <dgm:pt modelId="{AF110E1D-838C-475F-A7FF-EE18E9928F04}" type="sibTrans" cxnId="{16FF5474-0BE5-4DF9-9E22-EA2B56CA46F2}">
      <dgm:prSet/>
      <dgm:spPr/>
      <dgm:t>
        <a:bodyPr/>
        <a:lstStyle/>
        <a:p>
          <a:endParaRPr lang="en-US"/>
        </a:p>
      </dgm:t>
    </dgm:pt>
    <dgm:pt modelId="{974DAF1A-121E-48C3-840B-C6A218C7E8FB}">
      <dgm:prSet/>
      <dgm:spPr/>
      <dgm:t>
        <a:bodyPr/>
        <a:lstStyle/>
        <a:p>
          <a:r>
            <a:rPr lang="en-US" dirty="0"/>
            <a:t>4)Scaled the dataset features values</a:t>
          </a:r>
        </a:p>
      </dgm:t>
    </dgm:pt>
    <dgm:pt modelId="{915777BB-909D-47A0-B780-0B3C26D3AD2F}" type="parTrans" cxnId="{B4F0823D-AB09-492B-A94A-9F104B51E3A3}">
      <dgm:prSet/>
      <dgm:spPr/>
      <dgm:t>
        <a:bodyPr/>
        <a:lstStyle/>
        <a:p>
          <a:endParaRPr lang="en-US"/>
        </a:p>
      </dgm:t>
    </dgm:pt>
    <dgm:pt modelId="{E174BF21-652B-42FA-94F8-3998259BE710}" type="sibTrans" cxnId="{B4F0823D-AB09-492B-A94A-9F104B51E3A3}">
      <dgm:prSet/>
      <dgm:spPr/>
      <dgm:t>
        <a:bodyPr/>
        <a:lstStyle/>
        <a:p>
          <a:endParaRPr lang="en-US"/>
        </a:p>
      </dgm:t>
    </dgm:pt>
    <dgm:pt modelId="{57DEF676-0246-4509-8877-B9CD56DAD40F}" type="pres">
      <dgm:prSet presAssocID="{0EB18F3B-85F5-487A-A9B1-A3B389597F68}" presName="vert0" presStyleCnt="0">
        <dgm:presLayoutVars>
          <dgm:dir/>
          <dgm:animOne val="branch"/>
          <dgm:animLvl val="lvl"/>
        </dgm:presLayoutVars>
      </dgm:prSet>
      <dgm:spPr/>
    </dgm:pt>
    <dgm:pt modelId="{F2C31CC9-D0A1-46B2-94BE-2B2DD83D8517}" type="pres">
      <dgm:prSet presAssocID="{BB3DCBE2-A3BE-463D-BF7A-CA06B3E95342}" presName="thickLine" presStyleLbl="alignNode1" presStyleIdx="0" presStyleCnt="5"/>
      <dgm:spPr/>
    </dgm:pt>
    <dgm:pt modelId="{8F7E2796-E354-45F2-99ED-9C3BB6B0EDA4}" type="pres">
      <dgm:prSet presAssocID="{BB3DCBE2-A3BE-463D-BF7A-CA06B3E95342}" presName="horz1" presStyleCnt="0"/>
      <dgm:spPr/>
    </dgm:pt>
    <dgm:pt modelId="{20C640A5-A0B4-4AD4-8AD0-9B2FCFB57D6F}" type="pres">
      <dgm:prSet presAssocID="{BB3DCBE2-A3BE-463D-BF7A-CA06B3E95342}" presName="tx1" presStyleLbl="revTx" presStyleIdx="0" presStyleCnt="5"/>
      <dgm:spPr/>
    </dgm:pt>
    <dgm:pt modelId="{0009BFEC-C096-4F8D-B05B-6F32BB63E322}" type="pres">
      <dgm:prSet presAssocID="{BB3DCBE2-A3BE-463D-BF7A-CA06B3E95342}" presName="vert1" presStyleCnt="0"/>
      <dgm:spPr/>
    </dgm:pt>
    <dgm:pt modelId="{55BB134E-3511-47B1-9704-13C94BDAA84F}" type="pres">
      <dgm:prSet presAssocID="{DA20C15D-3FA2-427A-AFE3-99C8306CF7BB}" presName="thickLine" presStyleLbl="alignNode1" presStyleIdx="1" presStyleCnt="5"/>
      <dgm:spPr/>
    </dgm:pt>
    <dgm:pt modelId="{053B2C65-37A1-4FB6-B33D-C4EDD5231144}" type="pres">
      <dgm:prSet presAssocID="{DA20C15D-3FA2-427A-AFE3-99C8306CF7BB}" presName="horz1" presStyleCnt="0"/>
      <dgm:spPr/>
    </dgm:pt>
    <dgm:pt modelId="{48FA163F-6A88-4217-88F2-6025684D05E2}" type="pres">
      <dgm:prSet presAssocID="{DA20C15D-3FA2-427A-AFE3-99C8306CF7BB}" presName="tx1" presStyleLbl="revTx" presStyleIdx="1" presStyleCnt="5"/>
      <dgm:spPr/>
    </dgm:pt>
    <dgm:pt modelId="{5911CCD7-2149-461A-9953-8E6AA9F38BBB}" type="pres">
      <dgm:prSet presAssocID="{DA20C15D-3FA2-427A-AFE3-99C8306CF7BB}" presName="vert1" presStyleCnt="0"/>
      <dgm:spPr/>
    </dgm:pt>
    <dgm:pt modelId="{335129C0-FB85-4F7D-AA30-EC8A667F7A08}" type="pres">
      <dgm:prSet presAssocID="{54B6FCB9-3D9D-4D85-9ABD-279820EE673C}" presName="thickLine" presStyleLbl="alignNode1" presStyleIdx="2" presStyleCnt="5"/>
      <dgm:spPr/>
    </dgm:pt>
    <dgm:pt modelId="{AFB14C12-0B82-4959-8708-F7F2B5A08861}" type="pres">
      <dgm:prSet presAssocID="{54B6FCB9-3D9D-4D85-9ABD-279820EE673C}" presName="horz1" presStyleCnt="0"/>
      <dgm:spPr/>
    </dgm:pt>
    <dgm:pt modelId="{E2537477-BBDA-4834-9B9F-E7D2B1FA2FFD}" type="pres">
      <dgm:prSet presAssocID="{54B6FCB9-3D9D-4D85-9ABD-279820EE673C}" presName="tx1" presStyleLbl="revTx" presStyleIdx="2" presStyleCnt="5"/>
      <dgm:spPr/>
    </dgm:pt>
    <dgm:pt modelId="{264B5938-AF00-4D1A-809E-06D5813DA6F6}" type="pres">
      <dgm:prSet presAssocID="{54B6FCB9-3D9D-4D85-9ABD-279820EE673C}" presName="vert1" presStyleCnt="0"/>
      <dgm:spPr/>
    </dgm:pt>
    <dgm:pt modelId="{D0BCA745-C50D-4E60-830A-BDBE75D0EF33}" type="pres">
      <dgm:prSet presAssocID="{70C3F05B-D51E-485F-A9FF-7A26FB830FE7}" presName="thickLine" presStyleLbl="alignNode1" presStyleIdx="3" presStyleCnt="5"/>
      <dgm:spPr/>
    </dgm:pt>
    <dgm:pt modelId="{6EB5F4DF-FE4D-41A8-85EC-4E504549FD94}" type="pres">
      <dgm:prSet presAssocID="{70C3F05B-D51E-485F-A9FF-7A26FB830FE7}" presName="horz1" presStyleCnt="0"/>
      <dgm:spPr/>
    </dgm:pt>
    <dgm:pt modelId="{AA6C318C-5E77-4AAA-8D87-08BE465097C7}" type="pres">
      <dgm:prSet presAssocID="{70C3F05B-D51E-485F-A9FF-7A26FB830FE7}" presName="tx1" presStyleLbl="revTx" presStyleIdx="3" presStyleCnt="5"/>
      <dgm:spPr/>
    </dgm:pt>
    <dgm:pt modelId="{6F0A4FC0-9602-45F7-8C01-A5581B352EF0}" type="pres">
      <dgm:prSet presAssocID="{70C3F05B-D51E-485F-A9FF-7A26FB830FE7}" presName="vert1" presStyleCnt="0"/>
      <dgm:spPr/>
    </dgm:pt>
    <dgm:pt modelId="{9D767494-1E84-4280-BD33-247BC18B5064}" type="pres">
      <dgm:prSet presAssocID="{974DAF1A-121E-48C3-840B-C6A218C7E8FB}" presName="thickLine" presStyleLbl="alignNode1" presStyleIdx="4" presStyleCnt="5"/>
      <dgm:spPr/>
    </dgm:pt>
    <dgm:pt modelId="{A54E195F-286C-42D9-8FE3-9947C2055CA9}" type="pres">
      <dgm:prSet presAssocID="{974DAF1A-121E-48C3-840B-C6A218C7E8FB}" presName="horz1" presStyleCnt="0"/>
      <dgm:spPr/>
    </dgm:pt>
    <dgm:pt modelId="{7FFF7D68-EAF2-47F5-88E0-A41C68636212}" type="pres">
      <dgm:prSet presAssocID="{974DAF1A-121E-48C3-840B-C6A218C7E8FB}" presName="tx1" presStyleLbl="revTx" presStyleIdx="4" presStyleCnt="5"/>
      <dgm:spPr/>
    </dgm:pt>
    <dgm:pt modelId="{D23F8AD8-2223-4EAE-BA0B-AF9D20914BA6}" type="pres">
      <dgm:prSet presAssocID="{974DAF1A-121E-48C3-840B-C6A218C7E8FB}" presName="vert1" presStyleCnt="0"/>
      <dgm:spPr/>
    </dgm:pt>
  </dgm:ptLst>
  <dgm:cxnLst>
    <dgm:cxn modelId="{E4C36011-949E-472F-936D-5AC86C5D289F}" type="presOf" srcId="{54B6FCB9-3D9D-4D85-9ABD-279820EE673C}" destId="{E2537477-BBDA-4834-9B9F-E7D2B1FA2FFD}" srcOrd="0" destOrd="0" presId="urn:microsoft.com/office/officeart/2008/layout/LinedList"/>
    <dgm:cxn modelId="{26805B18-3367-4434-AEE8-B08F9BEA4B62}" srcId="{0EB18F3B-85F5-487A-A9B1-A3B389597F68}" destId="{BB3DCBE2-A3BE-463D-BF7A-CA06B3E95342}" srcOrd="0" destOrd="0" parTransId="{91E70D31-3828-487F-AADD-DB596827499F}" sibTransId="{2DF3450C-654B-4649-88FA-254B86F547CC}"/>
    <dgm:cxn modelId="{390BE429-1B51-4D79-8AEC-75F23B6DAA52}" srcId="{0EB18F3B-85F5-487A-A9B1-A3B389597F68}" destId="{54B6FCB9-3D9D-4D85-9ABD-279820EE673C}" srcOrd="2" destOrd="0" parTransId="{C3D272B3-5198-4650-8712-6500C9CE63D7}" sibTransId="{8821A458-A988-461F-BD4D-DB6E8EE41C79}"/>
    <dgm:cxn modelId="{814D5537-5DB9-4F47-8BD2-40B34AF5CA21}" type="presOf" srcId="{974DAF1A-121E-48C3-840B-C6A218C7E8FB}" destId="{7FFF7D68-EAF2-47F5-88E0-A41C68636212}" srcOrd="0" destOrd="0" presId="urn:microsoft.com/office/officeart/2008/layout/LinedList"/>
    <dgm:cxn modelId="{B4F0823D-AB09-492B-A94A-9F104B51E3A3}" srcId="{0EB18F3B-85F5-487A-A9B1-A3B389597F68}" destId="{974DAF1A-121E-48C3-840B-C6A218C7E8FB}" srcOrd="4" destOrd="0" parTransId="{915777BB-909D-47A0-B780-0B3C26D3AD2F}" sibTransId="{E174BF21-652B-42FA-94F8-3998259BE710}"/>
    <dgm:cxn modelId="{82C1375F-3042-4211-AEC5-128702E0D184}" type="presOf" srcId="{BB3DCBE2-A3BE-463D-BF7A-CA06B3E95342}" destId="{20C640A5-A0B4-4AD4-8AD0-9B2FCFB57D6F}" srcOrd="0" destOrd="0" presId="urn:microsoft.com/office/officeart/2008/layout/LinedList"/>
    <dgm:cxn modelId="{08D61467-8E36-4A4F-90C7-4B8D3D3CAFA7}" type="presOf" srcId="{DA20C15D-3FA2-427A-AFE3-99C8306CF7BB}" destId="{48FA163F-6A88-4217-88F2-6025684D05E2}" srcOrd="0" destOrd="0" presId="urn:microsoft.com/office/officeart/2008/layout/LinedList"/>
    <dgm:cxn modelId="{F9E13F71-2C0F-4EA7-A678-0BE77C35F23B}" type="presOf" srcId="{0EB18F3B-85F5-487A-A9B1-A3B389597F68}" destId="{57DEF676-0246-4509-8877-B9CD56DAD40F}" srcOrd="0" destOrd="0" presId="urn:microsoft.com/office/officeart/2008/layout/LinedList"/>
    <dgm:cxn modelId="{16FF5474-0BE5-4DF9-9E22-EA2B56CA46F2}" srcId="{0EB18F3B-85F5-487A-A9B1-A3B389597F68}" destId="{70C3F05B-D51E-485F-A9FF-7A26FB830FE7}" srcOrd="3" destOrd="0" parTransId="{699A0BE0-3D4B-4B42-B147-D04186017CA4}" sibTransId="{AF110E1D-838C-475F-A7FF-EE18E9928F04}"/>
    <dgm:cxn modelId="{C151E898-F9E4-4D4A-ABF2-8971BBD15B94}" type="presOf" srcId="{70C3F05B-D51E-485F-A9FF-7A26FB830FE7}" destId="{AA6C318C-5E77-4AAA-8D87-08BE465097C7}" srcOrd="0" destOrd="0" presId="urn:microsoft.com/office/officeart/2008/layout/LinedList"/>
    <dgm:cxn modelId="{9AFC5DA2-17C9-493A-9FF8-87031839058D}" srcId="{0EB18F3B-85F5-487A-A9B1-A3B389597F68}" destId="{DA20C15D-3FA2-427A-AFE3-99C8306CF7BB}" srcOrd="1" destOrd="0" parTransId="{EA3A9641-9AD5-4205-AA9A-75BAD5891816}" sibTransId="{B696DF01-232B-4611-BAB6-0D12370E9B83}"/>
    <dgm:cxn modelId="{8AF94E63-865A-4A7E-8E38-FBB274411FA6}" type="presParOf" srcId="{57DEF676-0246-4509-8877-B9CD56DAD40F}" destId="{F2C31CC9-D0A1-46B2-94BE-2B2DD83D8517}" srcOrd="0" destOrd="0" presId="urn:microsoft.com/office/officeart/2008/layout/LinedList"/>
    <dgm:cxn modelId="{1A87718B-326A-4763-9CBA-CA54F44D9C7A}" type="presParOf" srcId="{57DEF676-0246-4509-8877-B9CD56DAD40F}" destId="{8F7E2796-E354-45F2-99ED-9C3BB6B0EDA4}" srcOrd="1" destOrd="0" presId="urn:microsoft.com/office/officeart/2008/layout/LinedList"/>
    <dgm:cxn modelId="{45678899-DA72-4A36-A120-70151C6E1971}" type="presParOf" srcId="{8F7E2796-E354-45F2-99ED-9C3BB6B0EDA4}" destId="{20C640A5-A0B4-4AD4-8AD0-9B2FCFB57D6F}" srcOrd="0" destOrd="0" presId="urn:microsoft.com/office/officeart/2008/layout/LinedList"/>
    <dgm:cxn modelId="{B4F1A07F-485C-41EB-AADE-98957168D4B6}" type="presParOf" srcId="{8F7E2796-E354-45F2-99ED-9C3BB6B0EDA4}" destId="{0009BFEC-C096-4F8D-B05B-6F32BB63E322}" srcOrd="1" destOrd="0" presId="urn:microsoft.com/office/officeart/2008/layout/LinedList"/>
    <dgm:cxn modelId="{2BC03287-CE2E-4DD1-938C-1B50854D5449}" type="presParOf" srcId="{57DEF676-0246-4509-8877-B9CD56DAD40F}" destId="{55BB134E-3511-47B1-9704-13C94BDAA84F}" srcOrd="2" destOrd="0" presId="urn:microsoft.com/office/officeart/2008/layout/LinedList"/>
    <dgm:cxn modelId="{22A985B5-9587-4A62-9679-4D957895446C}" type="presParOf" srcId="{57DEF676-0246-4509-8877-B9CD56DAD40F}" destId="{053B2C65-37A1-4FB6-B33D-C4EDD5231144}" srcOrd="3" destOrd="0" presId="urn:microsoft.com/office/officeart/2008/layout/LinedList"/>
    <dgm:cxn modelId="{0DD08D11-C926-481C-8453-C68F16DEC22D}" type="presParOf" srcId="{053B2C65-37A1-4FB6-B33D-C4EDD5231144}" destId="{48FA163F-6A88-4217-88F2-6025684D05E2}" srcOrd="0" destOrd="0" presId="urn:microsoft.com/office/officeart/2008/layout/LinedList"/>
    <dgm:cxn modelId="{1B33F27A-8AFC-46BA-93F9-733337E2B76B}" type="presParOf" srcId="{053B2C65-37A1-4FB6-B33D-C4EDD5231144}" destId="{5911CCD7-2149-461A-9953-8E6AA9F38BBB}" srcOrd="1" destOrd="0" presId="urn:microsoft.com/office/officeart/2008/layout/LinedList"/>
    <dgm:cxn modelId="{AA1F8AD4-E55B-4CD3-BCC2-C1D786C828F9}" type="presParOf" srcId="{57DEF676-0246-4509-8877-B9CD56DAD40F}" destId="{335129C0-FB85-4F7D-AA30-EC8A667F7A08}" srcOrd="4" destOrd="0" presId="urn:microsoft.com/office/officeart/2008/layout/LinedList"/>
    <dgm:cxn modelId="{4BF011CD-438A-45EF-84A2-9C6BF948A99B}" type="presParOf" srcId="{57DEF676-0246-4509-8877-B9CD56DAD40F}" destId="{AFB14C12-0B82-4959-8708-F7F2B5A08861}" srcOrd="5" destOrd="0" presId="urn:microsoft.com/office/officeart/2008/layout/LinedList"/>
    <dgm:cxn modelId="{17BD0C04-057D-4FCD-ADFC-6481C6CBCF57}" type="presParOf" srcId="{AFB14C12-0B82-4959-8708-F7F2B5A08861}" destId="{E2537477-BBDA-4834-9B9F-E7D2B1FA2FFD}" srcOrd="0" destOrd="0" presId="urn:microsoft.com/office/officeart/2008/layout/LinedList"/>
    <dgm:cxn modelId="{5C3785E4-09BD-4ECF-BE35-1E873244F779}" type="presParOf" srcId="{AFB14C12-0B82-4959-8708-F7F2B5A08861}" destId="{264B5938-AF00-4D1A-809E-06D5813DA6F6}" srcOrd="1" destOrd="0" presId="urn:microsoft.com/office/officeart/2008/layout/LinedList"/>
    <dgm:cxn modelId="{38A1A91B-C667-493A-9BAD-DA121B2ADCF5}" type="presParOf" srcId="{57DEF676-0246-4509-8877-B9CD56DAD40F}" destId="{D0BCA745-C50D-4E60-830A-BDBE75D0EF33}" srcOrd="6" destOrd="0" presId="urn:microsoft.com/office/officeart/2008/layout/LinedList"/>
    <dgm:cxn modelId="{8C39FFC4-97F0-4DDC-AE38-8D3C241301A1}" type="presParOf" srcId="{57DEF676-0246-4509-8877-B9CD56DAD40F}" destId="{6EB5F4DF-FE4D-41A8-85EC-4E504549FD94}" srcOrd="7" destOrd="0" presId="urn:microsoft.com/office/officeart/2008/layout/LinedList"/>
    <dgm:cxn modelId="{89927F91-4123-4E4B-88E1-9109A8AE4738}" type="presParOf" srcId="{6EB5F4DF-FE4D-41A8-85EC-4E504549FD94}" destId="{AA6C318C-5E77-4AAA-8D87-08BE465097C7}" srcOrd="0" destOrd="0" presId="urn:microsoft.com/office/officeart/2008/layout/LinedList"/>
    <dgm:cxn modelId="{A0FB580E-C473-4206-859F-C2E7A2B00F8E}" type="presParOf" srcId="{6EB5F4DF-FE4D-41A8-85EC-4E504549FD94}" destId="{6F0A4FC0-9602-45F7-8C01-A5581B352EF0}" srcOrd="1" destOrd="0" presId="urn:microsoft.com/office/officeart/2008/layout/LinedList"/>
    <dgm:cxn modelId="{17B58310-F032-4C04-A7B2-48C9A0D1EA0C}" type="presParOf" srcId="{57DEF676-0246-4509-8877-B9CD56DAD40F}" destId="{9D767494-1E84-4280-BD33-247BC18B5064}" srcOrd="8" destOrd="0" presId="urn:microsoft.com/office/officeart/2008/layout/LinedList"/>
    <dgm:cxn modelId="{2DC07A2F-76A1-480F-88CB-167E0D357664}" type="presParOf" srcId="{57DEF676-0246-4509-8877-B9CD56DAD40F}" destId="{A54E195F-286C-42D9-8FE3-9947C2055CA9}" srcOrd="9" destOrd="0" presId="urn:microsoft.com/office/officeart/2008/layout/LinedList"/>
    <dgm:cxn modelId="{8DA18CE6-DAFB-44C0-8D08-EDD584F110CC}" type="presParOf" srcId="{A54E195F-286C-42D9-8FE3-9947C2055CA9}" destId="{7FFF7D68-EAF2-47F5-88E0-A41C68636212}" srcOrd="0" destOrd="0" presId="urn:microsoft.com/office/officeart/2008/layout/LinedList"/>
    <dgm:cxn modelId="{63C86651-C8EA-486A-A3D7-C002A7A213B1}" type="presParOf" srcId="{A54E195F-286C-42D9-8FE3-9947C2055CA9}" destId="{D23F8AD8-2223-4EAE-BA0B-AF9D20914BA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C31CC9-D0A1-46B2-94BE-2B2DD83D8517}">
      <dsp:nvSpPr>
        <dsp:cNvPr id="0" name=""/>
        <dsp:cNvSpPr/>
      </dsp:nvSpPr>
      <dsp:spPr>
        <a:xfrm>
          <a:off x="0" y="450"/>
          <a:ext cx="10927829"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C640A5-A0B4-4AD4-8AD0-9B2FCFB57D6F}">
      <dsp:nvSpPr>
        <dsp:cNvPr id="0" name=""/>
        <dsp:cNvSpPr/>
      </dsp:nvSpPr>
      <dsp:spPr>
        <a:xfrm>
          <a:off x="0" y="450"/>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Techniques:</a:t>
          </a:r>
        </a:p>
      </dsp:txBody>
      <dsp:txXfrm>
        <a:off x="0" y="450"/>
        <a:ext cx="10927829" cy="737700"/>
      </dsp:txXfrm>
    </dsp:sp>
    <dsp:sp modelId="{55BB134E-3511-47B1-9704-13C94BDAA84F}">
      <dsp:nvSpPr>
        <dsp:cNvPr id="0" name=""/>
        <dsp:cNvSpPr/>
      </dsp:nvSpPr>
      <dsp:spPr>
        <a:xfrm>
          <a:off x="0" y="738151"/>
          <a:ext cx="10927829"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FA163F-6A88-4217-88F2-6025684D05E2}">
      <dsp:nvSpPr>
        <dsp:cNvPr id="0" name=""/>
        <dsp:cNvSpPr/>
      </dsp:nvSpPr>
      <dsp:spPr>
        <a:xfrm>
          <a:off x="0" y="738151"/>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1) transform categorical data into numerical </a:t>
          </a:r>
        </a:p>
      </dsp:txBody>
      <dsp:txXfrm>
        <a:off x="0" y="738151"/>
        <a:ext cx="10927829" cy="737700"/>
      </dsp:txXfrm>
    </dsp:sp>
    <dsp:sp modelId="{335129C0-FB85-4F7D-AA30-EC8A667F7A08}">
      <dsp:nvSpPr>
        <dsp:cNvPr id="0" name=""/>
        <dsp:cNvSpPr/>
      </dsp:nvSpPr>
      <dsp:spPr>
        <a:xfrm>
          <a:off x="0" y="1475852"/>
          <a:ext cx="10927829"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537477-BBDA-4834-9B9F-E7D2B1FA2FFD}">
      <dsp:nvSpPr>
        <dsp:cNvPr id="0" name=""/>
        <dsp:cNvSpPr/>
      </dsp:nvSpPr>
      <dsp:spPr>
        <a:xfrm>
          <a:off x="0" y="1475852"/>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2) Feature scaling</a:t>
          </a:r>
        </a:p>
      </dsp:txBody>
      <dsp:txXfrm>
        <a:off x="0" y="1475852"/>
        <a:ext cx="10927829" cy="737700"/>
      </dsp:txXfrm>
    </dsp:sp>
    <dsp:sp modelId="{D0BCA745-C50D-4E60-830A-BDBE75D0EF33}">
      <dsp:nvSpPr>
        <dsp:cNvPr id="0" name=""/>
        <dsp:cNvSpPr/>
      </dsp:nvSpPr>
      <dsp:spPr>
        <a:xfrm>
          <a:off x="0" y="2213552"/>
          <a:ext cx="10927829"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6C318C-5E77-4AAA-8D87-08BE465097C7}">
      <dsp:nvSpPr>
        <dsp:cNvPr id="0" name=""/>
        <dsp:cNvSpPr/>
      </dsp:nvSpPr>
      <dsp:spPr>
        <a:xfrm>
          <a:off x="0" y="2213552"/>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3) Splitting data into training and testing sets</a:t>
          </a:r>
        </a:p>
      </dsp:txBody>
      <dsp:txXfrm>
        <a:off x="0" y="2213552"/>
        <a:ext cx="10927829" cy="737700"/>
      </dsp:txXfrm>
    </dsp:sp>
    <dsp:sp modelId="{9D767494-1E84-4280-BD33-247BC18B5064}">
      <dsp:nvSpPr>
        <dsp:cNvPr id="0" name=""/>
        <dsp:cNvSpPr/>
      </dsp:nvSpPr>
      <dsp:spPr>
        <a:xfrm>
          <a:off x="0" y="2951253"/>
          <a:ext cx="10927829"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FF7D68-EAF2-47F5-88E0-A41C68636212}">
      <dsp:nvSpPr>
        <dsp:cNvPr id="0" name=""/>
        <dsp:cNvSpPr/>
      </dsp:nvSpPr>
      <dsp:spPr>
        <a:xfrm>
          <a:off x="0" y="2951253"/>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4)Scaled the dataset features values</a:t>
          </a:r>
        </a:p>
      </dsp:txBody>
      <dsp:txXfrm>
        <a:off x="0" y="2951253"/>
        <a:ext cx="10927829" cy="7377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C31CC9-D0A1-46B2-94BE-2B2DD83D8517}">
      <dsp:nvSpPr>
        <dsp:cNvPr id="0" name=""/>
        <dsp:cNvSpPr/>
      </dsp:nvSpPr>
      <dsp:spPr>
        <a:xfrm>
          <a:off x="0" y="450"/>
          <a:ext cx="10927829"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C640A5-A0B4-4AD4-8AD0-9B2FCFB57D6F}">
      <dsp:nvSpPr>
        <dsp:cNvPr id="0" name=""/>
        <dsp:cNvSpPr/>
      </dsp:nvSpPr>
      <dsp:spPr>
        <a:xfrm>
          <a:off x="0" y="450"/>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Techniques:</a:t>
          </a:r>
        </a:p>
      </dsp:txBody>
      <dsp:txXfrm>
        <a:off x="0" y="450"/>
        <a:ext cx="10927829" cy="737700"/>
      </dsp:txXfrm>
    </dsp:sp>
    <dsp:sp modelId="{55BB134E-3511-47B1-9704-13C94BDAA84F}">
      <dsp:nvSpPr>
        <dsp:cNvPr id="0" name=""/>
        <dsp:cNvSpPr/>
      </dsp:nvSpPr>
      <dsp:spPr>
        <a:xfrm>
          <a:off x="0" y="738151"/>
          <a:ext cx="10927829"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FA163F-6A88-4217-88F2-6025684D05E2}">
      <dsp:nvSpPr>
        <dsp:cNvPr id="0" name=""/>
        <dsp:cNvSpPr/>
      </dsp:nvSpPr>
      <dsp:spPr>
        <a:xfrm>
          <a:off x="0" y="738151"/>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1) transform categorical data into numerical </a:t>
          </a:r>
        </a:p>
      </dsp:txBody>
      <dsp:txXfrm>
        <a:off x="0" y="738151"/>
        <a:ext cx="10927829" cy="737700"/>
      </dsp:txXfrm>
    </dsp:sp>
    <dsp:sp modelId="{335129C0-FB85-4F7D-AA30-EC8A667F7A08}">
      <dsp:nvSpPr>
        <dsp:cNvPr id="0" name=""/>
        <dsp:cNvSpPr/>
      </dsp:nvSpPr>
      <dsp:spPr>
        <a:xfrm>
          <a:off x="0" y="1475852"/>
          <a:ext cx="10927829"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537477-BBDA-4834-9B9F-E7D2B1FA2FFD}">
      <dsp:nvSpPr>
        <dsp:cNvPr id="0" name=""/>
        <dsp:cNvSpPr/>
      </dsp:nvSpPr>
      <dsp:spPr>
        <a:xfrm>
          <a:off x="0" y="1475852"/>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2) Feature scaling</a:t>
          </a:r>
        </a:p>
      </dsp:txBody>
      <dsp:txXfrm>
        <a:off x="0" y="1475852"/>
        <a:ext cx="10927829" cy="737700"/>
      </dsp:txXfrm>
    </dsp:sp>
    <dsp:sp modelId="{D0BCA745-C50D-4E60-830A-BDBE75D0EF33}">
      <dsp:nvSpPr>
        <dsp:cNvPr id="0" name=""/>
        <dsp:cNvSpPr/>
      </dsp:nvSpPr>
      <dsp:spPr>
        <a:xfrm>
          <a:off x="0" y="2213552"/>
          <a:ext cx="10927829"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6C318C-5E77-4AAA-8D87-08BE465097C7}">
      <dsp:nvSpPr>
        <dsp:cNvPr id="0" name=""/>
        <dsp:cNvSpPr/>
      </dsp:nvSpPr>
      <dsp:spPr>
        <a:xfrm>
          <a:off x="0" y="2213552"/>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3) Splitting data into training and testing sets</a:t>
          </a:r>
        </a:p>
      </dsp:txBody>
      <dsp:txXfrm>
        <a:off x="0" y="2213552"/>
        <a:ext cx="10927829" cy="737700"/>
      </dsp:txXfrm>
    </dsp:sp>
    <dsp:sp modelId="{9D767494-1E84-4280-BD33-247BC18B5064}">
      <dsp:nvSpPr>
        <dsp:cNvPr id="0" name=""/>
        <dsp:cNvSpPr/>
      </dsp:nvSpPr>
      <dsp:spPr>
        <a:xfrm>
          <a:off x="0" y="2951253"/>
          <a:ext cx="10927829"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FF7D68-EAF2-47F5-88E0-A41C68636212}">
      <dsp:nvSpPr>
        <dsp:cNvPr id="0" name=""/>
        <dsp:cNvSpPr/>
      </dsp:nvSpPr>
      <dsp:spPr>
        <a:xfrm>
          <a:off x="0" y="2951253"/>
          <a:ext cx="10927829" cy="73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4)Scaled the dataset features values</a:t>
          </a:r>
        </a:p>
      </dsp:txBody>
      <dsp:txXfrm>
        <a:off x="0" y="2951253"/>
        <a:ext cx="10927829" cy="7377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F1C2EB7-4467-1DB9-5FD6-34B7E934C564}"/>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endParaRPr lang="en-US"/>
          </a:p>
        </p:txBody>
      </p:sp>
      <p:sp>
        <p:nvSpPr>
          <p:cNvPr id="3" name="عنوان فرعي 2">
            <a:extLst>
              <a:ext uri="{FF2B5EF4-FFF2-40B4-BE49-F238E27FC236}">
                <a16:creationId xmlns:a16="http://schemas.microsoft.com/office/drawing/2014/main" id="{383959C7-AD73-AE86-D87C-F7CB335698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en-US"/>
          </a:p>
        </p:txBody>
      </p:sp>
      <p:sp>
        <p:nvSpPr>
          <p:cNvPr id="4" name="عنصر نائب للتاريخ 3">
            <a:extLst>
              <a:ext uri="{FF2B5EF4-FFF2-40B4-BE49-F238E27FC236}">
                <a16:creationId xmlns:a16="http://schemas.microsoft.com/office/drawing/2014/main" id="{57BF096E-E6CA-675A-4E84-042D3EE17743}"/>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5" name="عنصر نائب للتذييل 4">
            <a:extLst>
              <a:ext uri="{FF2B5EF4-FFF2-40B4-BE49-F238E27FC236}">
                <a16:creationId xmlns:a16="http://schemas.microsoft.com/office/drawing/2014/main" id="{C7155959-C9A9-E7BD-B05D-8C3C45D5155C}"/>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E762533E-E089-179E-6C7F-48F25B069EAD}"/>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814810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3FF6863-5187-86F8-AF24-1F2D1C4B819B}"/>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01EE346B-C8C6-4070-C45C-9FB09D6F99FE}"/>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73A7CE9B-B06B-282D-775F-3B71D57886ED}"/>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5" name="عنصر نائب للتذييل 4">
            <a:extLst>
              <a:ext uri="{FF2B5EF4-FFF2-40B4-BE49-F238E27FC236}">
                <a16:creationId xmlns:a16="http://schemas.microsoft.com/office/drawing/2014/main" id="{EF01BA58-BF01-2052-F90E-B8B5142B8FFC}"/>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5EADA833-84B5-DF6B-8B69-09DA3A9327C4}"/>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342026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F7AA0E9-04E1-F91E-BFA9-3563F14E77B2}"/>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E4E42121-97C1-B4CD-2FC7-F09D28DCB0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98B500F1-BE15-8F0A-612F-6FD51E6BC15F}"/>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5" name="عنصر نائب للتذييل 4">
            <a:extLst>
              <a:ext uri="{FF2B5EF4-FFF2-40B4-BE49-F238E27FC236}">
                <a16:creationId xmlns:a16="http://schemas.microsoft.com/office/drawing/2014/main" id="{993793EE-D974-38B9-223C-044766F1E5C0}"/>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724053FA-F4BE-A7C1-3B9E-BA0943E6829A}"/>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1246034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4138D75-B4D1-DFCE-B08B-EFABAA959DE7}"/>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E49A26AB-3C4D-B62C-27B6-30921E69AB3B}"/>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محتوى 3">
            <a:extLst>
              <a:ext uri="{FF2B5EF4-FFF2-40B4-BE49-F238E27FC236}">
                <a16:creationId xmlns:a16="http://schemas.microsoft.com/office/drawing/2014/main" id="{653C160D-48C9-AE9F-8108-D4ACF27BA0F1}"/>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5" name="عنصر نائب للتاريخ 4">
            <a:extLst>
              <a:ext uri="{FF2B5EF4-FFF2-40B4-BE49-F238E27FC236}">
                <a16:creationId xmlns:a16="http://schemas.microsoft.com/office/drawing/2014/main" id="{8DF8908A-780D-4843-4D6B-67BFB8BA2DDF}"/>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6" name="عنصر نائب للتذييل 5">
            <a:extLst>
              <a:ext uri="{FF2B5EF4-FFF2-40B4-BE49-F238E27FC236}">
                <a16:creationId xmlns:a16="http://schemas.microsoft.com/office/drawing/2014/main" id="{E000E466-E931-BD8C-3404-08B91E7894B5}"/>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02FF0C7A-8D59-CEE7-5B6C-FF018F4ECB00}"/>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1705469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CA91184-FF76-5851-29E9-AAE0D24F25F7}"/>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A14719B6-F797-C215-6B2B-9368892A09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8905517D-ED8F-C69C-0C13-F0C794ABB899}"/>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5" name="عنصر نائب للنص 4">
            <a:extLst>
              <a:ext uri="{FF2B5EF4-FFF2-40B4-BE49-F238E27FC236}">
                <a16:creationId xmlns:a16="http://schemas.microsoft.com/office/drawing/2014/main" id="{A431D08E-77C2-F8FD-5E14-E362C6E78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22DACF04-FD35-D916-633C-0406A48A0AB8}"/>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7" name="عنصر نائب للتاريخ 6">
            <a:extLst>
              <a:ext uri="{FF2B5EF4-FFF2-40B4-BE49-F238E27FC236}">
                <a16:creationId xmlns:a16="http://schemas.microsoft.com/office/drawing/2014/main" id="{7086F4AA-B5EE-EE83-0FBB-7E3D500F13DE}"/>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8" name="عنصر نائب للتذييل 7">
            <a:extLst>
              <a:ext uri="{FF2B5EF4-FFF2-40B4-BE49-F238E27FC236}">
                <a16:creationId xmlns:a16="http://schemas.microsoft.com/office/drawing/2014/main" id="{6A22A4B1-272C-2072-6901-1AE565787CB9}"/>
              </a:ext>
            </a:extLst>
          </p:cNvPr>
          <p:cNvSpPr>
            <a:spLocks noGrp="1"/>
          </p:cNvSpPr>
          <p:nvPr>
            <p:ph type="ftr" sz="quarter" idx="11"/>
          </p:nvPr>
        </p:nvSpPr>
        <p:spPr/>
        <p:txBody>
          <a:bodyPr/>
          <a:lstStyle/>
          <a:p>
            <a:endParaRPr lang="en-US"/>
          </a:p>
        </p:txBody>
      </p:sp>
      <p:sp>
        <p:nvSpPr>
          <p:cNvPr id="9" name="عنصر نائب لرقم الشريحة 8">
            <a:extLst>
              <a:ext uri="{FF2B5EF4-FFF2-40B4-BE49-F238E27FC236}">
                <a16:creationId xmlns:a16="http://schemas.microsoft.com/office/drawing/2014/main" id="{927326CB-E3AB-2204-3B0F-1BEE28E9BCF8}"/>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3552428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0534D0A-BE79-FC16-5D78-AE9AFB261B5A}"/>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تاريخ 2">
            <a:extLst>
              <a:ext uri="{FF2B5EF4-FFF2-40B4-BE49-F238E27FC236}">
                <a16:creationId xmlns:a16="http://schemas.microsoft.com/office/drawing/2014/main" id="{F5CA1C03-7440-762B-5E29-93FABA76F1B0}"/>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4" name="عنصر نائب للتذييل 3">
            <a:extLst>
              <a:ext uri="{FF2B5EF4-FFF2-40B4-BE49-F238E27FC236}">
                <a16:creationId xmlns:a16="http://schemas.microsoft.com/office/drawing/2014/main" id="{675DA79F-CCF9-F391-0572-19BCC54D0BE5}"/>
              </a:ext>
            </a:extLst>
          </p:cNvPr>
          <p:cNvSpPr>
            <a:spLocks noGrp="1"/>
          </p:cNvSpPr>
          <p:nvPr>
            <p:ph type="ftr" sz="quarter" idx="11"/>
          </p:nvPr>
        </p:nvSpPr>
        <p:spPr/>
        <p:txBody>
          <a:bodyPr/>
          <a:lstStyle/>
          <a:p>
            <a:endParaRPr lang="en-US"/>
          </a:p>
        </p:txBody>
      </p:sp>
      <p:sp>
        <p:nvSpPr>
          <p:cNvPr id="5" name="عنصر نائب لرقم الشريحة 4">
            <a:extLst>
              <a:ext uri="{FF2B5EF4-FFF2-40B4-BE49-F238E27FC236}">
                <a16:creationId xmlns:a16="http://schemas.microsoft.com/office/drawing/2014/main" id="{E4357E06-1C02-2C40-29F4-F8214E960ADF}"/>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2413607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025350DE-EC9F-7C05-6625-9AD3EBBAB53D}"/>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3" name="عنصر نائب للتذييل 2">
            <a:extLst>
              <a:ext uri="{FF2B5EF4-FFF2-40B4-BE49-F238E27FC236}">
                <a16:creationId xmlns:a16="http://schemas.microsoft.com/office/drawing/2014/main" id="{DA032469-53F2-7395-9A3E-17C9CFA0C6F7}"/>
              </a:ext>
            </a:extLst>
          </p:cNvPr>
          <p:cNvSpPr>
            <a:spLocks noGrp="1"/>
          </p:cNvSpPr>
          <p:nvPr>
            <p:ph type="ftr" sz="quarter" idx="11"/>
          </p:nvPr>
        </p:nvSpPr>
        <p:spPr/>
        <p:txBody>
          <a:bodyPr/>
          <a:lstStyle/>
          <a:p>
            <a:endParaRPr lang="en-US"/>
          </a:p>
        </p:txBody>
      </p:sp>
      <p:sp>
        <p:nvSpPr>
          <p:cNvPr id="4" name="عنصر نائب لرقم الشريحة 3">
            <a:extLst>
              <a:ext uri="{FF2B5EF4-FFF2-40B4-BE49-F238E27FC236}">
                <a16:creationId xmlns:a16="http://schemas.microsoft.com/office/drawing/2014/main" id="{98201EBA-AB02-6EB6-BBC1-D6939E3BE7A7}"/>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1140460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CBDB245-7ABE-582B-6ACE-D78E5353F6DE}"/>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83C78FED-4EAA-9F80-B364-9919C586EC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نص 3">
            <a:extLst>
              <a:ext uri="{FF2B5EF4-FFF2-40B4-BE49-F238E27FC236}">
                <a16:creationId xmlns:a16="http://schemas.microsoft.com/office/drawing/2014/main" id="{9128BB7D-D6A8-F0D1-BB36-ED9288A69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28D56999-7AD7-5C40-7EBF-4BECC1B047C8}"/>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6" name="عنصر نائب للتذييل 5">
            <a:extLst>
              <a:ext uri="{FF2B5EF4-FFF2-40B4-BE49-F238E27FC236}">
                <a16:creationId xmlns:a16="http://schemas.microsoft.com/office/drawing/2014/main" id="{8F6E4B9A-54A1-C6A2-3456-D4DC2C400162}"/>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C1B3C286-1F99-28A6-5C3B-B9065B4990C5}"/>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587767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9123F29-BEC0-B85A-1E9E-8C7497195FE0}"/>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a:p>
        </p:txBody>
      </p:sp>
      <p:sp>
        <p:nvSpPr>
          <p:cNvPr id="3" name="عنصر نائب للصورة 2">
            <a:extLst>
              <a:ext uri="{FF2B5EF4-FFF2-40B4-BE49-F238E27FC236}">
                <a16:creationId xmlns:a16="http://schemas.microsoft.com/office/drawing/2014/main" id="{B7CFE830-80FB-20B5-021D-033E0E958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عنصر نائب للنص 3">
            <a:extLst>
              <a:ext uri="{FF2B5EF4-FFF2-40B4-BE49-F238E27FC236}">
                <a16:creationId xmlns:a16="http://schemas.microsoft.com/office/drawing/2014/main" id="{72491AFB-FF63-A7CE-47F4-916EF05AF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A0E88950-DD50-A565-A1C2-3E39CB1B981D}"/>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6" name="عنصر نائب للتذييل 5">
            <a:extLst>
              <a:ext uri="{FF2B5EF4-FFF2-40B4-BE49-F238E27FC236}">
                <a16:creationId xmlns:a16="http://schemas.microsoft.com/office/drawing/2014/main" id="{095CF8F4-1CFE-7F8A-DBBA-11E6DDD14AF9}"/>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1F6BDF22-3DC7-23C3-6E50-E7C584DA6202}"/>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686647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849976F-0DF7-144B-AF0A-A1D305398E8B}"/>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عنوان العمودي 2">
            <a:extLst>
              <a:ext uri="{FF2B5EF4-FFF2-40B4-BE49-F238E27FC236}">
                <a16:creationId xmlns:a16="http://schemas.microsoft.com/office/drawing/2014/main" id="{9EC021AD-C756-E52A-20D9-27534FBEFEB5}"/>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7F5AD11A-D51C-72CA-B5DD-0BE5BB7AA204}"/>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5" name="عنصر نائب للتذييل 4">
            <a:extLst>
              <a:ext uri="{FF2B5EF4-FFF2-40B4-BE49-F238E27FC236}">
                <a16:creationId xmlns:a16="http://schemas.microsoft.com/office/drawing/2014/main" id="{7E49CF4E-3F36-B292-F9A0-16AB4DE92F14}"/>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EE2C6489-4F12-14B1-66A1-9EE57C04B7FE}"/>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428764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2EF5B3D6-D4D4-8A24-5F65-075877722142}"/>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endParaRPr lang="en-US"/>
          </a:p>
        </p:txBody>
      </p:sp>
      <p:sp>
        <p:nvSpPr>
          <p:cNvPr id="3" name="عنصر نائب للعنوان العمودي 2">
            <a:extLst>
              <a:ext uri="{FF2B5EF4-FFF2-40B4-BE49-F238E27FC236}">
                <a16:creationId xmlns:a16="http://schemas.microsoft.com/office/drawing/2014/main" id="{153ECE36-3D4C-138A-B770-5F1DA1CF6080}"/>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718D8FF3-72B8-7804-76A4-5F04F944EE9E}"/>
              </a:ext>
            </a:extLst>
          </p:cNvPr>
          <p:cNvSpPr>
            <a:spLocks noGrp="1"/>
          </p:cNvSpPr>
          <p:nvPr>
            <p:ph type="dt" sz="half" idx="10"/>
          </p:nvPr>
        </p:nvSpPr>
        <p:spPr/>
        <p:txBody>
          <a:bodyPr/>
          <a:lstStyle/>
          <a:p>
            <a:fld id="{815AD8A1-8C76-4A3A-8CC5-3A7BC2A72FA9}" type="datetimeFigureOut">
              <a:rPr lang="en-US" smtClean="0"/>
              <a:t>1/5/2025</a:t>
            </a:fld>
            <a:endParaRPr lang="en-US"/>
          </a:p>
        </p:txBody>
      </p:sp>
      <p:sp>
        <p:nvSpPr>
          <p:cNvPr id="5" name="عنصر نائب للتذييل 4">
            <a:extLst>
              <a:ext uri="{FF2B5EF4-FFF2-40B4-BE49-F238E27FC236}">
                <a16:creationId xmlns:a16="http://schemas.microsoft.com/office/drawing/2014/main" id="{2D824491-696A-0385-50C7-9F6F13275614}"/>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D4A0AEAA-36C7-C9C4-239A-B1DC3781DE0D}"/>
              </a:ext>
            </a:extLst>
          </p:cNvPr>
          <p:cNvSpPr>
            <a:spLocks noGrp="1"/>
          </p:cNvSpPr>
          <p:nvPr>
            <p:ph type="sldNum" sz="quarter" idx="12"/>
          </p:nvPr>
        </p:nvSpPr>
        <p:spPr/>
        <p:txBody>
          <a:bodyPr/>
          <a:lstStyle/>
          <a:p>
            <a:fld id="{96A93B4F-3FA7-49FD-B527-E9D08F916368}" type="slidenum">
              <a:rPr lang="en-US" smtClean="0"/>
              <a:t>‹#›</a:t>
            </a:fld>
            <a:endParaRPr lang="en-US"/>
          </a:p>
        </p:txBody>
      </p:sp>
    </p:spTree>
    <p:extLst>
      <p:ext uri="{BB962C8B-B14F-4D97-AF65-F5344CB8AC3E}">
        <p14:creationId xmlns:p14="http://schemas.microsoft.com/office/powerpoint/2010/main" val="2003353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413B1AA4-19BC-E4DD-2EBC-E338FB73FBCB}"/>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3947DF30-3350-E925-3FAE-9732BAFAF6B2}"/>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62290AEF-8CCE-B8F2-0946-CDB379F55ED5}"/>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815AD8A1-8C76-4A3A-8CC5-3A7BC2A72FA9}" type="datetimeFigureOut">
              <a:rPr lang="en-US" smtClean="0"/>
              <a:t>1/5/2025</a:t>
            </a:fld>
            <a:endParaRPr lang="en-US"/>
          </a:p>
        </p:txBody>
      </p:sp>
      <p:sp>
        <p:nvSpPr>
          <p:cNvPr id="5" name="عنصر نائب للتذييل 4">
            <a:extLst>
              <a:ext uri="{FF2B5EF4-FFF2-40B4-BE49-F238E27FC236}">
                <a16:creationId xmlns:a16="http://schemas.microsoft.com/office/drawing/2014/main" id="{75756B99-292A-1C5A-A2F1-ADFCB8523C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en-US"/>
          </a:p>
        </p:txBody>
      </p:sp>
      <p:sp>
        <p:nvSpPr>
          <p:cNvPr id="6" name="عنصر نائب لرقم الشريحة 5">
            <a:extLst>
              <a:ext uri="{FF2B5EF4-FFF2-40B4-BE49-F238E27FC236}">
                <a16:creationId xmlns:a16="http://schemas.microsoft.com/office/drawing/2014/main" id="{E3ADE54E-4157-9DD9-E2D3-AE2BD484A85F}"/>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96A93B4F-3FA7-49FD-B527-E9D08F916368}" type="slidenum">
              <a:rPr lang="en-US" smtClean="0"/>
              <a:t>‹#›</a:t>
            </a:fld>
            <a:endParaRPr lang="en-US"/>
          </a:p>
        </p:txBody>
      </p:sp>
    </p:spTree>
    <p:extLst>
      <p:ext uri="{BB962C8B-B14F-4D97-AF65-F5344CB8AC3E}">
        <p14:creationId xmlns:p14="http://schemas.microsoft.com/office/powerpoint/2010/main" val="544213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hyperlink" Target="https://www.kaggle.com/datasets/mirichoi0218/insuranc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عنوان 1">
            <a:extLst>
              <a:ext uri="{FF2B5EF4-FFF2-40B4-BE49-F238E27FC236}">
                <a16:creationId xmlns:a16="http://schemas.microsoft.com/office/drawing/2014/main" id="{E46F0C06-3D1F-6924-17E6-2048CC86C689}"/>
              </a:ext>
            </a:extLst>
          </p:cNvPr>
          <p:cNvSpPr>
            <a:spLocks noGrp="1"/>
          </p:cNvSpPr>
          <p:nvPr>
            <p:ph type="ctrTitle"/>
          </p:nvPr>
        </p:nvSpPr>
        <p:spPr>
          <a:xfrm>
            <a:off x="4162567" y="818984"/>
            <a:ext cx="6714699" cy="3178689"/>
          </a:xfrm>
        </p:spPr>
        <p:txBody>
          <a:bodyPr>
            <a:normAutofit/>
          </a:bodyPr>
          <a:lstStyle/>
          <a:p>
            <a:pPr algn="l"/>
            <a:r>
              <a:rPr lang="en-US" sz="4800" dirty="0">
                <a:solidFill>
                  <a:srgbClr val="FFFFFF"/>
                </a:solidFill>
              </a:rPr>
              <a:t>Predicting health insurance costs using support vector regression</a:t>
            </a:r>
          </a:p>
        </p:txBody>
      </p:sp>
      <p:sp>
        <p:nvSpPr>
          <p:cNvPr id="72" name="Rectangle 7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عنوان فرعي 2">
            <a:extLst>
              <a:ext uri="{FF2B5EF4-FFF2-40B4-BE49-F238E27FC236}">
                <a16:creationId xmlns:a16="http://schemas.microsoft.com/office/drawing/2014/main" id="{721ABA23-A7DF-B4A4-6656-6E94586B1439}"/>
              </a:ext>
            </a:extLst>
          </p:cNvPr>
          <p:cNvSpPr>
            <a:spLocks noGrp="1"/>
          </p:cNvSpPr>
          <p:nvPr>
            <p:ph type="subTitle" idx="1"/>
          </p:nvPr>
        </p:nvSpPr>
        <p:spPr>
          <a:xfrm>
            <a:off x="4285397" y="4960961"/>
            <a:ext cx="7055893" cy="1078054"/>
          </a:xfrm>
        </p:spPr>
        <p:txBody>
          <a:bodyPr>
            <a:normAutofit/>
          </a:bodyPr>
          <a:lstStyle/>
          <a:p>
            <a:pPr algn="l"/>
            <a:r>
              <a:rPr lang="en-US" sz="2200" dirty="0">
                <a:solidFill>
                  <a:srgbClr val="FFFFFF"/>
                </a:solidFill>
                <a:latin typeface="Segoe UI" panose="020B0502040204020203" pitchFamily="34" charset="0"/>
              </a:rPr>
              <a:t>Prepared by the student:</a:t>
            </a:r>
            <a:r>
              <a:rPr lang="en-US" sz="2200" dirty="0">
                <a:solidFill>
                  <a:srgbClr val="FFFFFF"/>
                </a:solidFill>
              </a:rPr>
              <a:t> Albara khalid almaseidiyen</a:t>
            </a:r>
            <a:endParaRPr lang="ar-JO" sz="2200" dirty="0">
              <a:solidFill>
                <a:srgbClr val="FFFFFF"/>
              </a:solidFill>
            </a:endParaRPr>
          </a:p>
          <a:p>
            <a:pPr algn="l"/>
            <a:r>
              <a:rPr lang="en-US" sz="2200" dirty="0">
                <a:solidFill>
                  <a:srgbClr val="FFFFFF"/>
                </a:solidFill>
                <a:latin typeface="Segoe UI" panose="020B0502040204020203" pitchFamily="34" charset="0"/>
              </a:rPr>
              <a:t>Supervised by: Dr. </a:t>
            </a:r>
            <a:r>
              <a:rPr lang="en-US" sz="2200" b="0" i="0" dirty="0">
                <a:solidFill>
                  <a:srgbClr val="FFFFFF"/>
                </a:solidFill>
                <a:effectLst/>
                <a:latin typeface="Helvetica" panose="020B0604020202020204" pitchFamily="34" charset="0"/>
              </a:rPr>
              <a:t>mohammad abdallah almseidin</a:t>
            </a:r>
            <a:endParaRPr lang="en-US" sz="2200" dirty="0">
              <a:solidFill>
                <a:srgbClr val="FFFFFF"/>
              </a:solidFill>
            </a:endParaRPr>
          </a:p>
        </p:txBody>
      </p:sp>
    </p:spTree>
    <p:extLst>
      <p:ext uri="{BB962C8B-B14F-4D97-AF65-F5344CB8AC3E}">
        <p14:creationId xmlns:p14="http://schemas.microsoft.com/office/powerpoint/2010/main" val="392950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عنوان 1">
            <a:extLst>
              <a:ext uri="{FF2B5EF4-FFF2-40B4-BE49-F238E27FC236}">
                <a16:creationId xmlns:a16="http://schemas.microsoft.com/office/drawing/2014/main" id="{44934401-8622-75F6-5C6E-B1B8EC898CF5}"/>
              </a:ext>
            </a:extLst>
          </p:cNvPr>
          <p:cNvSpPr>
            <a:spLocks noGrp="1"/>
          </p:cNvSpPr>
          <p:nvPr>
            <p:ph type="title"/>
          </p:nvPr>
        </p:nvSpPr>
        <p:spPr>
          <a:xfrm>
            <a:off x="826396" y="586855"/>
            <a:ext cx="4230100" cy="3387497"/>
          </a:xfrm>
        </p:spPr>
        <p:txBody>
          <a:bodyPr anchor="b">
            <a:normAutofit/>
          </a:bodyPr>
          <a:lstStyle/>
          <a:p>
            <a:r>
              <a:rPr lang="en-US" sz="4000">
                <a:solidFill>
                  <a:srgbClr val="FFFFFF"/>
                </a:solidFill>
              </a:rPr>
              <a:t>Project Overview and Objective</a:t>
            </a:r>
          </a:p>
        </p:txBody>
      </p:sp>
      <p:sp>
        <p:nvSpPr>
          <p:cNvPr id="3" name="عنوان فرعي 2">
            <a:extLst>
              <a:ext uri="{FF2B5EF4-FFF2-40B4-BE49-F238E27FC236}">
                <a16:creationId xmlns:a16="http://schemas.microsoft.com/office/drawing/2014/main" id="{A94841E3-223E-8EBF-F4EF-FFD74EEB3D15}"/>
              </a:ext>
            </a:extLst>
          </p:cNvPr>
          <p:cNvSpPr>
            <a:spLocks noGrp="1"/>
          </p:cNvSpPr>
          <p:nvPr>
            <p:ph idx="1"/>
          </p:nvPr>
        </p:nvSpPr>
        <p:spPr>
          <a:xfrm>
            <a:off x="6503158" y="649480"/>
            <a:ext cx="4862447" cy="5546047"/>
          </a:xfrm>
        </p:spPr>
        <p:txBody>
          <a:bodyPr anchor="ctr">
            <a:normAutofit/>
          </a:bodyPr>
          <a:lstStyle/>
          <a:p>
            <a:pPr marL="0" indent="0">
              <a:buNone/>
            </a:pPr>
            <a:r>
              <a:rPr lang="en-US" sz="2000" dirty="0"/>
              <a:t>Overview: The project aims to apply one of the machine learning methods to a set of real-world data, and the method chosen is regression with support victor machine algorithm</a:t>
            </a:r>
          </a:p>
          <a:p>
            <a:pPr marL="0" indent="0">
              <a:buNone/>
            </a:pPr>
            <a:endParaRPr lang="en-US" sz="2000" dirty="0"/>
          </a:p>
          <a:p>
            <a:pPr marL="0" indent="0">
              <a:buNone/>
            </a:pPr>
            <a:r>
              <a:rPr lang="en-US" sz="2000" dirty="0"/>
              <a:t>Objective: Apply a machine learning model  on a dataset containing health insurance costs for a group of individuals in the United States using, along with a set of personal data related to these individuals such as gender and number of children.</a:t>
            </a:r>
          </a:p>
        </p:txBody>
      </p:sp>
    </p:spTree>
    <p:extLst>
      <p:ext uri="{BB962C8B-B14F-4D97-AF65-F5344CB8AC3E}">
        <p14:creationId xmlns:p14="http://schemas.microsoft.com/office/powerpoint/2010/main" val="62949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B67FD6-1F83-68B4-F1DA-DAD66CD7E2FE}"/>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7FDCBA3A-B91B-EBD7-E289-08FCC29EAE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7846B6A-E339-B8CF-E21A-00F8D79D9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313AD6A-CE1C-AC53-E6CE-7C4248E75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9A41EFC-8D0F-1487-AC19-417C72C37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862167B4-DE86-ABCE-2462-70FAD673DB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DC89F2A-9CD9-DFC1-04CC-16559858F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مستطيل 7">
            <a:extLst>
              <a:ext uri="{FF2B5EF4-FFF2-40B4-BE49-F238E27FC236}">
                <a16:creationId xmlns:a16="http://schemas.microsoft.com/office/drawing/2014/main" id="{9B37DD17-2686-CE50-053F-E7F29E367D30}"/>
              </a:ext>
            </a:extLst>
          </p:cNvPr>
          <p:cNvSpPr/>
          <p:nvPr/>
        </p:nvSpPr>
        <p:spPr>
          <a:xfrm>
            <a:off x="3601660" y="-2"/>
            <a:ext cx="2837264" cy="6847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عنوان 1">
            <a:extLst>
              <a:ext uri="{FF2B5EF4-FFF2-40B4-BE49-F238E27FC236}">
                <a16:creationId xmlns:a16="http://schemas.microsoft.com/office/drawing/2014/main" id="{AC013FDA-733C-247F-BDEF-4F4E6D9757D9}"/>
              </a:ext>
            </a:extLst>
          </p:cNvPr>
          <p:cNvSpPr txBox="1">
            <a:spLocks/>
          </p:cNvSpPr>
          <p:nvPr/>
        </p:nvSpPr>
        <p:spPr>
          <a:xfrm>
            <a:off x="1156852" y="637762"/>
            <a:ext cx="2190782" cy="5576770"/>
          </a:xfrm>
          <a:prstGeom prst="rect">
            <a:avLst/>
          </a:prstGeom>
        </p:spPr>
        <p:txBody>
          <a:bodyPr vert="horz" lIns="91440" tIns="45720" rIns="91440" bIns="45720" rtlCol="0" anchor="t">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l" rtl="0"/>
            <a:r>
              <a:rPr lang="en-US" sz="3300">
                <a:solidFill>
                  <a:schemeClr val="bg1"/>
                </a:solidFill>
              </a:rPr>
              <a:t>Dataset Description</a:t>
            </a:r>
            <a:endParaRPr lang="en-US" sz="3300" dirty="0">
              <a:solidFill>
                <a:schemeClr val="bg1"/>
              </a:solidFill>
            </a:endParaRPr>
          </a:p>
        </p:txBody>
      </p:sp>
      <p:sp>
        <p:nvSpPr>
          <p:cNvPr id="10" name="مربع نص 9">
            <a:extLst>
              <a:ext uri="{FF2B5EF4-FFF2-40B4-BE49-F238E27FC236}">
                <a16:creationId xmlns:a16="http://schemas.microsoft.com/office/drawing/2014/main" id="{CFA68D0D-1BD4-2179-CAAF-23B76BF65C2D}"/>
              </a:ext>
            </a:extLst>
          </p:cNvPr>
          <p:cNvSpPr txBox="1"/>
          <p:nvPr/>
        </p:nvSpPr>
        <p:spPr>
          <a:xfrm>
            <a:off x="1156852" y="3865245"/>
            <a:ext cx="2436665" cy="1107996"/>
          </a:xfrm>
          <a:prstGeom prst="rect">
            <a:avLst/>
          </a:prstGeom>
          <a:noFill/>
        </p:spPr>
        <p:txBody>
          <a:bodyPr wrap="square" rtlCol="0">
            <a:spAutoFit/>
          </a:bodyPr>
          <a:lstStyle/>
          <a:p>
            <a:pPr algn="l"/>
            <a:r>
              <a:rPr lang="en-US" sz="3300" dirty="0">
                <a:solidFill>
                  <a:schemeClr val="bg1"/>
                </a:solidFill>
              </a:rPr>
              <a:t>Sample of dataset</a:t>
            </a:r>
          </a:p>
        </p:txBody>
      </p:sp>
      <p:sp>
        <p:nvSpPr>
          <p:cNvPr id="11" name="عنوان فرعي 2">
            <a:extLst>
              <a:ext uri="{FF2B5EF4-FFF2-40B4-BE49-F238E27FC236}">
                <a16:creationId xmlns:a16="http://schemas.microsoft.com/office/drawing/2014/main" id="{E3369044-EA15-BD45-3F8C-76FE0ED281E1}"/>
              </a:ext>
            </a:extLst>
          </p:cNvPr>
          <p:cNvSpPr txBox="1">
            <a:spLocks/>
          </p:cNvSpPr>
          <p:nvPr/>
        </p:nvSpPr>
        <p:spPr>
          <a:xfrm>
            <a:off x="4644525" y="300274"/>
            <a:ext cx="6390623" cy="2987374"/>
          </a:xfrm>
          <a:prstGeom prst="rect">
            <a:avLst/>
          </a:prstGeom>
        </p:spPr>
        <p:txBody>
          <a:bodyPr vert="horz" lIns="91440" tIns="45720" rIns="91440" bIns="45720" rtlCol="0">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rtl="0"/>
            <a:r>
              <a:rPr lang="en-US" dirty="0"/>
              <a:t>Attributes: age, sex(gender), bmi(Body mass index), children, smoker, region, charges(insurance cost)</a:t>
            </a:r>
          </a:p>
          <a:p>
            <a:pPr algn="l" rtl="0"/>
            <a:r>
              <a:rPr lang="en-US" dirty="0"/>
              <a:t>Number of rows and: 1338 </a:t>
            </a:r>
          </a:p>
          <a:p>
            <a:pPr algn="l" rtl="0"/>
            <a:r>
              <a:rPr lang="en-US" dirty="0"/>
              <a:t>Number of Columns: 7</a:t>
            </a:r>
          </a:p>
          <a:p>
            <a:pPr algn="l" rtl="0"/>
            <a:r>
              <a:rPr lang="en-US" dirty="0"/>
              <a:t>Source: </a:t>
            </a:r>
            <a:r>
              <a:rPr lang="en-US" dirty="0">
                <a:hlinkClick r:id="rId2"/>
              </a:rPr>
              <a:t>Kaggle</a:t>
            </a:r>
            <a:endParaRPr lang="en-US" dirty="0"/>
          </a:p>
        </p:txBody>
      </p:sp>
      <p:pic>
        <p:nvPicPr>
          <p:cNvPr id="12" name="صورة 11">
            <a:extLst>
              <a:ext uri="{FF2B5EF4-FFF2-40B4-BE49-F238E27FC236}">
                <a16:creationId xmlns:a16="http://schemas.microsoft.com/office/drawing/2014/main" id="{6AB1450A-9CAE-C30E-D657-AD49ACB31352}"/>
              </a:ext>
            </a:extLst>
          </p:cNvPr>
          <p:cNvPicPr>
            <a:picLocks noChangeAspect="1"/>
          </p:cNvPicPr>
          <p:nvPr/>
        </p:nvPicPr>
        <p:blipFill>
          <a:blip r:embed="rId3"/>
          <a:stretch>
            <a:fillRect/>
          </a:stretch>
        </p:blipFill>
        <p:spPr>
          <a:xfrm>
            <a:off x="4353826" y="3367644"/>
            <a:ext cx="6972020" cy="3088482"/>
          </a:xfrm>
          <a:prstGeom prst="rect">
            <a:avLst/>
          </a:prstGeom>
        </p:spPr>
      </p:pic>
    </p:spTree>
    <p:extLst>
      <p:ext uri="{BB962C8B-B14F-4D97-AF65-F5344CB8AC3E}">
        <p14:creationId xmlns:p14="http://schemas.microsoft.com/office/powerpoint/2010/main" val="3679244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1DA74AC2-25AF-80B1-8318-AD5578662220}"/>
              </a:ext>
            </a:extLst>
          </p:cNvPr>
          <p:cNvSpPr>
            <a:spLocks noGrp="1"/>
          </p:cNvSpPr>
          <p:nvPr>
            <p:ph type="title"/>
          </p:nvPr>
        </p:nvSpPr>
        <p:spPr>
          <a:xfrm>
            <a:off x="1371599" y="294538"/>
            <a:ext cx="9895951" cy="1033669"/>
          </a:xfrm>
        </p:spPr>
        <p:txBody>
          <a:bodyPr>
            <a:normAutofit/>
          </a:bodyPr>
          <a:lstStyle/>
          <a:p>
            <a:pPr algn="l"/>
            <a:r>
              <a:rPr lang="en-US" sz="4000" dirty="0">
                <a:solidFill>
                  <a:srgbClr val="FFFFFF"/>
                </a:solidFill>
              </a:rPr>
              <a:t>Methods and algorithms used</a:t>
            </a:r>
          </a:p>
        </p:txBody>
      </p:sp>
      <p:sp>
        <p:nvSpPr>
          <p:cNvPr id="3" name="عنصر نائب للمحتوى 2">
            <a:extLst>
              <a:ext uri="{FF2B5EF4-FFF2-40B4-BE49-F238E27FC236}">
                <a16:creationId xmlns:a16="http://schemas.microsoft.com/office/drawing/2014/main" id="{60C07994-8C37-00D5-2596-80B1EB77F41D}"/>
              </a:ext>
            </a:extLst>
          </p:cNvPr>
          <p:cNvSpPr>
            <a:spLocks noGrp="1"/>
          </p:cNvSpPr>
          <p:nvPr>
            <p:ph idx="1"/>
          </p:nvPr>
        </p:nvSpPr>
        <p:spPr>
          <a:xfrm>
            <a:off x="1457558" y="1441480"/>
            <a:ext cx="9724031" cy="4892711"/>
          </a:xfrm>
        </p:spPr>
        <p:txBody>
          <a:bodyPr anchor="ctr">
            <a:normAutofit/>
          </a:bodyPr>
          <a:lstStyle/>
          <a:p>
            <a:pPr marL="0" indent="0" algn="l">
              <a:buNone/>
            </a:pPr>
            <a:r>
              <a:rPr lang="en-US" sz="2000" dirty="0"/>
              <a:t>1-)Support Vector Machine (SVM):The SVM is a supervised machine learning algorithm for classification and regression problems. It works by finding an optimum hyperplane that separates the classes with the maximum margin between the data. In the case of nonlinear data, it works effectively by mapping into a higher dimension with the help of kernel functions.</a:t>
            </a:r>
          </a:p>
          <a:p>
            <a:pPr marL="0" indent="0" algn="l">
              <a:buNone/>
            </a:pPr>
            <a:r>
              <a:rPr lang="en-US" sz="2000" dirty="0"/>
              <a:t>2-)Regression: The regression is a statistical method that models a dependent variable (target) with one or more independent variables' relationships, known as predictors. It aims to predict the dependent variable's value using the predictors by minimizing the difference between the observed and predicted values of the dependent variable.</a:t>
            </a:r>
          </a:p>
          <a:p>
            <a:pPr marL="0" indent="0" algn="l">
              <a:buNone/>
            </a:pPr>
            <a:r>
              <a:rPr lang="en-US" sz="2000" dirty="0"/>
              <a:t>3-)Polynomial Regression: is a form of regression analysis in which the relationship between the dependent and independent variables is modeled by an nth-degree polynomial. It is an extended version of linear regression wherein a curve is fitted through the data. Therefore, it is useful to capture the non-linear relationship.</a:t>
            </a:r>
          </a:p>
        </p:txBody>
      </p:sp>
    </p:spTree>
    <p:extLst>
      <p:ext uri="{BB962C8B-B14F-4D97-AF65-F5344CB8AC3E}">
        <p14:creationId xmlns:p14="http://schemas.microsoft.com/office/powerpoint/2010/main" val="2189288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A9DAE7-907F-6D24-FAAD-5B16C64BE7E0}"/>
            </a:ext>
          </a:extLst>
        </p:cNvPr>
        <p:cNvGrpSpPr/>
        <p:nvPr/>
      </p:nvGrpSpPr>
      <p:grpSpPr>
        <a:xfrm>
          <a:off x="0" y="0"/>
          <a:ext cx="0" cy="0"/>
          <a:chOff x="0" y="0"/>
          <a:chExt cx="0" cy="0"/>
        </a:xfrm>
      </p:grpSpPr>
      <p:sp useBgFill="1">
        <p:nvSpPr>
          <p:cNvPr id="39" name="Rectangle 24">
            <a:extLst>
              <a:ext uri="{FF2B5EF4-FFF2-40B4-BE49-F238E27FC236}">
                <a16:creationId xmlns:a16="http://schemas.microsoft.com/office/drawing/2014/main" id="{97ADBF0D-E39D-53D3-7E94-8529F59E9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6">
            <a:extLst>
              <a:ext uri="{FF2B5EF4-FFF2-40B4-BE49-F238E27FC236}">
                <a16:creationId xmlns:a16="http://schemas.microsoft.com/office/drawing/2014/main" id="{19F807CA-E7C5-05D8-E668-2641774FE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8">
            <a:extLst>
              <a:ext uri="{FF2B5EF4-FFF2-40B4-BE49-F238E27FC236}">
                <a16:creationId xmlns:a16="http://schemas.microsoft.com/office/drawing/2014/main" id="{A15BE566-83A5-FCDC-078E-49E08C9482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0">
            <a:extLst>
              <a:ext uri="{FF2B5EF4-FFF2-40B4-BE49-F238E27FC236}">
                <a16:creationId xmlns:a16="http://schemas.microsoft.com/office/drawing/2014/main" id="{1AAB3E1B-1943-6022-C8F9-BA34B8E0B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2">
            <a:extLst>
              <a:ext uri="{FF2B5EF4-FFF2-40B4-BE49-F238E27FC236}">
                <a16:creationId xmlns:a16="http://schemas.microsoft.com/office/drawing/2014/main" id="{527F9219-2B4E-465A-E4E8-D2CBD490A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5EFA0869-A913-A735-1989-DF3EA09DCC4D}"/>
              </a:ext>
            </a:extLst>
          </p:cNvPr>
          <p:cNvSpPr>
            <a:spLocks noGrp="1"/>
          </p:cNvSpPr>
          <p:nvPr>
            <p:ph type="title"/>
          </p:nvPr>
        </p:nvSpPr>
        <p:spPr>
          <a:xfrm>
            <a:off x="1371599" y="294538"/>
            <a:ext cx="9895951" cy="1033669"/>
          </a:xfrm>
        </p:spPr>
        <p:txBody>
          <a:bodyPr>
            <a:normAutofit/>
          </a:bodyPr>
          <a:lstStyle/>
          <a:p>
            <a:pPr algn="l"/>
            <a:r>
              <a:rPr lang="en-US" sz="4000" dirty="0">
                <a:solidFill>
                  <a:srgbClr val="FFFFFF"/>
                </a:solidFill>
              </a:rPr>
              <a:t>Methods and algorithms used(why?)</a:t>
            </a:r>
          </a:p>
        </p:txBody>
      </p:sp>
      <p:sp>
        <p:nvSpPr>
          <p:cNvPr id="3" name="عنصر نائب للمحتوى 2">
            <a:extLst>
              <a:ext uri="{FF2B5EF4-FFF2-40B4-BE49-F238E27FC236}">
                <a16:creationId xmlns:a16="http://schemas.microsoft.com/office/drawing/2014/main" id="{C3A8BF82-AF90-6F38-9F2A-99B8575A4DCD}"/>
              </a:ext>
            </a:extLst>
          </p:cNvPr>
          <p:cNvSpPr>
            <a:spLocks noGrp="1"/>
          </p:cNvSpPr>
          <p:nvPr>
            <p:ph idx="1"/>
          </p:nvPr>
        </p:nvSpPr>
        <p:spPr>
          <a:xfrm>
            <a:off x="1457558" y="1590741"/>
            <a:ext cx="9724031" cy="4892711"/>
          </a:xfrm>
        </p:spPr>
        <p:txBody>
          <a:bodyPr anchor="ctr">
            <a:normAutofit fontScale="85000" lnSpcReduction="20000"/>
          </a:bodyPr>
          <a:lstStyle/>
          <a:p>
            <a:pPr marL="0" indent="0" algn="l">
              <a:buNone/>
            </a:pPr>
            <a:endParaRPr lang="en-US" sz="2000" dirty="0"/>
          </a:p>
          <a:p>
            <a:pPr marL="0" indent="0" algn="l">
              <a:buNone/>
            </a:pPr>
            <a:r>
              <a:rPr lang="en-US" sz="2000" dirty="0"/>
              <a:t>-)Support Vector Machine (SVM)</a:t>
            </a:r>
          </a:p>
          <a:p>
            <a:pPr marL="0" indent="0" algn="l">
              <a:buNone/>
            </a:pPr>
            <a:r>
              <a:rPr lang="en-US" sz="2000" dirty="0"/>
              <a:t>1. Flexibility with Kernels:</a:t>
            </a:r>
          </a:p>
          <a:p>
            <a:pPr marL="0" indent="0" algn="l">
              <a:buNone/>
            </a:pPr>
            <a:r>
              <a:rPr lang="en-US" sz="2000" dirty="0"/>
              <a:t>   - SVM supports a variety of kernels (e.g., linear, polynomial, radial basis function), making it adaptable to both linear and non-linear relationships.</a:t>
            </a:r>
          </a:p>
          <a:p>
            <a:pPr marL="0" indent="0" algn="l">
              <a:buNone/>
            </a:pPr>
            <a:r>
              <a:rPr lang="en-US" sz="2000" dirty="0"/>
              <a:t>   </a:t>
            </a:r>
          </a:p>
          <a:p>
            <a:pPr marL="0" indent="0" algn="l">
              <a:buNone/>
            </a:pPr>
            <a:r>
              <a:rPr lang="en-US" sz="2000" dirty="0"/>
              <a:t>2. Effective for High-Dimensional Data:.</a:t>
            </a:r>
          </a:p>
          <a:p>
            <a:pPr marL="0" indent="0" algn="l">
              <a:buNone/>
            </a:pPr>
            <a:r>
              <a:rPr lang="en-US" sz="2000" dirty="0"/>
              <a:t>   - SVM works well in high-dimensional spaces and when the number of dimensions exceeds the number of data points.</a:t>
            </a:r>
          </a:p>
          <a:p>
            <a:pPr marL="0" indent="0" algn="l">
              <a:buNone/>
            </a:pPr>
            <a:endParaRPr lang="en-US" sz="2000" dirty="0"/>
          </a:p>
          <a:p>
            <a:pPr marL="0" indent="0" algn="l">
              <a:buNone/>
            </a:pPr>
            <a:r>
              <a:rPr lang="en-US" sz="2000" dirty="0"/>
              <a:t>3. Robust to Overfitting:</a:t>
            </a:r>
          </a:p>
          <a:p>
            <a:pPr marL="0" indent="0" algn="l">
              <a:buNone/>
            </a:pPr>
            <a:r>
              <a:rPr lang="en-US" sz="2000" dirty="0"/>
              <a:t>   - By maximizing the margin (distance between data points and the decision boundary), SVM minimizes overfitting, especially when using the appropriate regularization parameter \(C\).</a:t>
            </a:r>
          </a:p>
          <a:p>
            <a:pPr marL="0" indent="0" algn="l">
              <a:buNone/>
            </a:pPr>
            <a:endParaRPr lang="en-US" sz="2000" dirty="0"/>
          </a:p>
          <a:p>
            <a:pPr marL="0" indent="0" algn="l">
              <a:buNone/>
            </a:pPr>
            <a:r>
              <a:rPr lang="en-US" sz="2000" dirty="0"/>
              <a:t>4. Support for Regression:</a:t>
            </a:r>
          </a:p>
          <a:p>
            <a:pPr marL="0" indent="0" algn="l">
              <a:buNone/>
            </a:pPr>
            <a:r>
              <a:rPr lang="en-US" sz="2000" dirty="0"/>
              <a:t>   - SVM regression (SVR) uses an (epsilon)-insensitive tube to focus on predictions within a specified tolerance level, making it ideal for precise, robust predictions.</a:t>
            </a:r>
          </a:p>
          <a:p>
            <a:pPr marL="0" indent="0" algn="l">
              <a:buNone/>
            </a:pPr>
            <a:endParaRPr lang="en-US" sz="2000" dirty="0"/>
          </a:p>
        </p:txBody>
      </p:sp>
    </p:spTree>
    <p:extLst>
      <p:ext uri="{BB962C8B-B14F-4D97-AF65-F5344CB8AC3E}">
        <p14:creationId xmlns:p14="http://schemas.microsoft.com/office/powerpoint/2010/main" val="1909040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B38B02-8443-340E-26AD-513ABFF24A87}"/>
            </a:ext>
          </a:extLst>
        </p:cNvPr>
        <p:cNvGrpSpPr/>
        <p:nvPr/>
      </p:nvGrpSpPr>
      <p:grpSpPr>
        <a:xfrm>
          <a:off x="0" y="0"/>
          <a:ext cx="0" cy="0"/>
          <a:chOff x="0" y="0"/>
          <a:chExt cx="0" cy="0"/>
        </a:xfrm>
      </p:grpSpPr>
      <p:sp useBgFill="1">
        <p:nvSpPr>
          <p:cNvPr id="39" name="Rectangle 24">
            <a:extLst>
              <a:ext uri="{FF2B5EF4-FFF2-40B4-BE49-F238E27FC236}">
                <a16:creationId xmlns:a16="http://schemas.microsoft.com/office/drawing/2014/main" id="{CE3DD95B-8644-C796-2C17-C4C85DD10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6">
            <a:extLst>
              <a:ext uri="{FF2B5EF4-FFF2-40B4-BE49-F238E27FC236}">
                <a16:creationId xmlns:a16="http://schemas.microsoft.com/office/drawing/2014/main" id="{4B331B51-21AF-DF01-E5A0-42B395B05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8">
            <a:extLst>
              <a:ext uri="{FF2B5EF4-FFF2-40B4-BE49-F238E27FC236}">
                <a16:creationId xmlns:a16="http://schemas.microsoft.com/office/drawing/2014/main" id="{598F2CD6-6E27-EC96-4632-48BBFCA417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0">
            <a:extLst>
              <a:ext uri="{FF2B5EF4-FFF2-40B4-BE49-F238E27FC236}">
                <a16:creationId xmlns:a16="http://schemas.microsoft.com/office/drawing/2014/main" id="{EFF17959-4D5D-5B81-C442-A1B03C38D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2">
            <a:extLst>
              <a:ext uri="{FF2B5EF4-FFF2-40B4-BE49-F238E27FC236}">
                <a16:creationId xmlns:a16="http://schemas.microsoft.com/office/drawing/2014/main" id="{8C8FE024-930E-FBDD-5F30-50228CC04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0F8BA170-5ADF-103C-609B-D2779B5DB934}"/>
              </a:ext>
            </a:extLst>
          </p:cNvPr>
          <p:cNvSpPr>
            <a:spLocks noGrp="1"/>
          </p:cNvSpPr>
          <p:nvPr>
            <p:ph type="title"/>
          </p:nvPr>
        </p:nvSpPr>
        <p:spPr>
          <a:xfrm>
            <a:off x="1371599" y="294538"/>
            <a:ext cx="9895951" cy="1033669"/>
          </a:xfrm>
        </p:spPr>
        <p:txBody>
          <a:bodyPr>
            <a:normAutofit/>
          </a:bodyPr>
          <a:lstStyle/>
          <a:p>
            <a:pPr algn="l"/>
            <a:r>
              <a:rPr lang="en-US" sz="4000" dirty="0">
                <a:solidFill>
                  <a:srgbClr val="FFFFFF"/>
                </a:solidFill>
              </a:rPr>
              <a:t>Methods and algorithms used(why?)</a:t>
            </a:r>
          </a:p>
        </p:txBody>
      </p:sp>
      <p:sp>
        <p:nvSpPr>
          <p:cNvPr id="3" name="عنصر نائب للمحتوى 2">
            <a:extLst>
              <a:ext uri="{FF2B5EF4-FFF2-40B4-BE49-F238E27FC236}">
                <a16:creationId xmlns:a16="http://schemas.microsoft.com/office/drawing/2014/main" id="{E25CD24B-1D94-A74E-5EA3-6452ED88AB39}"/>
              </a:ext>
            </a:extLst>
          </p:cNvPr>
          <p:cNvSpPr>
            <a:spLocks noGrp="1"/>
          </p:cNvSpPr>
          <p:nvPr>
            <p:ph idx="1"/>
          </p:nvPr>
        </p:nvSpPr>
        <p:spPr>
          <a:xfrm>
            <a:off x="1457558" y="1590741"/>
            <a:ext cx="9724031" cy="4892711"/>
          </a:xfrm>
        </p:spPr>
        <p:txBody>
          <a:bodyPr anchor="ctr">
            <a:normAutofit fontScale="92500" lnSpcReduction="20000"/>
          </a:bodyPr>
          <a:lstStyle/>
          <a:p>
            <a:pPr marL="0" indent="0" algn="l">
              <a:buNone/>
            </a:pPr>
            <a:r>
              <a:rPr lang="en-US" sz="2000" dirty="0"/>
              <a:t>Regression:</a:t>
            </a:r>
          </a:p>
          <a:p>
            <a:pPr marL="0" indent="0" algn="l">
              <a:buNone/>
            </a:pPr>
            <a:r>
              <a:rPr lang="en-US" sz="2000" dirty="0"/>
              <a:t>1. Simplicity and Interpretability:</a:t>
            </a:r>
          </a:p>
          <a:p>
            <a:pPr marL="0" indent="0" algn="l">
              <a:buNone/>
            </a:pPr>
            <a:r>
              <a:rPr lang="en-US" sz="2000" dirty="0"/>
              <a:t>   - Regression models are straightforward to understand and explain, making them ideal for scenarios where model interpretability is essential.</a:t>
            </a:r>
          </a:p>
          <a:p>
            <a:pPr marL="0" indent="0" algn="l">
              <a:buNone/>
            </a:pPr>
            <a:endParaRPr lang="en-US" sz="2000" dirty="0"/>
          </a:p>
          <a:p>
            <a:pPr marL="0" indent="0" algn="l">
              <a:buNone/>
            </a:pPr>
            <a:r>
              <a:rPr lang="en-US" sz="2000" dirty="0"/>
              <a:t>2. Versatility:</a:t>
            </a:r>
          </a:p>
          <a:p>
            <a:pPr marL="0" indent="0" algn="l">
              <a:buNone/>
            </a:pPr>
            <a:r>
              <a:rPr lang="en-US" sz="2000" dirty="0"/>
              <a:t>   - Regression can model relationships between dependent and independent variables, whether linear or non-linear.</a:t>
            </a:r>
          </a:p>
          <a:p>
            <a:pPr marL="0" indent="0" algn="l">
              <a:buNone/>
            </a:pPr>
            <a:endParaRPr lang="en-US" sz="2000" dirty="0"/>
          </a:p>
          <a:p>
            <a:pPr marL="0" indent="0" algn="l">
              <a:buNone/>
            </a:pPr>
            <a:r>
              <a:rPr lang="en-US" sz="2000" dirty="0"/>
              <a:t>3. Predictive Power:</a:t>
            </a:r>
          </a:p>
          <a:p>
            <a:pPr marL="0" indent="0" algn="l">
              <a:buNone/>
            </a:pPr>
            <a:r>
              <a:rPr lang="en-US" sz="2000" dirty="0"/>
              <a:t>   - Regression focuses on predicting continuous outcomes, making it suitable for tasks like insurance cost estimation or price prediction.</a:t>
            </a:r>
          </a:p>
          <a:p>
            <a:pPr marL="0" indent="0" algn="l">
              <a:buNone/>
            </a:pPr>
            <a:endParaRPr lang="en-US" sz="2000" dirty="0"/>
          </a:p>
          <a:p>
            <a:pPr marL="0" indent="0" algn="l">
              <a:buNone/>
            </a:pPr>
            <a:r>
              <a:rPr lang="en-US" sz="2000" dirty="0"/>
              <a:t>4. Baseline Model:</a:t>
            </a:r>
          </a:p>
          <a:p>
            <a:pPr marL="0" indent="0" algn="l">
              <a:buNone/>
            </a:pPr>
            <a:r>
              <a:rPr lang="en-US" sz="2000" dirty="0"/>
              <a:t>   - Regression often serves as a baseline model to compare more complex algorithms' performance.</a:t>
            </a:r>
          </a:p>
        </p:txBody>
      </p:sp>
    </p:spTree>
    <p:extLst>
      <p:ext uri="{BB962C8B-B14F-4D97-AF65-F5344CB8AC3E}">
        <p14:creationId xmlns:p14="http://schemas.microsoft.com/office/powerpoint/2010/main" val="3856756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A0AAAE-8CF3-16E5-9368-20D987DACB7F}"/>
            </a:ext>
          </a:extLst>
        </p:cNvPr>
        <p:cNvGrpSpPr/>
        <p:nvPr/>
      </p:nvGrpSpPr>
      <p:grpSpPr>
        <a:xfrm>
          <a:off x="0" y="0"/>
          <a:ext cx="0" cy="0"/>
          <a:chOff x="0" y="0"/>
          <a:chExt cx="0" cy="0"/>
        </a:xfrm>
      </p:grpSpPr>
      <p:sp useBgFill="1">
        <p:nvSpPr>
          <p:cNvPr id="39" name="Rectangle 24">
            <a:extLst>
              <a:ext uri="{FF2B5EF4-FFF2-40B4-BE49-F238E27FC236}">
                <a16:creationId xmlns:a16="http://schemas.microsoft.com/office/drawing/2014/main" id="{4BF4859B-E09B-FE47-9534-E645FA9B5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6">
            <a:extLst>
              <a:ext uri="{FF2B5EF4-FFF2-40B4-BE49-F238E27FC236}">
                <a16:creationId xmlns:a16="http://schemas.microsoft.com/office/drawing/2014/main" id="{69A01DED-69D0-64B3-DE0C-A8EB9F132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8">
            <a:extLst>
              <a:ext uri="{FF2B5EF4-FFF2-40B4-BE49-F238E27FC236}">
                <a16:creationId xmlns:a16="http://schemas.microsoft.com/office/drawing/2014/main" id="{C79F617B-0A3E-D3F0-9278-DA43C29D0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0">
            <a:extLst>
              <a:ext uri="{FF2B5EF4-FFF2-40B4-BE49-F238E27FC236}">
                <a16:creationId xmlns:a16="http://schemas.microsoft.com/office/drawing/2014/main" id="{4C809F6F-6228-4E33-3486-0A0E91B2E6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2">
            <a:extLst>
              <a:ext uri="{FF2B5EF4-FFF2-40B4-BE49-F238E27FC236}">
                <a16:creationId xmlns:a16="http://schemas.microsoft.com/office/drawing/2014/main" id="{0EB6A48C-659E-D21C-939C-34DF3738E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6CC5B225-24AF-9C14-56F4-F1B41F625372}"/>
              </a:ext>
            </a:extLst>
          </p:cNvPr>
          <p:cNvSpPr>
            <a:spLocks noGrp="1"/>
          </p:cNvSpPr>
          <p:nvPr>
            <p:ph type="title"/>
          </p:nvPr>
        </p:nvSpPr>
        <p:spPr>
          <a:xfrm>
            <a:off x="1371599" y="294538"/>
            <a:ext cx="9895951" cy="1033669"/>
          </a:xfrm>
        </p:spPr>
        <p:txBody>
          <a:bodyPr>
            <a:normAutofit/>
          </a:bodyPr>
          <a:lstStyle/>
          <a:p>
            <a:pPr algn="l"/>
            <a:r>
              <a:rPr lang="en-US" sz="4000" dirty="0">
                <a:solidFill>
                  <a:srgbClr val="FFFFFF"/>
                </a:solidFill>
              </a:rPr>
              <a:t>Methods and algorithms used(why?)</a:t>
            </a:r>
          </a:p>
        </p:txBody>
      </p:sp>
      <p:sp>
        <p:nvSpPr>
          <p:cNvPr id="3" name="عنصر نائب للمحتوى 2">
            <a:extLst>
              <a:ext uri="{FF2B5EF4-FFF2-40B4-BE49-F238E27FC236}">
                <a16:creationId xmlns:a16="http://schemas.microsoft.com/office/drawing/2014/main" id="{A35AD6B5-6D59-D9C7-346C-5450792C87F6}"/>
              </a:ext>
            </a:extLst>
          </p:cNvPr>
          <p:cNvSpPr>
            <a:spLocks noGrp="1"/>
          </p:cNvSpPr>
          <p:nvPr>
            <p:ph idx="1"/>
          </p:nvPr>
        </p:nvSpPr>
        <p:spPr>
          <a:xfrm>
            <a:off x="1457558" y="1590741"/>
            <a:ext cx="9724031" cy="4892711"/>
          </a:xfrm>
        </p:spPr>
        <p:txBody>
          <a:bodyPr anchor="ctr">
            <a:normAutofit fontScale="85000" lnSpcReduction="20000"/>
          </a:bodyPr>
          <a:lstStyle/>
          <a:p>
            <a:pPr marL="0" indent="0" algn="l">
              <a:buNone/>
            </a:pPr>
            <a:endParaRPr lang="en-US" sz="2000" dirty="0"/>
          </a:p>
          <a:p>
            <a:pPr marL="0" indent="0" algn="l">
              <a:buNone/>
            </a:pPr>
            <a:r>
              <a:rPr lang="en-US" sz="2000" dirty="0"/>
              <a:t>Polynomial Regression</a:t>
            </a:r>
          </a:p>
          <a:p>
            <a:pPr marL="0" indent="0" algn="l">
              <a:buNone/>
            </a:pPr>
            <a:r>
              <a:rPr lang="en-US" sz="2000" dirty="0"/>
              <a:t>1. Non-Linear Relationships:</a:t>
            </a:r>
          </a:p>
          <a:p>
            <a:pPr marL="0" indent="0" algn="l">
              <a:buNone/>
            </a:pPr>
            <a:r>
              <a:rPr lang="en-US" sz="2000" dirty="0"/>
              <a:t>   - Polynomial regression is used when data exhibits a non-linear trend that cannot be captured by simple linear regression.</a:t>
            </a:r>
          </a:p>
          <a:p>
            <a:pPr marL="0" indent="0" algn="l">
              <a:buNone/>
            </a:pPr>
            <a:endParaRPr lang="en-US" sz="2000" dirty="0"/>
          </a:p>
          <a:p>
            <a:pPr marL="0" indent="0" algn="l">
              <a:buNone/>
            </a:pPr>
            <a:r>
              <a:rPr lang="en-US" sz="2000" dirty="0"/>
              <a:t>2. Feature Flexibility:</a:t>
            </a:r>
          </a:p>
          <a:p>
            <a:pPr marL="0" indent="0" algn="l">
              <a:buNone/>
            </a:pPr>
            <a:r>
              <a:rPr lang="en-US" sz="2000" dirty="0"/>
              <a:t>   - By including polynomial terms, the model can approximate curves and bends in the data, improving fit.</a:t>
            </a:r>
          </a:p>
          <a:p>
            <a:pPr marL="0" indent="0" algn="l">
              <a:buNone/>
            </a:pPr>
            <a:endParaRPr lang="en-US" sz="2000" dirty="0"/>
          </a:p>
          <a:p>
            <a:pPr marL="0" indent="0" algn="l">
              <a:buNone/>
            </a:pPr>
            <a:r>
              <a:rPr lang="en-US" sz="2000" dirty="0"/>
              <a:t>3. Ease of Implementation:</a:t>
            </a:r>
          </a:p>
          <a:p>
            <a:pPr marL="0" indent="0" algn="l">
              <a:buNone/>
            </a:pPr>
            <a:r>
              <a:rPr lang="en-US" sz="2000" dirty="0"/>
              <a:t>   - It is relatively simple to implement, requiring minimal additional preprocessing compared to linear regression.</a:t>
            </a:r>
          </a:p>
          <a:p>
            <a:pPr marL="0" indent="0" algn="l">
              <a:buNone/>
            </a:pPr>
            <a:endParaRPr lang="en-US" sz="2000" dirty="0"/>
          </a:p>
          <a:p>
            <a:pPr marL="0" indent="0" algn="l">
              <a:buNone/>
            </a:pPr>
            <a:r>
              <a:rPr lang="en-US" sz="2000" dirty="0"/>
              <a:t>4. Balances Complexity:</a:t>
            </a:r>
          </a:p>
          <a:p>
            <a:pPr marL="0" indent="0" algn="l">
              <a:buNone/>
            </a:pPr>
            <a:r>
              <a:rPr lang="en-US" sz="2000" dirty="0"/>
              <a:t>   - Polynomial regression offers a middle ground between linear models (too simple) and high-complexity models (e.g., deep learning).</a:t>
            </a:r>
          </a:p>
          <a:p>
            <a:pPr marL="0" indent="0" algn="l">
              <a:buNone/>
            </a:pPr>
            <a:endParaRPr lang="en-US" sz="2000" dirty="0"/>
          </a:p>
        </p:txBody>
      </p:sp>
    </p:spTree>
    <p:extLst>
      <p:ext uri="{BB962C8B-B14F-4D97-AF65-F5344CB8AC3E}">
        <p14:creationId xmlns:p14="http://schemas.microsoft.com/office/powerpoint/2010/main" val="2205455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7F1E08-8530-75EE-D89D-984EEDDD4C90}"/>
            </a:ext>
          </a:extLst>
        </p:cNvPr>
        <p:cNvGrpSpPr/>
        <p:nvPr/>
      </p:nvGrpSpPr>
      <p:grpSpPr>
        <a:xfrm>
          <a:off x="0" y="0"/>
          <a:ext cx="0" cy="0"/>
          <a:chOff x="0" y="0"/>
          <a:chExt cx="0" cy="0"/>
        </a:xfrm>
      </p:grpSpPr>
      <p:sp useBgFill="1">
        <p:nvSpPr>
          <p:cNvPr id="39" name="Rectangle 24">
            <a:extLst>
              <a:ext uri="{FF2B5EF4-FFF2-40B4-BE49-F238E27FC236}">
                <a16:creationId xmlns:a16="http://schemas.microsoft.com/office/drawing/2014/main" id="{8C12282A-1B76-5184-C0A5-3FBABB9B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6">
            <a:extLst>
              <a:ext uri="{FF2B5EF4-FFF2-40B4-BE49-F238E27FC236}">
                <a16:creationId xmlns:a16="http://schemas.microsoft.com/office/drawing/2014/main" id="{F3A0FDF6-F83B-A679-293A-CD5482F8E0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8">
            <a:extLst>
              <a:ext uri="{FF2B5EF4-FFF2-40B4-BE49-F238E27FC236}">
                <a16:creationId xmlns:a16="http://schemas.microsoft.com/office/drawing/2014/main" id="{A1E0A7EA-F6AF-8920-F4CF-8267468A93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0">
            <a:extLst>
              <a:ext uri="{FF2B5EF4-FFF2-40B4-BE49-F238E27FC236}">
                <a16:creationId xmlns:a16="http://schemas.microsoft.com/office/drawing/2014/main" id="{FC312086-FEE8-D780-9DBC-95AD59412D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2">
            <a:extLst>
              <a:ext uri="{FF2B5EF4-FFF2-40B4-BE49-F238E27FC236}">
                <a16:creationId xmlns:a16="http://schemas.microsoft.com/office/drawing/2014/main" id="{951D6BA7-EEAA-9B23-3AF5-CFD7D1D80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4D76DF35-5A79-6903-BB57-FD5291DCD654}"/>
              </a:ext>
            </a:extLst>
          </p:cNvPr>
          <p:cNvSpPr>
            <a:spLocks noGrp="1"/>
          </p:cNvSpPr>
          <p:nvPr>
            <p:ph type="title"/>
          </p:nvPr>
        </p:nvSpPr>
        <p:spPr>
          <a:xfrm>
            <a:off x="1371599" y="294538"/>
            <a:ext cx="9895951" cy="1033669"/>
          </a:xfrm>
        </p:spPr>
        <p:txBody>
          <a:bodyPr>
            <a:normAutofit/>
          </a:bodyPr>
          <a:lstStyle/>
          <a:p>
            <a:pPr algn="l"/>
            <a:r>
              <a:rPr lang="en-US" sz="4000" dirty="0">
                <a:solidFill>
                  <a:srgbClr val="FFFFFF"/>
                </a:solidFill>
              </a:rPr>
              <a:t>Methods and algorithms used(why?)</a:t>
            </a:r>
          </a:p>
        </p:txBody>
      </p:sp>
      <p:sp>
        <p:nvSpPr>
          <p:cNvPr id="3" name="عنصر نائب للمحتوى 2">
            <a:extLst>
              <a:ext uri="{FF2B5EF4-FFF2-40B4-BE49-F238E27FC236}">
                <a16:creationId xmlns:a16="http://schemas.microsoft.com/office/drawing/2014/main" id="{088DBA8A-D19F-B849-1B3F-91CB7272865A}"/>
              </a:ext>
            </a:extLst>
          </p:cNvPr>
          <p:cNvSpPr>
            <a:spLocks noGrp="1"/>
          </p:cNvSpPr>
          <p:nvPr>
            <p:ph idx="1"/>
          </p:nvPr>
        </p:nvSpPr>
        <p:spPr>
          <a:xfrm>
            <a:off x="1233982" y="1603923"/>
            <a:ext cx="9724031" cy="4307780"/>
          </a:xfrm>
        </p:spPr>
        <p:txBody>
          <a:bodyPr anchor="ctr">
            <a:normAutofit/>
          </a:bodyPr>
          <a:lstStyle/>
          <a:p>
            <a:pPr marL="0" indent="0" algn="l">
              <a:buNone/>
            </a:pPr>
            <a:r>
              <a:rPr lang="en-US" sz="2000" dirty="0"/>
              <a:t>Why Use Polynomial Kernel in SVR?</a:t>
            </a:r>
          </a:p>
          <a:p>
            <a:pPr marL="0" indent="0" algn="l">
              <a:buNone/>
            </a:pPr>
            <a:r>
              <a:rPr lang="en-US" sz="2000" dirty="0"/>
              <a:t>1. Captures Non-Linear Patterns:</a:t>
            </a:r>
          </a:p>
          <a:p>
            <a:pPr marL="0" indent="0" algn="l">
              <a:buNone/>
            </a:pPr>
            <a:r>
              <a:rPr lang="en-US" sz="2000" dirty="0"/>
              <a:t>   - The polynomial kernel enables SVM to model non-linear relationships without explicitly transforming the data.</a:t>
            </a:r>
          </a:p>
          <a:p>
            <a:pPr marL="0" indent="0" algn="l">
              <a:buNone/>
            </a:pPr>
            <a:r>
              <a:rPr lang="en-US" sz="2000" dirty="0"/>
              <a:t>2. Smooth Fits:</a:t>
            </a:r>
          </a:p>
          <a:p>
            <a:pPr marL="0" indent="0" algn="l">
              <a:buNone/>
            </a:pPr>
            <a:r>
              <a:rPr lang="en-US" sz="2000" dirty="0"/>
              <a:t>   - By tuning the degree of the polynomial, you can control the complexity of the model, ensuring it fits the data without overfitting.</a:t>
            </a:r>
          </a:p>
          <a:p>
            <a:pPr marL="0" indent="0" algn="l">
              <a:buNone/>
            </a:pPr>
            <a:r>
              <a:rPr lang="en-US" sz="2000" dirty="0"/>
              <a:t>3. Handles Multi-Dimensional Data:</a:t>
            </a:r>
          </a:p>
          <a:p>
            <a:pPr marL="0" indent="0" algn="l">
              <a:buNone/>
            </a:pPr>
            <a:r>
              <a:rPr lang="en-US" sz="2000" dirty="0"/>
              <a:t>   - Polynomial kernels are effective in scenarios with complex, multi-dimensional interactions.</a:t>
            </a:r>
          </a:p>
        </p:txBody>
      </p:sp>
    </p:spTree>
    <p:extLst>
      <p:ext uri="{BB962C8B-B14F-4D97-AF65-F5344CB8AC3E}">
        <p14:creationId xmlns:p14="http://schemas.microsoft.com/office/powerpoint/2010/main" val="1192407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2082D0-D9C5-1C2C-8385-109162CC06BF}"/>
            </a:ext>
          </a:extLst>
        </p:cNvPr>
        <p:cNvGrpSpPr/>
        <p:nvPr/>
      </p:nvGrpSpPr>
      <p:grpSpPr>
        <a:xfrm>
          <a:off x="0" y="0"/>
          <a:ext cx="0" cy="0"/>
          <a:chOff x="0" y="0"/>
          <a:chExt cx="0" cy="0"/>
        </a:xfrm>
      </p:grpSpPr>
      <p:sp useBgFill="1">
        <p:nvSpPr>
          <p:cNvPr id="388" name="Rectangle 38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عنوان 1">
            <a:extLst>
              <a:ext uri="{FF2B5EF4-FFF2-40B4-BE49-F238E27FC236}">
                <a16:creationId xmlns:a16="http://schemas.microsoft.com/office/drawing/2014/main" id="{3CBE8CCF-ECB1-96F7-1CEA-B340C2AF7CEF}"/>
              </a:ext>
            </a:extLst>
          </p:cNvPr>
          <p:cNvSpPr>
            <a:spLocks noGrp="1"/>
          </p:cNvSpPr>
          <p:nvPr>
            <p:ph type="ctrTitle"/>
          </p:nvPr>
        </p:nvSpPr>
        <p:spPr>
          <a:xfrm>
            <a:off x="1383564" y="348865"/>
            <a:ext cx="9718111" cy="1576446"/>
          </a:xfrm>
        </p:spPr>
        <p:txBody>
          <a:bodyPr vert="horz" lIns="91440" tIns="45720" rIns="91440" bIns="45720" rtlCol="0" anchor="ctr">
            <a:normAutofit/>
          </a:bodyPr>
          <a:lstStyle/>
          <a:p>
            <a:pPr algn="l" rtl="0"/>
            <a:r>
              <a:rPr lang="en-US" sz="4000" kern="1200">
                <a:solidFill>
                  <a:srgbClr val="FFFFFF"/>
                </a:solidFill>
                <a:latin typeface="+mj-lt"/>
                <a:ea typeface="+mj-ea"/>
                <a:cs typeface="+mj-cs"/>
              </a:rPr>
              <a:t>Data Preprocessing Techniques</a:t>
            </a:r>
          </a:p>
        </p:txBody>
      </p:sp>
      <p:graphicFrame>
        <p:nvGraphicFramePr>
          <p:cNvPr id="384" name="مربع نص 10">
            <a:extLst>
              <a:ext uri="{FF2B5EF4-FFF2-40B4-BE49-F238E27FC236}">
                <a16:creationId xmlns:a16="http://schemas.microsoft.com/office/drawing/2014/main" id="{F58471EA-3C40-E462-DCFE-818BDA418AFC}"/>
              </a:ext>
            </a:extLst>
          </p:cNvPr>
          <p:cNvGraphicFramePr/>
          <p:nvPr>
            <p:extLst>
              <p:ext uri="{D42A27DB-BD31-4B8C-83A1-F6EECF244321}">
                <p14:modId xmlns:p14="http://schemas.microsoft.com/office/powerpoint/2010/main" val="216235912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0948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C9CAE8-B2EB-0722-5F53-F2B05472CAF2}"/>
            </a:ext>
          </a:extLst>
        </p:cNvPr>
        <p:cNvGrpSpPr/>
        <p:nvPr/>
      </p:nvGrpSpPr>
      <p:grpSpPr>
        <a:xfrm>
          <a:off x="0" y="0"/>
          <a:ext cx="0" cy="0"/>
          <a:chOff x="0" y="0"/>
          <a:chExt cx="0" cy="0"/>
        </a:xfrm>
      </p:grpSpPr>
      <p:sp useBgFill="1">
        <p:nvSpPr>
          <p:cNvPr id="388" name="Rectangle 387">
            <a:extLst>
              <a:ext uri="{FF2B5EF4-FFF2-40B4-BE49-F238E27FC236}">
                <a16:creationId xmlns:a16="http://schemas.microsoft.com/office/drawing/2014/main" id="{85C00F24-E617-21B3-3865-B10416CC5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3C62FB57-3FD6-0193-A9E3-DDE8E4A57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97F591BD-28A5-177A-4126-8744A85C3C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B8DB48D1-53C7-D760-E543-497589EF69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عنوان 1">
            <a:extLst>
              <a:ext uri="{FF2B5EF4-FFF2-40B4-BE49-F238E27FC236}">
                <a16:creationId xmlns:a16="http://schemas.microsoft.com/office/drawing/2014/main" id="{34AC4D3E-A07F-28BA-E98F-0D13A685630D}"/>
              </a:ext>
            </a:extLst>
          </p:cNvPr>
          <p:cNvSpPr>
            <a:spLocks noGrp="1"/>
          </p:cNvSpPr>
          <p:nvPr>
            <p:ph type="ctrTitle"/>
          </p:nvPr>
        </p:nvSpPr>
        <p:spPr>
          <a:xfrm>
            <a:off x="1383564" y="348865"/>
            <a:ext cx="9718111" cy="1576446"/>
          </a:xfrm>
        </p:spPr>
        <p:txBody>
          <a:bodyPr vert="horz" lIns="91440" tIns="45720" rIns="91440" bIns="45720" rtlCol="0" anchor="ctr">
            <a:normAutofit/>
          </a:bodyPr>
          <a:lstStyle/>
          <a:p>
            <a:pPr algn="l" rtl="0"/>
            <a:r>
              <a:rPr lang="en-US" sz="4000" kern="1200">
                <a:solidFill>
                  <a:srgbClr val="FFFFFF"/>
                </a:solidFill>
                <a:latin typeface="+mj-lt"/>
                <a:ea typeface="+mj-ea"/>
                <a:cs typeface="+mj-cs"/>
              </a:rPr>
              <a:t>Data Preprocessing Techniques</a:t>
            </a:r>
          </a:p>
        </p:txBody>
      </p:sp>
      <p:graphicFrame>
        <p:nvGraphicFramePr>
          <p:cNvPr id="384" name="مربع نص 10">
            <a:extLst>
              <a:ext uri="{FF2B5EF4-FFF2-40B4-BE49-F238E27FC236}">
                <a16:creationId xmlns:a16="http://schemas.microsoft.com/office/drawing/2014/main" id="{D7FF3C6F-A5E5-72D0-BC54-EE6961E17938}"/>
              </a:ext>
            </a:extLst>
          </p:cNvPr>
          <p:cNvGraphicFramePr/>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9042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CB5B0C-F483-D047-79D3-47D144017692}"/>
            </a:ext>
          </a:extLst>
        </p:cNvPr>
        <p:cNvGrpSpPr/>
        <p:nvPr/>
      </p:nvGrpSpPr>
      <p:grpSpPr>
        <a:xfrm>
          <a:off x="0" y="0"/>
          <a:ext cx="0" cy="0"/>
          <a:chOff x="0" y="0"/>
          <a:chExt cx="0" cy="0"/>
        </a:xfrm>
      </p:grpSpPr>
      <p:sp useBgFill="1">
        <p:nvSpPr>
          <p:cNvPr id="40" name="Rectangle 25">
            <a:extLst>
              <a:ext uri="{FF2B5EF4-FFF2-40B4-BE49-F238E27FC236}">
                <a16:creationId xmlns:a16="http://schemas.microsoft.com/office/drawing/2014/main" id="{FC940A8C-CB4C-865E-025A-8F553AACBF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7">
            <a:extLst>
              <a:ext uri="{FF2B5EF4-FFF2-40B4-BE49-F238E27FC236}">
                <a16:creationId xmlns:a16="http://schemas.microsoft.com/office/drawing/2014/main" id="{6300BE21-CCB8-EE3B-5C5B-D1CDA21A6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A2DAE88-2A84-AA4E-645B-4B3B1111FC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1">
            <a:extLst>
              <a:ext uri="{FF2B5EF4-FFF2-40B4-BE49-F238E27FC236}">
                <a16:creationId xmlns:a16="http://schemas.microsoft.com/office/drawing/2014/main" id="{FF7E43C4-0A38-1ED9-EA7C-41298028D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3">
            <a:extLst>
              <a:ext uri="{FF2B5EF4-FFF2-40B4-BE49-F238E27FC236}">
                <a16:creationId xmlns:a16="http://schemas.microsoft.com/office/drawing/2014/main" id="{5493ACE0-0DC3-F5D2-4D5D-1F8CD72975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4D2768C7-48AC-F2E4-B618-4AD4663128C5}"/>
              </a:ext>
            </a:extLst>
          </p:cNvPr>
          <p:cNvSpPr>
            <a:spLocks noGrp="1"/>
          </p:cNvSpPr>
          <p:nvPr>
            <p:ph type="ctrTitle"/>
          </p:nvPr>
        </p:nvSpPr>
        <p:spPr>
          <a:xfrm>
            <a:off x="1371599" y="294538"/>
            <a:ext cx="9895951" cy="1033669"/>
          </a:xfrm>
        </p:spPr>
        <p:txBody>
          <a:bodyPr vert="horz" lIns="91440" tIns="45720" rIns="91440" bIns="45720" rtlCol="0" anchor="ctr">
            <a:normAutofit/>
          </a:bodyPr>
          <a:lstStyle/>
          <a:p>
            <a:pPr algn="l" rtl="0"/>
            <a:r>
              <a:rPr lang="en-US" sz="4000" kern="1200">
                <a:solidFill>
                  <a:srgbClr val="FFFFFF"/>
                </a:solidFill>
                <a:latin typeface="+mj-lt"/>
                <a:ea typeface="+mj-ea"/>
                <a:cs typeface="+mj-cs"/>
              </a:rPr>
              <a:t>Algorithm Implementation</a:t>
            </a:r>
          </a:p>
        </p:txBody>
      </p:sp>
      <p:sp>
        <p:nvSpPr>
          <p:cNvPr id="3" name="عنوان فرعي 2">
            <a:extLst>
              <a:ext uri="{FF2B5EF4-FFF2-40B4-BE49-F238E27FC236}">
                <a16:creationId xmlns:a16="http://schemas.microsoft.com/office/drawing/2014/main" id="{CE243E64-AC2E-C6D9-33F0-F788178CE51C}"/>
              </a:ext>
            </a:extLst>
          </p:cNvPr>
          <p:cNvSpPr>
            <a:spLocks noGrp="1"/>
          </p:cNvSpPr>
          <p:nvPr>
            <p:ph type="subTitle" idx="1"/>
          </p:nvPr>
        </p:nvSpPr>
        <p:spPr>
          <a:xfrm>
            <a:off x="1371599" y="1983391"/>
            <a:ext cx="9724031" cy="4576035"/>
          </a:xfrm>
        </p:spPr>
        <p:txBody>
          <a:bodyPr vert="horz" lIns="91440" tIns="45720" rIns="91440" bIns="45720" rtlCol="0" anchor="ctr">
            <a:normAutofit fontScale="92500" lnSpcReduction="10000"/>
          </a:bodyPr>
          <a:lstStyle/>
          <a:p>
            <a:pPr indent="-228600" algn="l" rtl="0">
              <a:buFont typeface="Arial" panose="020B0604020202020204" pitchFamily="34" charset="0"/>
              <a:buChar char="•"/>
            </a:pPr>
            <a:r>
              <a:rPr lang="en-US" dirty="0"/>
              <a:t>1-)Define the model kernel and hyperparameters:</a:t>
            </a:r>
          </a:p>
          <a:p>
            <a:pPr indent="-228600" algn="l" rtl="0">
              <a:buFont typeface="Arial" panose="020B0604020202020204" pitchFamily="34" charset="0"/>
              <a:buChar char="•"/>
            </a:pPr>
            <a:r>
              <a:rPr lang="en-US" dirty="0"/>
              <a:t>model = SVR(kernel='poly',C=80,epsilon=0.001,gamma=0.6)</a:t>
            </a:r>
          </a:p>
          <a:p>
            <a:pPr lvl="2" algn="l" rtl="0" eaLnBrk="0" fontAlgn="base" hangingPunct="0">
              <a:lnSpc>
                <a:spcPct val="100000"/>
              </a:lnSpc>
              <a:spcBef>
                <a:spcPct val="0"/>
              </a:spcBef>
              <a:spcAft>
                <a:spcPct val="0"/>
              </a:spcAft>
              <a:buFontTx/>
              <a:buChar char="•"/>
            </a:pPr>
            <a:r>
              <a:rPr lang="en-US" altLang="en-US" sz="1100" dirty="0">
                <a:latin typeface="Arial Unicode MS" panose="020B0604020202020204" pitchFamily="34" charset="-128"/>
              </a:rPr>
              <a:t>C=80</a:t>
            </a:r>
            <a:r>
              <a:rPr lang="en-US" altLang="en-US" sz="1200" dirty="0"/>
              <a:t>: Controls the trade-off between achieving a low error on the training set and minimizing the model complexity.</a:t>
            </a:r>
            <a:r>
              <a:rPr lang="en-US" altLang="en-US" sz="1900" dirty="0">
                <a:latin typeface="Arial" panose="020B0604020202020204" pitchFamily="34" charset="0"/>
              </a:rPr>
              <a:t> </a:t>
            </a:r>
          </a:p>
          <a:p>
            <a:pPr lvl="2" algn="l" rtl="0" eaLnBrk="0" fontAlgn="base" hangingPunct="0">
              <a:lnSpc>
                <a:spcPct val="100000"/>
              </a:lnSpc>
              <a:spcBef>
                <a:spcPct val="0"/>
              </a:spcBef>
              <a:spcAft>
                <a:spcPct val="0"/>
              </a:spcAft>
              <a:buFontTx/>
              <a:buChar char="•"/>
            </a:pPr>
            <a:r>
              <a:rPr lang="en-US" altLang="en-US" sz="1100" dirty="0">
                <a:latin typeface="Arial Unicode MS" panose="020B0604020202020204" pitchFamily="34" charset="-128"/>
              </a:rPr>
              <a:t>epsilon=0.001</a:t>
            </a:r>
            <a:r>
              <a:rPr lang="en-US" altLang="en-US" sz="1200" dirty="0"/>
              <a:t>: Specifies the margin of tolerance for errors.</a:t>
            </a:r>
            <a:r>
              <a:rPr lang="en-US" altLang="en-US" sz="1900" dirty="0">
                <a:latin typeface="Arial" panose="020B0604020202020204" pitchFamily="34" charset="0"/>
              </a:rPr>
              <a:t> </a:t>
            </a:r>
          </a:p>
          <a:p>
            <a:pPr lvl="2" algn="l" rtl="0" eaLnBrk="0" fontAlgn="base" hangingPunct="0">
              <a:lnSpc>
                <a:spcPct val="100000"/>
              </a:lnSpc>
              <a:spcBef>
                <a:spcPct val="0"/>
              </a:spcBef>
              <a:spcAft>
                <a:spcPct val="0"/>
              </a:spcAft>
              <a:buFontTx/>
              <a:buChar char="•"/>
            </a:pPr>
            <a:r>
              <a:rPr lang="en-US" altLang="en-US" sz="1100" dirty="0">
                <a:latin typeface="Arial Unicode MS" panose="020B0604020202020204" pitchFamily="34" charset="-128"/>
              </a:rPr>
              <a:t>gamma=0.6</a:t>
            </a:r>
            <a:r>
              <a:rPr lang="en-US" altLang="en-US" sz="1200" dirty="0"/>
              <a:t>: Determines the influence of a single training example.</a:t>
            </a:r>
            <a:endParaRPr lang="en-US" dirty="0"/>
          </a:p>
          <a:p>
            <a:pPr indent="-228600" algn="l" rtl="0">
              <a:buFont typeface="Arial" panose="020B0604020202020204" pitchFamily="34" charset="0"/>
              <a:buChar char="•"/>
            </a:pPr>
            <a:r>
              <a:rPr lang="en-US" dirty="0"/>
              <a:t>2-)training the model:</a:t>
            </a:r>
          </a:p>
          <a:p>
            <a:pPr indent="-228600" algn="l" rtl="0">
              <a:buFont typeface="Arial" panose="020B0604020202020204" pitchFamily="34" charset="0"/>
              <a:buChar char="•"/>
            </a:pPr>
            <a:r>
              <a:rPr lang="en-US" dirty="0"/>
              <a:t>model.fit(X_train, y_train)</a:t>
            </a:r>
          </a:p>
          <a:p>
            <a:pPr indent="-228600" algn="l" rtl="0">
              <a:buFont typeface="Arial" panose="020B0604020202020204" pitchFamily="34" charset="0"/>
              <a:buChar char="•"/>
            </a:pPr>
            <a:endParaRPr lang="en-US" dirty="0"/>
          </a:p>
          <a:p>
            <a:pPr indent="-228600" algn="l" rtl="0">
              <a:buFont typeface="Arial" panose="020B0604020202020204" pitchFamily="34" charset="0"/>
              <a:buChar char="•"/>
            </a:pPr>
            <a:r>
              <a:rPr lang="en-US" dirty="0"/>
              <a:t>3-)</a:t>
            </a:r>
            <a:r>
              <a:rPr lang="en-US" b="1" dirty="0"/>
              <a:t> </a:t>
            </a:r>
            <a:r>
              <a:rPr lang="en-US" dirty="0"/>
              <a:t>Cross-Validation:</a:t>
            </a:r>
          </a:p>
          <a:p>
            <a:pPr indent="-228600" algn="l" rtl="0">
              <a:buFont typeface="Arial" panose="020B0604020202020204" pitchFamily="34" charset="0"/>
              <a:buChar char="•"/>
            </a:pPr>
            <a:r>
              <a:rPr lang="en-US" dirty="0"/>
              <a:t>scores = cross_val_score(model, X_train,y_train, cv=5)</a:t>
            </a:r>
          </a:p>
          <a:p>
            <a:pPr algn="l" rtl="0"/>
            <a:endParaRPr lang="en-US" dirty="0"/>
          </a:p>
          <a:p>
            <a:pPr indent="-228600" algn="l" rtl="0">
              <a:buFont typeface="Arial" panose="020B0604020202020204" pitchFamily="34" charset="0"/>
              <a:buChar char="•"/>
            </a:pPr>
            <a:r>
              <a:rPr lang="en-US" sz="2000" dirty="0"/>
              <a:t>4-)</a:t>
            </a:r>
            <a:r>
              <a:rPr lang="en-US" dirty="0"/>
              <a:t> Make predictions on the test set</a:t>
            </a:r>
          </a:p>
          <a:p>
            <a:pPr indent="-228600" algn="l" rtl="0">
              <a:buFont typeface="Arial" panose="020B0604020202020204" pitchFamily="34" charset="0"/>
              <a:buChar char="•"/>
            </a:pPr>
            <a:r>
              <a:rPr lang="en-US" dirty="0"/>
              <a:t>y_pred =model.predict(X_test)  </a:t>
            </a:r>
          </a:p>
          <a:p>
            <a:pPr indent="-228600" algn="l" rtl="0">
              <a:buFont typeface="Arial" panose="020B0604020202020204" pitchFamily="34" charset="0"/>
              <a:buChar char="•"/>
            </a:pPr>
            <a:endParaRPr lang="en-US" sz="2000" dirty="0"/>
          </a:p>
        </p:txBody>
      </p:sp>
    </p:spTree>
    <p:extLst>
      <p:ext uri="{BB962C8B-B14F-4D97-AF65-F5344CB8AC3E}">
        <p14:creationId xmlns:p14="http://schemas.microsoft.com/office/powerpoint/2010/main" val="1972806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2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752CA45B-D102-6F4E-D1C6-39ED04F4D705}"/>
              </a:ext>
            </a:extLst>
          </p:cNvPr>
          <p:cNvSpPr>
            <a:spLocks noGrp="1"/>
          </p:cNvSpPr>
          <p:nvPr>
            <p:ph type="ctrTitle"/>
          </p:nvPr>
        </p:nvSpPr>
        <p:spPr>
          <a:xfrm>
            <a:off x="466722" y="586855"/>
            <a:ext cx="3201366" cy="3387497"/>
          </a:xfrm>
        </p:spPr>
        <p:txBody>
          <a:bodyPr vert="horz" lIns="91440" tIns="45720" rIns="91440" bIns="45720" rtlCol="0" anchor="b">
            <a:normAutofit/>
          </a:bodyPr>
          <a:lstStyle/>
          <a:p>
            <a:pPr algn="r" rtl="0"/>
            <a:r>
              <a:rPr lang="en-US" sz="4000" kern="1200">
                <a:solidFill>
                  <a:srgbClr val="FFFFFF"/>
                </a:solidFill>
                <a:latin typeface="+mj-lt"/>
                <a:ea typeface="+mj-ea"/>
                <a:cs typeface="+mj-cs"/>
              </a:rPr>
              <a:t>Results</a:t>
            </a:r>
          </a:p>
        </p:txBody>
      </p:sp>
      <p:sp>
        <p:nvSpPr>
          <p:cNvPr id="3" name="عنوان فرعي 2">
            <a:extLst>
              <a:ext uri="{FF2B5EF4-FFF2-40B4-BE49-F238E27FC236}">
                <a16:creationId xmlns:a16="http://schemas.microsoft.com/office/drawing/2014/main" id="{C0F015B5-C8B8-B482-550F-4E811BC10D24}"/>
              </a:ext>
            </a:extLst>
          </p:cNvPr>
          <p:cNvSpPr>
            <a:spLocks noGrp="1"/>
          </p:cNvSpPr>
          <p:nvPr>
            <p:ph type="subTitle" idx="1"/>
          </p:nvPr>
        </p:nvSpPr>
        <p:spPr>
          <a:xfrm>
            <a:off x="4810259" y="649480"/>
            <a:ext cx="6555347" cy="5546047"/>
          </a:xfrm>
        </p:spPr>
        <p:txBody>
          <a:bodyPr vert="horz" lIns="91440" tIns="45720" rIns="91440" bIns="45720" rtlCol="0" anchor="ctr">
            <a:normAutofit/>
          </a:bodyPr>
          <a:lstStyle/>
          <a:p>
            <a:pPr indent="-228600" algn="l" rtl="0">
              <a:buFont typeface="Arial" panose="020B0604020202020204" pitchFamily="34" charset="0"/>
              <a:buChar char="•"/>
            </a:pPr>
            <a:r>
              <a:rPr lang="en-US" sz="2000"/>
              <a:t>Results: Performance metrics (e.g., R², MSE)</a:t>
            </a:r>
          </a:p>
          <a:p>
            <a:pPr indent="-228600" algn="l" rtl="0">
              <a:buFont typeface="Arial" panose="020B0604020202020204" pitchFamily="34" charset="0"/>
              <a:buChar char="•"/>
            </a:pPr>
            <a:r>
              <a:rPr lang="en-US" sz="2000"/>
              <a:t>Mse: Mean Squared Error: 21724489.234933894 .</a:t>
            </a:r>
          </a:p>
          <a:p>
            <a:pPr indent="-228600" algn="l" rtl="0">
              <a:buFont typeface="Arial" panose="020B0604020202020204" pitchFamily="34" charset="0"/>
              <a:buChar char="•"/>
            </a:pPr>
            <a:r>
              <a:rPr lang="en-US" sz="2000"/>
              <a:t>Mae: Mean Absolute Error: 1867.7518039005386 .</a:t>
            </a:r>
          </a:p>
          <a:p>
            <a:pPr indent="-228600" algn="l" rtl="0">
              <a:buFont typeface="Arial" panose="020B0604020202020204" pitchFamily="34" charset="0"/>
              <a:buChar char="•"/>
            </a:pPr>
            <a:r>
              <a:rPr lang="en-US" sz="2000"/>
              <a:t>R²:R-squared: 0.8600665588299183 .</a:t>
            </a:r>
          </a:p>
          <a:p>
            <a:pPr indent="-228600" algn="l" rtl="0">
              <a:buFont typeface="Arial" panose="020B0604020202020204" pitchFamily="34" charset="0"/>
              <a:buChar char="•"/>
            </a:pPr>
            <a:r>
              <a:rPr lang="en-US" sz="2000"/>
              <a:t>Cross-Validation Scores in R² : </a:t>
            </a:r>
          </a:p>
          <a:p>
            <a:pPr indent="-228600" algn="l" rtl="0">
              <a:buFont typeface="Arial" panose="020B0604020202020204" pitchFamily="34" charset="0"/>
              <a:buChar char="•"/>
            </a:pPr>
            <a:r>
              <a:rPr lang="en-US" sz="2000"/>
              <a:t>[0.80373797, 0.86677275 ,0.78126325 ,0.73540017 ,0.82574013]</a:t>
            </a:r>
            <a:endParaRPr lang="en-US" sz="2000" dirty="0"/>
          </a:p>
        </p:txBody>
      </p:sp>
    </p:spTree>
    <p:extLst>
      <p:ext uri="{BB962C8B-B14F-4D97-AF65-F5344CB8AC3E}">
        <p14:creationId xmlns:p14="http://schemas.microsoft.com/office/powerpoint/2010/main" val="3744526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52317ED4-FB9D-A6D1-BADF-34119B815D40}"/>
              </a:ext>
            </a:extLst>
          </p:cNvPr>
          <p:cNvSpPr>
            <a:spLocks noGrp="1"/>
          </p:cNvSpPr>
          <p:nvPr>
            <p:ph type="ctrTitle"/>
          </p:nvPr>
        </p:nvSpPr>
        <p:spPr>
          <a:xfrm>
            <a:off x="699713" y="248038"/>
            <a:ext cx="7063721" cy="1159200"/>
          </a:xfrm>
        </p:spPr>
        <p:txBody>
          <a:bodyPr anchor="ctr">
            <a:normAutofit/>
          </a:bodyPr>
          <a:lstStyle/>
          <a:p>
            <a:pPr algn="l"/>
            <a:r>
              <a:rPr lang="en-US" sz="4000">
                <a:solidFill>
                  <a:srgbClr val="FFFFFF"/>
                </a:solidFill>
              </a:rPr>
              <a:t>Performance Evaluation</a:t>
            </a:r>
          </a:p>
        </p:txBody>
      </p:sp>
      <p:sp>
        <p:nvSpPr>
          <p:cNvPr id="3" name="عنوان فرعي 2">
            <a:extLst>
              <a:ext uri="{FF2B5EF4-FFF2-40B4-BE49-F238E27FC236}">
                <a16:creationId xmlns:a16="http://schemas.microsoft.com/office/drawing/2014/main" id="{6C4609A8-DBF7-FEBF-33E5-61F67AF48BA4}"/>
              </a:ext>
            </a:extLst>
          </p:cNvPr>
          <p:cNvSpPr>
            <a:spLocks noGrp="1"/>
          </p:cNvSpPr>
          <p:nvPr>
            <p:ph type="subTitle" idx="1"/>
          </p:nvPr>
        </p:nvSpPr>
        <p:spPr>
          <a:xfrm>
            <a:off x="8572499" y="390832"/>
            <a:ext cx="3233585" cy="873612"/>
          </a:xfrm>
        </p:spPr>
        <p:txBody>
          <a:bodyPr anchor="ctr">
            <a:normAutofit/>
          </a:bodyPr>
          <a:lstStyle/>
          <a:p>
            <a:pPr algn="l"/>
            <a:r>
              <a:rPr lang="en-US" sz="1400" dirty="0">
                <a:solidFill>
                  <a:srgbClr val="FFFFFF"/>
                </a:solidFill>
              </a:rPr>
              <a:t>The graph below show the distance between the  predicted values point in training  set  and the ideal fit line </a:t>
            </a:r>
          </a:p>
        </p:txBody>
      </p:sp>
      <p:pic>
        <p:nvPicPr>
          <p:cNvPr id="5" name="صورة 4" descr="صورة تحتوي على خط, نص, تخطيط, رسم بياني&#10;&#10;تم إنشاء الوصف تلقائياً">
            <a:extLst>
              <a:ext uri="{FF2B5EF4-FFF2-40B4-BE49-F238E27FC236}">
                <a16:creationId xmlns:a16="http://schemas.microsoft.com/office/drawing/2014/main" id="{34A82BC8-183B-815C-F3E6-261434F82216}"/>
              </a:ext>
            </a:extLst>
          </p:cNvPr>
          <p:cNvPicPr>
            <a:picLocks noChangeAspect="1"/>
          </p:cNvPicPr>
          <p:nvPr/>
        </p:nvPicPr>
        <p:blipFill>
          <a:blip r:embed="rId2"/>
          <a:stretch>
            <a:fillRect/>
          </a:stretch>
        </p:blipFill>
        <p:spPr>
          <a:xfrm>
            <a:off x="2334055" y="1822348"/>
            <a:ext cx="7295405" cy="4596105"/>
          </a:xfrm>
          <a:prstGeom prst="rect">
            <a:avLst/>
          </a:prstGeom>
        </p:spPr>
      </p:pic>
    </p:spTree>
    <p:extLst>
      <p:ext uri="{BB962C8B-B14F-4D97-AF65-F5344CB8AC3E}">
        <p14:creationId xmlns:p14="http://schemas.microsoft.com/office/powerpoint/2010/main" val="2115422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3EE070-86A6-27A1-E544-E38F3790F57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F38AE7-A683-D231-D211-ADCDB56532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68CEE6-E2D8-3921-888A-A99C2CCC11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033D3DB-1536-171C-0B97-80782A36C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3D3E08-33C8-36B0-3519-7A6455735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4668FDA2-A35B-08E8-7FF5-59209579C96D}"/>
              </a:ext>
            </a:extLst>
          </p:cNvPr>
          <p:cNvSpPr>
            <a:spLocks noGrp="1"/>
          </p:cNvSpPr>
          <p:nvPr>
            <p:ph type="ctrTitle"/>
          </p:nvPr>
        </p:nvSpPr>
        <p:spPr>
          <a:xfrm>
            <a:off x="699713" y="248038"/>
            <a:ext cx="7063721" cy="1159200"/>
          </a:xfrm>
        </p:spPr>
        <p:txBody>
          <a:bodyPr anchor="ctr">
            <a:normAutofit/>
          </a:bodyPr>
          <a:lstStyle/>
          <a:p>
            <a:pPr algn="l"/>
            <a:r>
              <a:rPr lang="en-US" sz="4000">
                <a:solidFill>
                  <a:srgbClr val="FFFFFF"/>
                </a:solidFill>
              </a:rPr>
              <a:t>Performance Evaluation</a:t>
            </a:r>
          </a:p>
        </p:txBody>
      </p:sp>
      <p:sp>
        <p:nvSpPr>
          <p:cNvPr id="3" name="عنوان فرعي 2">
            <a:extLst>
              <a:ext uri="{FF2B5EF4-FFF2-40B4-BE49-F238E27FC236}">
                <a16:creationId xmlns:a16="http://schemas.microsoft.com/office/drawing/2014/main" id="{7DEA5345-3B56-FD2A-5368-5EA406EBB05B}"/>
              </a:ext>
            </a:extLst>
          </p:cNvPr>
          <p:cNvSpPr>
            <a:spLocks noGrp="1"/>
          </p:cNvSpPr>
          <p:nvPr>
            <p:ph type="subTitle" idx="1"/>
          </p:nvPr>
        </p:nvSpPr>
        <p:spPr>
          <a:xfrm>
            <a:off x="8572499" y="390832"/>
            <a:ext cx="3233585" cy="873612"/>
          </a:xfrm>
        </p:spPr>
        <p:txBody>
          <a:bodyPr anchor="ctr">
            <a:normAutofit/>
          </a:bodyPr>
          <a:lstStyle/>
          <a:p>
            <a:pPr algn="l"/>
            <a:r>
              <a:rPr lang="en-US" sz="1400" dirty="0">
                <a:solidFill>
                  <a:srgbClr val="FFFFFF"/>
                </a:solidFill>
              </a:rPr>
              <a:t>The graph below show the distance between the  predicted values point in testing set and the ideal fit line </a:t>
            </a:r>
          </a:p>
        </p:txBody>
      </p:sp>
      <p:pic>
        <p:nvPicPr>
          <p:cNvPr id="6" name="صورة 5">
            <a:extLst>
              <a:ext uri="{FF2B5EF4-FFF2-40B4-BE49-F238E27FC236}">
                <a16:creationId xmlns:a16="http://schemas.microsoft.com/office/drawing/2014/main" id="{4ABFE182-3766-3840-9B2B-7656A825B930}"/>
              </a:ext>
            </a:extLst>
          </p:cNvPr>
          <p:cNvPicPr>
            <a:picLocks noChangeAspect="1"/>
          </p:cNvPicPr>
          <p:nvPr/>
        </p:nvPicPr>
        <p:blipFill>
          <a:blip r:embed="rId2"/>
          <a:stretch>
            <a:fillRect/>
          </a:stretch>
        </p:blipFill>
        <p:spPr>
          <a:xfrm>
            <a:off x="2239089" y="1822348"/>
            <a:ext cx="7362112" cy="4639488"/>
          </a:xfrm>
          <a:prstGeom prst="rect">
            <a:avLst/>
          </a:prstGeom>
        </p:spPr>
      </p:pic>
    </p:spTree>
    <p:extLst>
      <p:ext uri="{BB962C8B-B14F-4D97-AF65-F5344CB8AC3E}">
        <p14:creationId xmlns:p14="http://schemas.microsoft.com/office/powerpoint/2010/main" val="1386473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CECC3989-9367-4181-E327-197FF851DA9F}"/>
              </a:ext>
            </a:extLst>
          </p:cNvPr>
          <p:cNvSpPr>
            <a:spLocks noGrp="1"/>
          </p:cNvSpPr>
          <p:nvPr>
            <p:ph type="ctrTitle"/>
          </p:nvPr>
        </p:nvSpPr>
        <p:spPr>
          <a:xfrm>
            <a:off x="1371599" y="294538"/>
            <a:ext cx="9895951" cy="1033669"/>
          </a:xfrm>
        </p:spPr>
        <p:txBody>
          <a:bodyPr vert="horz" lIns="91440" tIns="45720" rIns="91440" bIns="45720" rtlCol="0" anchor="ctr">
            <a:normAutofit/>
          </a:bodyPr>
          <a:lstStyle/>
          <a:p>
            <a:pPr algn="l" rtl="0"/>
            <a:r>
              <a:rPr lang="en-US" sz="4000" kern="1200" dirty="0">
                <a:solidFill>
                  <a:srgbClr val="FFFFFF"/>
                </a:solidFill>
                <a:latin typeface="+mj-lt"/>
                <a:ea typeface="+mj-ea"/>
                <a:cs typeface="+mj-cs"/>
              </a:rPr>
              <a:t>Summary and Conclusion</a:t>
            </a:r>
          </a:p>
        </p:txBody>
      </p:sp>
      <p:sp>
        <p:nvSpPr>
          <p:cNvPr id="3" name="عنوان فرعي 2">
            <a:extLst>
              <a:ext uri="{FF2B5EF4-FFF2-40B4-BE49-F238E27FC236}">
                <a16:creationId xmlns:a16="http://schemas.microsoft.com/office/drawing/2014/main" id="{84CEB11B-534B-168B-3518-514F5136ECFB}"/>
              </a:ext>
            </a:extLst>
          </p:cNvPr>
          <p:cNvSpPr>
            <a:spLocks noGrp="1"/>
          </p:cNvSpPr>
          <p:nvPr>
            <p:ph type="subTitle" idx="1"/>
          </p:nvPr>
        </p:nvSpPr>
        <p:spPr>
          <a:xfrm>
            <a:off x="1371599" y="2318197"/>
            <a:ext cx="9724031" cy="3683358"/>
          </a:xfrm>
        </p:spPr>
        <p:txBody>
          <a:bodyPr vert="horz" lIns="91440" tIns="45720" rIns="91440" bIns="45720" rtlCol="0" anchor="ctr">
            <a:normAutofit/>
          </a:bodyPr>
          <a:lstStyle/>
          <a:p>
            <a:pPr indent="-228600" algn="l" rtl="0">
              <a:buFont typeface="Arial" panose="020B0604020202020204" pitchFamily="34" charset="0"/>
              <a:buChar char="•"/>
            </a:pPr>
            <a:r>
              <a:rPr lang="en-US" sz="2000" dirty="0"/>
              <a:t>By working on this project, we can conclude the following points:</a:t>
            </a:r>
          </a:p>
          <a:p>
            <a:pPr indent="-228600" algn="l" rtl="0">
              <a:buFont typeface="Arial" panose="020B0604020202020204" pitchFamily="34" charset="0"/>
              <a:buChar char="•"/>
            </a:pPr>
            <a:r>
              <a:rPr lang="en-US" sz="2000" dirty="0"/>
              <a:t>1-) Support Vector Machine algorithm has high potential and flexibility due to their use of kernels, allowing them to handle linear (linear kernel) and non-linear problems (polynomial, radial basis function, or sigmoid kernels).  .</a:t>
            </a:r>
          </a:p>
          <a:p>
            <a:pPr indent="-228600" algn="l" rtl="0">
              <a:buFont typeface="Arial" panose="020B0604020202020204" pitchFamily="34" charset="0"/>
              <a:buChar char="•"/>
            </a:pPr>
            <a:r>
              <a:rPr lang="en-US" sz="2000" dirty="0"/>
              <a:t>2-) The advantage of polynomial regression is that it fits the data very well </a:t>
            </a:r>
            <a:r>
              <a:rPr lang="en-US" sz="2000"/>
              <a:t>without overfitting</a:t>
            </a:r>
            <a:endParaRPr lang="en-US" sz="2000" dirty="0"/>
          </a:p>
        </p:txBody>
      </p:sp>
    </p:spTree>
    <p:extLst>
      <p:ext uri="{BB962C8B-B14F-4D97-AF65-F5344CB8AC3E}">
        <p14:creationId xmlns:p14="http://schemas.microsoft.com/office/powerpoint/2010/main" val="79418862"/>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783</TotalTime>
  <Words>1170</Words>
  <Application>Microsoft Office PowerPoint</Application>
  <PresentationFormat>شاشة عريضة</PresentationFormat>
  <Paragraphs>107</Paragraphs>
  <Slides>15</Slides>
  <Notes>0</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15</vt:i4>
      </vt:variant>
    </vt:vector>
  </HeadingPairs>
  <TitlesOfParts>
    <vt:vector size="22" baseType="lpstr">
      <vt:lpstr>Arial Unicode MS</vt:lpstr>
      <vt:lpstr>Aptos</vt:lpstr>
      <vt:lpstr>Aptos Display</vt:lpstr>
      <vt:lpstr>Arial</vt:lpstr>
      <vt:lpstr>Helvetica</vt:lpstr>
      <vt:lpstr>Segoe UI</vt:lpstr>
      <vt:lpstr>نسق Office</vt:lpstr>
      <vt:lpstr>Predicting health insurance costs using support vector regression</vt:lpstr>
      <vt:lpstr>Project Overview and Objective</vt:lpstr>
      <vt:lpstr>عرض تقديمي في PowerPoint</vt:lpstr>
      <vt:lpstr>Methods and algorithms used</vt:lpstr>
      <vt:lpstr>Methods and algorithms used(why?)</vt:lpstr>
      <vt:lpstr>Methods and algorithms used(why?)</vt:lpstr>
      <vt:lpstr>Methods and algorithms used(why?)</vt:lpstr>
      <vt:lpstr>Methods and algorithms used(why?)</vt:lpstr>
      <vt:lpstr>Data Preprocessing Techniques</vt:lpstr>
      <vt:lpstr>Data Preprocessing Techniques</vt:lpstr>
      <vt:lpstr>Algorithm Implementation</vt:lpstr>
      <vt:lpstr>Results</vt:lpstr>
      <vt:lpstr>Performance Evaluation</vt:lpstr>
      <vt:lpstr>Performance Evaluation</vt:lpstr>
      <vt:lpstr>Summary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البراء خالد احمد المسيعديين</dc:creator>
  <cp:lastModifiedBy>البراء خالد احمد المسيعديين</cp:lastModifiedBy>
  <cp:revision>10</cp:revision>
  <dcterms:created xsi:type="dcterms:W3CDTF">2024-12-27T14:29:47Z</dcterms:created>
  <dcterms:modified xsi:type="dcterms:W3CDTF">2025-01-04T22:56:06Z</dcterms:modified>
</cp:coreProperties>
</file>