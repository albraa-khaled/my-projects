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 (MS) Bold" panose="020B0604020202020204" charset="0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604020202020204" charset="0"/>
      <p:regular r:id="rId15"/>
    </p:embeddedFont>
    <p:embeddedFont>
      <p:font typeface="Open Sans Bold Italics" panose="020B0604020202020204" charset="0"/>
      <p:regular r:id="rId16"/>
    </p:embeddedFont>
    <p:embeddedFont>
      <p:font typeface="Poppin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21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JO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F7EF1718-777E-40F0-9DB8-FCDEED66C396}" type="datetimeFigureOut">
              <a:rPr lang="ar-JO" smtClean="0"/>
              <a:t>27/11/1446</a:t>
            </a:fld>
            <a:endParaRPr lang="ar-JO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JO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JO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JO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7B101340-656D-4F22-A53A-4A1F722086D4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3569869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JO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01340-656D-4F22-A53A-4A1F722086D4}" type="slidenum">
              <a:rPr lang="ar-JO" smtClean="0"/>
              <a:t>6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600815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openxmlformats.org/officeDocument/2006/relationships/image" Target="../media/image4.png"/><Relationship Id="rId18" Type="http://schemas.openxmlformats.org/officeDocument/2006/relationships/image" Target="../media/image12.jpeg"/><Relationship Id="rId3" Type="http://schemas.microsoft.com/office/2007/relationships/media" Target="../media/media2.mp4"/><Relationship Id="rId7" Type="http://schemas.microsoft.com/office/2007/relationships/media" Target="../media/media4.mp4"/><Relationship Id="rId12" Type="http://schemas.openxmlformats.org/officeDocument/2006/relationships/image" Target="../media/image3.svg"/><Relationship Id="rId17" Type="http://schemas.openxmlformats.org/officeDocument/2006/relationships/image" Target="../media/image11.jpeg"/><Relationship Id="rId2" Type="http://schemas.openxmlformats.org/officeDocument/2006/relationships/video" Target="../media/media1.mp4"/><Relationship Id="rId16" Type="http://schemas.openxmlformats.org/officeDocument/2006/relationships/image" Target="../media/image10.jpeg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2.png"/><Relationship Id="rId5" Type="http://schemas.microsoft.com/office/2007/relationships/media" Target="../media/media3.mp4"/><Relationship Id="rId15" Type="http://schemas.openxmlformats.org/officeDocument/2006/relationships/image" Target="../media/image9.jpeg"/><Relationship Id="rId10" Type="http://schemas.openxmlformats.org/officeDocument/2006/relationships/image" Target="../media/image8.jpeg"/><Relationship Id="rId4" Type="http://schemas.openxmlformats.org/officeDocument/2006/relationships/video" Target="../media/media2.mp4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3.svg"/><Relationship Id="rId7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ar-JO"/>
            </a:p>
          </p:txBody>
        </p:sp>
      </p:grpSp>
      <p:sp>
        <p:nvSpPr>
          <p:cNvPr id="4" name="Freeform 4"/>
          <p:cNvSpPr/>
          <p:nvPr/>
        </p:nvSpPr>
        <p:spPr>
          <a:xfrm>
            <a:off x="1028700" y="4301290"/>
            <a:ext cx="2724000" cy="2733941"/>
          </a:xfrm>
          <a:custGeom>
            <a:avLst/>
            <a:gdLst/>
            <a:ahLst/>
            <a:cxnLst/>
            <a:rect l="l" t="t" r="r" b="b"/>
            <a:pathLst>
              <a:path w="2724000" h="2733941">
                <a:moveTo>
                  <a:pt x="0" y="0"/>
                </a:moveTo>
                <a:lnTo>
                  <a:pt x="2724000" y="0"/>
                </a:lnTo>
                <a:lnTo>
                  <a:pt x="2724000" y="2733941"/>
                </a:lnTo>
                <a:lnTo>
                  <a:pt x="0" y="27339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66" b="-166"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5" name="Freeform 5"/>
          <p:cNvSpPr/>
          <p:nvPr/>
        </p:nvSpPr>
        <p:spPr>
          <a:xfrm>
            <a:off x="1427561" y="319051"/>
            <a:ext cx="389178" cy="390598"/>
          </a:xfrm>
          <a:custGeom>
            <a:avLst/>
            <a:gdLst/>
            <a:ahLst/>
            <a:cxnLst/>
            <a:rect l="l" t="t" r="r" b="b"/>
            <a:pathLst>
              <a:path w="389178" h="390598">
                <a:moveTo>
                  <a:pt x="0" y="0"/>
                </a:moveTo>
                <a:lnTo>
                  <a:pt x="389178" y="0"/>
                </a:lnTo>
                <a:lnTo>
                  <a:pt x="389178" y="390598"/>
                </a:lnTo>
                <a:lnTo>
                  <a:pt x="0" y="390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33" b="-1033"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/>
          <p:cNvSpPr/>
          <p:nvPr/>
        </p:nvSpPr>
        <p:spPr>
          <a:xfrm>
            <a:off x="17567467" y="9426029"/>
            <a:ext cx="397119" cy="505615"/>
          </a:xfrm>
          <a:custGeom>
            <a:avLst/>
            <a:gdLst/>
            <a:ahLst/>
            <a:cxnLst/>
            <a:rect l="l" t="t" r="r" b="b"/>
            <a:pathLst>
              <a:path w="397119" h="505615">
                <a:moveTo>
                  <a:pt x="0" y="0"/>
                </a:moveTo>
                <a:lnTo>
                  <a:pt x="397119" y="0"/>
                </a:lnTo>
                <a:lnTo>
                  <a:pt x="397119" y="505615"/>
                </a:lnTo>
                <a:lnTo>
                  <a:pt x="0" y="5056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grpSp>
        <p:nvGrpSpPr>
          <p:cNvPr id="7" name="Group 7"/>
          <p:cNvGrpSpPr/>
          <p:nvPr/>
        </p:nvGrpSpPr>
        <p:grpSpPr>
          <a:xfrm>
            <a:off x="1225089" y="1396165"/>
            <a:ext cx="8674829" cy="2693035"/>
            <a:chOff x="0" y="0"/>
            <a:chExt cx="11566439" cy="359071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566439" cy="3590713"/>
            </a:xfrm>
            <a:custGeom>
              <a:avLst/>
              <a:gdLst/>
              <a:ahLst/>
              <a:cxnLst/>
              <a:rect l="l" t="t" r="r" b="b"/>
              <a:pathLst>
                <a:path w="11566439" h="3590713">
                  <a:moveTo>
                    <a:pt x="0" y="0"/>
                  </a:moveTo>
                  <a:lnTo>
                    <a:pt x="11566439" y="0"/>
                  </a:lnTo>
                  <a:lnTo>
                    <a:pt x="11566439" y="3590713"/>
                  </a:lnTo>
                  <a:lnTo>
                    <a:pt x="0" y="35907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23825"/>
              <a:ext cx="11566439" cy="37145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298"/>
                </a:lnSpc>
              </a:pPr>
              <a:r>
                <a:rPr lang="en-US" sz="45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Reinforcement Learning for Mini-Game Environments Using Gymnasium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483733" y="4524289"/>
            <a:ext cx="12527448" cy="3711174"/>
            <a:chOff x="0" y="0"/>
            <a:chExt cx="16703264" cy="49482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703264" cy="4948232"/>
            </a:xfrm>
            <a:custGeom>
              <a:avLst/>
              <a:gdLst/>
              <a:ahLst/>
              <a:cxnLst/>
              <a:rect l="l" t="t" r="r" b="b"/>
              <a:pathLst>
                <a:path w="16703264" h="4948232">
                  <a:moveTo>
                    <a:pt x="0" y="0"/>
                  </a:moveTo>
                  <a:lnTo>
                    <a:pt x="16703264" y="0"/>
                  </a:lnTo>
                  <a:lnTo>
                    <a:pt x="16703264" y="4948232"/>
                  </a:lnTo>
                  <a:lnTo>
                    <a:pt x="0" y="4948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16703264" cy="50434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861"/>
                </a:lnSpc>
              </a:pPr>
              <a:r>
                <a:rPr lang="en-US" sz="3472" b="1">
                  <a:solidFill>
                    <a:srgbClr val="00C9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Students : Albara Almseidin &amp; Ayham Rababaa</a:t>
              </a:r>
            </a:p>
            <a:p>
              <a:pPr algn="l">
                <a:lnSpc>
                  <a:spcPts val="4861"/>
                </a:lnSpc>
              </a:pPr>
              <a:endParaRPr lang="en-US" sz="3472" b="1">
                <a:solidFill>
                  <a:srgbClr val="00C9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algn="l">
                <a:lnSpc>
                  <a:spcPts val="4861"/>
                </a:lnSpc>
              </a:pPr>
              <a:r>
                <a:rPr lang="en-US" sz="3472" b="1">
                  <a:solidFill>
                    <a:srgbClr val="00C9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Supervisor : Dr. Mohammad Almseidin</a:t>
              </a:r>
            </a:p>
            <a:p>
              <a:pPr algn="l">
                <a:lnSpc>
                  <a:spcPts val="4861"/>
                </a:lnSpc>
              </a:pPr>
              <a:endParaRPr lang="en-US" sz="3472" b="1">
                <a:solidFill>
                  <a:srgbClr val="00C9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algn="l">
                <a:lnSpc>
                  <a:spcPts val="4861"/>
                </a:lnSpc>
              </a:pPr>
              <a:r>
                <a:rPr lang="en-US" sz="3472" b="1">
                  <a:solidFill>
                    <a:srgbClr val="00C9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University : Tafila Technical University – 2024/2025</a:t>
              </a:r>
            </a:p>
            <a:p>
              <a:pPr algn="l">
                <a:lnSpc>
                  <a:spcPts val="4861"/>
                </a:lnSpc>
              </a:pPr>
              <a:endParaRPr lang="en-US" sz="3472" b="1">
                <a:solidFill>
                  <a:srgbClr val="00C9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492295" y="9598502"/>
            <a:ext cx="547464" cy="240591"/>
            <a:chOff x="0" y="0"/>
            <a:chExt cx="729952" cy="32078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29952" cy="320788"/>
            </a:xfrm>
            <a:custGeom>
              <a:avLst/>
              <a:gdLst/>
              <a:ahLst/>
              <a:cxnLst/>
              <a:rect l="l" t="t" r="r" b="b"/>
              <a:pathLst>
                <a:path w="729952" h="320788">
                  <a:moveTo>
                    <a:pt x="0" y="0"/>
                  </a:moveTo>
                  <a:lnTo>
                    <a:pt x="729952" y="0"/>
                  </a:lnTo>
                  <a:lnTo>
                    <a:pt x="729952" y="320788"/>
                  </a:lnTo>
                  <a:lnTo>
                    <a:pt x="0" y="3207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729952" cy="3493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1959"/>
                </a:lnSpc>
              </a:pPr>
              <a:r>
                <a:rPr lang="en-US" sz="13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7561" y="319051"/>
            <a:ext cx="389178" cy="390598"/>
          </a:xfrm>
          <a:custGeom>
            <a:avLst/>
            <a:gdLst/>
            <a:ahLst/>
            <a:cxnLst/>
            <a:rect l="l" t="t" r="r" b="b"/>
            <a:pathLst>
              <a:path w="389178" h="390598">
                <a:moveTo>
                  <a:pt x="0" y="0"/>
                </a:moveTo>
                <a:lnTo>
                  <a:pt x="389178" y="0"/>
                </a:lnTo>
                <a:lnTo>
                  <a:pt x="389178" y="390598"/>
                </a:lnTo>
                <a:lnTo>
                  <a:pt x="0" y="390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033" b="-1033"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3" name="Freeform 3"/>
          <p:cNvSpPr/>
          <p:nvPr/>
        </p:nvSpPr>
        <p:spPr>
          <a:xfrm>
            <a:off x="17567467" y="9426029"/>
            <a:ext cx="397119" cy="505615"/>
          </a:xfrm>
          <a:custGeom>
            <a:avLst/>
            <a:gdLst/>
            <a:ahLst/>
            <a:cxnLst/>
            <a:rect l="l" t="t" r="r" b="b"/>
            <a:pathLst>
              <a:path w="397119" h="505615">
                <a:moveTo>
                  <a:pt x="0" y="0"/>
                </a:moveTo>
                <a:lnTo>
                  <a:pt x="397119" y="0"/>
                </a:lnTo>
                <a:lnTo>
                  <a:pt x="397119" y="505615"/>
                </a:lnTo>
                <a:lnTo>
                  <a:pt x="0" y="505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grpSp>
        <p:nvGrpSpPr>
          <p:cNvPr id="4" name="Group 4"/>
          <p:cNvGrpSpPr/>
          <p:nvPr/>
        </p:nvGrpSpPr>
        <p:grpSpPr>
          <a:xfrm>
            <a:off x="17492295" y="9598502"/>
            <a:ext cx="547464" cy="240591"/>
            <a:chOff x="0" y="0"/>
            <a:chExt cx="729952" cy="3207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29952" cy="320788"/>
            </a:xfrm>
            <a:custGeom>
              <a:avLst/>
              <a:gdLst/>
              <a:ahLst/>
              <a:cxnLst/>
              <a:rect l="l" t="t" r="r" b="b"/>
              <a:pathLst>
                <a:path w="729952" h="320788">
                  <a:moveTo>
                    <a:pt x="0" y="0"/>
                  </a:moveTo>
                  <a:lnTo>
                    <a:pt x="729952" y="0"/>
                  </a:lnTo>
                  <a:lnTo>
                    <a:pt x="729952" y="320788"/>
                  </a:lnTo>
                  <a:lnTo>
                    <a:pt x="0" y="3207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729952" cy="3493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1959"/>
                </a:lnSpc>
              </a:pPr>
              <a:r>
                <a:rPr lang="en-US" sz="13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62655" y="709649"/>
            <a:ext cx="5756820" cy="1324021"/>
            <a:chOff x="0" y="0"/>
            <a:chExt cx="7675760" cy="17653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75760" cy="1765361"/>
            </a:xfrm>
            <a:custGeom>
              <a:avLst/>
              <a:gdLst/>
              <a:ahLst/>
              <a:cxnLst/>
              <a:rect l="l" t="t" r="r" b="b"/>
              <a:pathLst>
                <a:path w="7675760" h="1765361">
                  <a:moveTo>
                    <a:pt x="0" y="0"/>
                  </a:moveTo>
                  <a:lnTo>
                    <a:pt x="7675760" y="0"/>
                  </a:lnTo>
                  <a:lnTo>
                    <a:pt x="7675760" y="1765361"/>
                  </a:lnTo>
                  <a:lnTo>
                    <a:pt x="0" y="17653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7675760" cy="17844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749"/>
                </a:lnSpc>
              </a:pPr>
              <a:r>
                <a:rPr lang="en-US" sz="49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Introduction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269834" y="2515025"/>
            <a:ext cx="9989466" cy="6743275"/>
            <a:chOff x="0" y="0"/>
            <a:chExt cx="13319288" cy="89910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319288" cy="8991033"/>
            </a:xfrm>
            <a:custGeom>
              <a:avLst/>
              <a:gdLst/>
              <a:ahLst/>
              <a:cxnLst/>
              <a:rect l="l" t="t" r="r" b="b"/>
              <a:pathLst>
                <a:path w="13319288" h="8991033">
                  <a:moveTo>
                    <a:pt x="0" y="0"/>
                  </a:moveTo>
                  <a:lnTo>
                    <a:pt x="13319288" y="0"/>
                  </a:lnTo>
                  <a:lnTo>
                    <a:pt x="13319288" y="8991033"/>
                  </a:lnTo>
                  <a:lnTo>
                    <a:pt x="0" y="8991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3319288" cy="904818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680838" lvl="2" indent="-226946" algn="l">
                <a:lnSpc>
                  <a:spcPts val="4170"/>
                </a:lnSpc>
                <a:buFont typeface="Arial"/>
                <a:buChar char="⚬"/>
              </a:pPr>
              <a:r>
                <a:rPr lang="en-US" sz="2977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Reinforcement Learning (RL) is a machine learning technique where agents learn by interacting with environments.</a:t>
              </a:r>
            </a:p>
            <a:p>
              <a:pPr marL="680838" lvl="2" indent="-226946" algn="l">
                <a:lnSpc>
                  <a:spcPts val="4170"/>
                </a:lnSpc>
              </a:pPr>
              <a:endParaRPr lang="en-US" sz="297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680838" lvl="2" indent="-226946" algn="l">
                <a:lnSpc>
                  <a:spcPts val="4170"/>
                </a:lnSpc>
              </a:pPr>
              <a:endParaRPr lang="en-US" sz="297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680838" lvl="2" indent="-226946" algn="l">
                <a:lnSpc>
                  <a:spcPts val="4170"/>
                </a:lnSpc>
                <a:buFont typeface="Arial"/>
                <a:buChar char="⚬"/>
              </a:pPr>
              <a:r>
                <a:rPr lang="en-US" sz="2977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It doesn’t require labeled data — learning is based on trial, error, and reward.</a:t>
              </a:r>
            </a:p>
            <a:p>
              <a:pPr marL="680838" lvl="2" indent="-226946" algn="l">
                <a:lnSpc>
                  <a:spcPts val="4170"/>
                </a:lnSpc>
              </a:pPr>
              <a:endParaRPr lang="en-US" sz="297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680838" lvl="2" indent="-226946" algn="l">
                <a:lnSpc>
                  <a:spcPts val="4170"/>
                </a:lnSpc>
              </a:pPr>
              <a:endParaRPr lang="en-US" sz="297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680838" lvl="2" indent="-226946" algn="l">
                <a:lnSpc>
                  <a:spcPts val="4170"/>
                </a:lnSpc>
                <a:buFont typeface="Arial"/>
                <a:buChar char="⚬"/>
              </a:pPr>
              <a:r>
                <a:rPr lang="en-US" sz="2977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RL is widely used in robotics, games, self-driving cars, and intelligent systems.</a:t>
              </a:r>
            </a:p>
            <a:p>
              <a:pPr marL="680838" lvl="2" indent="-226946" algn="l">
                <a:lnSpc>
                  <a:spcPts val="4170"/>
                </a:lnSpc>
              </a:pPr>
              <a:endParaRPr lang="en-US" sz="297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680838" lvl="2" indent="-226946" algn="l">
                <a:lnSpc>
                  <a:spcPts val="4170"/>
                </a:lnSpc>
              </a:pPr>
              <a:endParaRPr lang="en-US" sz="297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4" name="صورة 13">
            <a:extLst>
              <a:ext uri="{FF2B5EF4-FFF2-40B4-BE49-F238E27FC236}">
                <a16:creationId xmlns:a16="http://schemas.microsoft.com/office/drawing/2014/main" id="{2F911209-8D9C-E770-9299-856332920F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552700"/>
            <a:ext cx="5718544" cy="56941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8024" y="319051"/>
            <a:ext cx="389178" cy="390598"/>
          </a:xfrm>
          <a:custGeom>
            <a:avLst/>
            <a:gdLst/>
            <a:ahLst/>
            <a:cxnLst/>
            <a:rect l="l" t="t" r="r" b="b"/>
            <a:pathLst>
              <a:path w="389178" h="390598">
                <a:moveTo>
                  <a:pt x="0" y="0"/>
                </a:moveTo>
                <a:lnTo>
                  <a:pt x="389178" y="0"/>
                </a:lnTo>
                <a:lnTo>
                  <a:pt x="389178" y="390598"/>
                </a:lnTo>
                <a:lnTo>
                  <a:pt x="0" y="390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033" b="-1033"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4" name="Freeform 4"/>
          <p:cNvSpPr/>
          <p:nvPr/>
        </p:nvSpPr>
        <p:spPr>
          <a:xfrm>
            <a:off x="17567467" y="9426029"/>
            <a:ext cx="397119" cy="505615"/>
          </a:xfrm>
          <a:custGeom>
            <a:avLst/>
            <a:gdLst/>
            <a:ahLst/>
            <a:cxnLst/>
            <a:rect l="l" t="t" r="r" b="b"/>
            <a:pathLst>
              <a:path w="397119" h="505615">
                <a:moveTo>
                  <a:pt x="0" y="0"/>
                </a:moveTo>
                <a:lnTo>
                  <a:pt x="397119" y="0"/>
                </a:lnTo>
                <a:lnTo>
                  <a:pt x="397119" y="505615"/>
                </a:lnTo>
                <a:lnTo>
                  <a:pt x="0" y="505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grpSp>
        <p:nvGrpSpPr>
          <p:cNvPr id="5" name="Group 5"/>
          <p:cNvGrpSpPr/>
          <p:nvPr/>
        </p:nvGrpSpPr>
        <p:grpSpPr>
          <a:xfrm>
            <a:off x="17492295" y="9598502"/>
            <a:ext cx="547464" cy="240591"/>
            <a:chOff x="0" y="0"/>
            <a:chExt cx="729952" cy="320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9952" cy="320788"/>
            </a:xfrm>
            <a:custGeom>
              <a:avLst/>
              <a:gdLst/>
              <a:ahLst/>
              <a:cxnLst/>
              <a:rect l="l" t="t" r="r" b="b"/>
              <a:pathLst>
                <a:path w="729952" h="320788">
                  <a:moveTo>
                    <a:pt x="0" y="0"/>
                  </a:moveTo>
                  <a:lnTo>
                    <a:pt x="729952" y="0"/>
                  </a:lnTo>
                  <a:lnTo>
                    <a:pt x="729952" y="320788"/>
                  </a:lnTo>
                  <a:lnTo>
                    <a:pt x="0" y="3207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729952" cy="3493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1959"/>
                </a:lnSpc>
              </a:pPr>
              <a:r>
                <a:rPr lang="en-US" sz="13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7538" y="514350"/>
            <a:ext cx="5756820" cy="1239520"/>
            <a:chOff x="0" y="0"/>
            <a:chExt cx="7675760" cy="16526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75760" cy="1652693"/>
            </a:xfrm>
            <a:custGeom>
              <a:avLst/>
              <a:gdLst/>
              <a:ahLst/>
              <a:cxnLst/>
              <a:rect l="l" t="t" r="r" b="b"/>
              <a:pathLst>
                <a:path w="7675760" h="1652693">
                  <a:moveTo>
                    <a:pt x="0" y="0"/>
                  </a:moveTo>
                  <a:lnTo>
                    <a:pt x="7675760" y="0"/>
                  </a:lnTo>
                  <a:lnTo>
                    <a:pt x="7675760" y="1652693"/>
                  </a:lnTo>
                  <a:lnTo>
                    <a:pt x="0" y="16526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7675760" cy="16717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749"/>
                </a:lnSpc>
              </a:pPr>
              <a:r>
                <a:rPr lang="en-US" sz="49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Goals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8024" y="2300227"/>
            <a:ext cx="7547019" cy="8403857"/>
            <a:chOff x="0" y="0"/>
            <a:chExt cx="10062692" cy="1120514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062692" cy="11205142"/>
            </a:xfrm>
            <a:custGeom>
              <a:avLst/>
              <a:gdLst/>
              <a:ahLst/>
              <a:cxnLst/>
              <a:rect l="l" t="t" r="r" b="b"/>
              <a:pathLst>
                <a:path w="10062692" h="11205142">
                  <a:moveTo>
                    <a:pt x="0" y="0"/>
                  </a:moveTo>
                  <a:lnTo>
                    <a:pt x="10062692" y="0"/>
                  </a:lnTo>
                  <a:lnTo>
                    <a:pt x="10062692" y="11205142"/>
                  </a:lnTo>
                  <a:lnTo>
                    <a:pt x="0" y="112051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0062692" cy="112622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700898" lvl="2" indent="-233633" algn="l">
                <a:lnSpc>
                  <a:spcPts val="4291"/>
                </a:lnSpc>
                <a:buFont typeface="Arial"/>
                <a:buChar char="⚬"/>
              </a:pPr>
              <a:r>
                <a:rPr lang="en-US" sz="306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Train intelligent agents that learn purely through interaction.</a:t>
              </a:r>
            </a:p>
            <a:p>
              <a:pPr marL="700898" lvl="2" indent="-233633" algn="l">
                <a:lnSpc>
                  <a:spcPts val="4291"/>
                </a:lnSpc>
              </a:pPr>
              <a:endParaRPr lang="en-US" sz="306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700898" lvl="2" indent="-233633" algn="l">
                <a:lnSpc>
                  <a:spcPts val="4291"/>
                </a:lnSpc>
              </a:pPr>
              <a:endParaRPr lang="en-US" sz="306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700898" lvl="2" indent="-233633" algn="l">
                <a:lnSpc>
                  <a:spcPts val="4291"/>
                </a:lnSpc>
                <a:buFont typeface="Arial"/>
                <a:buChar char="⚬"/>
              </a:pPr>
              <a:r>
                <a:rPr lang="en-US" sz="306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Apply and compare 4 RL algorithms across environments of increasing difficulty.</a:t>
              </a:r>
            </a:p>
            <a:p>
              <a:pPr marL="700898" lvl="2" indent="-233633" algn="l">
                <a:lnSpc>
                  <a:spcPts val="4291"/>
                </a:lnSpc>
              </a:pPr>
              <a:endParaRPr lang="en-US" sz="306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700898" lvl="2" indent="-233633" algn="l">
                <a:lnSpc>
                  <a:spcPts val="4291"/>
                </a:lnSpc>
              </a:pPr>
              <a:endParaRPr lang="en-US" sz="306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700898" lvl="2" indent="-233633" algn="l">
                <a:lnSpc>
                  <a:spcPts val="4291"/>
                </a:lnSpc>
                <a:buFont typeface="Arial"/>
                <a:buChar char="⚬"/>
              </a:pPr>
              <a:r>
                <a:rPr lang="en-US" sz="306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Evaluate each algorithm's learning speed, stability, and final performance.</a:t>
              </a:r>
            </a:p>
            <a:p>
              <a:pPr marL="700898" lvl="2" indent="-233633" algn="l">
                <a:lnSpc>
                  <a:spcPts val="3798"/>
                </a:lnSpc>
              </a:pPr>
              <a:endParaRPr lang="en-US" sz="306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700898" lvl="2" indent="-233633" algn="l">
                <a:lnSpc>
                  <a:spcPts val="3798"/>
                </a:lnSpc>
              </a:pPr>
              <a:endParaRPr lang="en-US" sz="306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700898" lvl="2" indent="-233633" algn="l">
                <a:lnSpc>
                  <a:spcPts val="3798"/>
                </a:lnSpc>
              </a:pPr>
              <a:endParaRPr lang="en-US" sz="306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700898" lvl="2" indent="-233633" algn="l">
                <a:lnSpc>
                  <a:spcPts val="3798"/>
                </a:lnSpc>
              </a:pPr>
              <a:endParaRPr lang="en-US" sz="306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4" name="صورة 13" descr="صورة تحتوي على نص, رسم بياني, رسم, شكل">
            <a:extLst>
              <a:ext uri="{FF2B5EF4-FFF2-40B4-BE49-F238E27FC236}">
                <a16:creationId xmlns:a16="http://schemas.microsoft.com/office/drawing/2014/main" id="{1C429441-3547-72E1-46BE-FEC6158EC1E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004" y="1093179"/>
            <a:ext cx="8077200" cy="807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9522" y="89608"/>
            <a:ext cx="389178" cy="390598"/>
          </a:xfrm>
          <a:custGeom>
            <a:avLst/>
            <a:gdLst/>
            <a:ahLst/>
            <a:cxnLst/>
            <a:rect l="l" t="t" r="r" b="b"/>
            <a:pathLst>
              <a:path w="389178" h="390598">
                <a:moveTo>
                  <a:pt x="0" y="0"/>
                </a:moveTo>
                <a:lnTo>
                  <a:pt x="389178" y="0"/>
                </a:lnTo>
                <a:lnTo>
                  <a:pt x="389178" y="390598"/>
                </a:lnTo>
                <a:lnTo>
                  <a:pt x="0" y="390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033" b="-1033"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3" name="Freeform 3"/>
          <p:cNvSpPr/>
          <p:nvPr/>
        </p:nvSpPr>
        <p:spPr>
          <a:xfrm>
            <a:off x="17567467" y="9426029"/>
            <a:ext cx="397119" cy="505615"/>
          </a:xfrm>
          <a:custGeom>
            <a:avLst/>
            <a:gdLst/>
            <a:ahLst/>
            <a:cxnLst/>
            <a:rect l="l" t="t" r="r" b="b"/>
            <a:pathLst>
              <a:path w="397119" h="505615">
                <a:moveTo>
                  <a:pt x="0" y="0"/>
                </a:moveTo>
                <a:lnTo>
                  <a:pt x="397119" y="0"/>
                </a:lnTo>
                <a:lnTo>
                  <a:pt x="397119" y="505615"/>
                </a:lnTo>
                <a:lnTo>
                  <a:pt x="0" y="505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721664"/>
              </p:ext>
            </p:extLst>
          </p:nvPr>
        </p:nvGraphicFramePr>
        <p:xfrm>
          <a:off x="847966" y="1523241"/>
          <a:ext cx="16167100" cy="8261224"/>
        </p:xfrm>
        <a:graphic>
          <a:graphicData uri="http://schemas.openxmlformats.org/drawingml/2006/table">
            <a:tbl>
              <a:tblPr/>
              <a:tblGrid>
                <a:gridCol w="5233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0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3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7312">
                <a:tc>
                  <a:txBody>
                    <a:bodyPr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Tools &amp; Libraries Used</a:t>
                      </a:r>
                      <a:endParaRPr lang="en-US" sz="1100"/>
                    </a:p>
                    <a:p>
                      <a:pPr algn="ctr">
                        <a:lnSpc>
                          <a:spcPts val="433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Algorithm</a:t>
                      </a:r>
                      <a:endParaRPr lang="en-US" sz="1100"/>
                    </a:p>
                    <a:p>
                      <a:pPr algn="ctr">
                        <a:lnSpc>
                          <a:spcPts val="433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Environment</a:t>
                      </a:r>
                      <a:endParaRPr lang="en-US" sz="1100" dirty="0"/>
                    </a:p>
                  </a:txBody>
                  <a:tcPr marL="190500" marR="190500" marT="190500" marB="19050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7444">
                <a:tc>
                  <a:txBody>
                    <a:bodyPr/>
                    <a:lstStyle/>
                    <a:p>
                      <a:pPr algn="ctr">
                        <a:lnSpc>
                          <a:spcPts val="3358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Python, NumPy, Gymnasium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8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Q-Learning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FrozenLake-v1</a:t>
                      </a:r>
                      <a:endParaRPr lang="en-US" sz="1100"/>
                    </a:p>
                    <a:p>
                      <a:pPr algn="ctr">
                        <a:lnSpc>
                          <a:spcPts val="3498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3498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9908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Python, NumPy, Gymnasium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Deep Q-Network (DQN)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LunarLander-v2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9908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Python, NumPy, Gymnasium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DDPG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BipedalWalker-v3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8962"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  <a:r>
                        <a:rPr lang="en-US" sz="23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Python, Stable-Baselines3, VecEnv, Gymnasium</a:t>
                      </a:r>
                    </a:p>
                    <a:p>
                      <a:pPr algn="ctr">
                        <a:lnSpc>
                          <a:spcPts val="3359"/>
                        </a:lnSpc>
                      </a:pPr>
                      <a:endParaRPr lang="en-US" sz="2399" b="1">
                        <a:solidFill>
                          <a:srgbClr val="FFFFFF"/>
                        </a:solidFill>
                        <a:latin typeface="Open Sans Bold"/>
                        <a:ea typeface="Open Sans Bold"/>
                        <a:cs typeface="Open Sans Bold"/>
                        <a:sym typeface="Open Sans Bold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PPO (Stable-Baselines3)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BipedalWalkerHardcore-v3</a:t>
                      </a:r>
                      <a:endParaRPr lang="en-US" sz="1100" dirty="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 dirty="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17492295" y="9598502"/>
            <a:ext cx="547464" cy="240591"/>
            <a:chOff x="0" y="0"/>
            <a:chExt cx="729952" cy="320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9952" cy="320788"/>
            </a:xfrm>
            <a:custGeom>
              <a:avLst/>
              <a:gdLst/>
              <a:ahLst/>
              <a:cxnLst/>
              <a:rect l="l" t="t" r="r" b="b"/>
              <a:pathLst>
                <a:path w="729952" h="320788">
                  <a:moveTo>
                    <a:pt x="0" y="0"/>
                  </a:moveTo>
                  <a:lnTo>
                    <a:pt x="729952" y="0"/>
                  </a:lnTo>
                  <a:lnTo>
                    <a:pt x="729952" y="320788"/>
                  </a:lnTo>
                  <a:lnTo>
                    <a:pt x="0" y="3207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729952" cy="3493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1959"/>
                </a:lnSpc>
              </a:pPr>
              <a:r>
                <a:rPr lang="en-US" sz="13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3289" y="284907"/>
            <a:ext cx="12637220" cy="1239520"/>
            <a:chOff x="0" y="0"/>
            <a:chExt cx="16849627" cy="16526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849627" cy="1652694"/>
            </a:xfrm>
            <a:custGeom>
              <a:avLst/>
              <a:gdLst/>
              <a:ahLst/>
              <a:cxnLst/>
              <a:rect l="l" t="t" r="r" b="b"/>
              <a:pathLst>
                <a:path w="16849627" h="1652694">
                  <a:moveTo>
                    <a:pt x="0" y="0"/>
                  </a:moveTo>
                  <a:lnTo>
                    <a:pt x="16849627" y="0"/>
                  </a:lnTo>
                  <a:lnTo>
                    <a:pt x="16849627" y="1652694"/>
                  </a:lnTo>
                  <a:lnTo>
                    <a:pt x="0" y="16526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6849627" cy="16717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749"/>
                </a:lnSpc>
              </a:pPr>
              <a:r>
                <a:rPr lang="en-US" sz="49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Tools, Algorithms &amp; Environments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4201" y="2130425"/>
            <a:ext cx="3593818" cy="3320503"/>
          </a:xfrm>
          <a:custGeom>
            <a:avLst/>
            <a:gdLst/>
            <a:ahLst/>
            <a:cxnLst/>
            <a:rect l="l" t="t" r="r" b="b"/>
            <a:pathLst>
              <a:path w="3593818" h="3320503">
                <a:moveTo>
                  <a:pt x="0" y="0"/>
                </a:moveTo>
                <a:lnTo>
                  <a:pt x="3593818" y="0"/>
                </a:lnTo>
                <a:lnTo>
                  <a:pt x="3593818" y="3320503"/>
                </a:lnTo>
                <a:lnTo>
                  <a:pt x="0" y="33205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70843" r="-70843" b="-1866"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3" name="Freeform 3"/>
          <p:cNvSpPr/>
          <p:nvPr/>
        </p:nvSpPr>
        <p:spPr>
          <a:xfrm>
            <a:off x="14445944" y="2130425"/>
            <a:ext cx="3593818" cy="3320503"/>
          </a:xfrm>
          <a:custGeom>
            <a:avLst/>
            <a:gdLst/>
            <a:ahLst/>
            <a:cxnLst/>
            <a:rect l="l" t="t" r="r" b="b"/>
            <a:pathLst>
              <a:path w="3593818" h="3320503">
                <a:moveTo>
                  <a:pt x="0" y="0"/>
                </a:moveTo>
                <a:lnTo>
                  <a:pt x="3593818" y="0"/>
                </a:lnTo>
                <a:lnTo>
                  <a:pt x="3593818" y="3320503"/>
                </a:lnTo>
                <a:lnTo>
                  <a:pt x="0" y="33205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70843" r="-70843" b="-1866"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4" name="Freeform 4"/>
          <p:cNvSpPr/>
          <p:nvPr/>
        </p:nvSpPr>
        <p:spPr>
          <a:xfrm>
            <a:off x="10744201" y="5556797"/>
            <a:ext cx="3593818" cy="3320503"/>
          </a:xfrm>
          <a:custGeom>
            <a:avLst/>
            <a:gdLst/>
            <a:ahLst/>
            <a:cxnLst/>
            <a:rect l="l" t="t" r="r" b="b"/>
            <a:pathLst>
              <a:path w="3593818" h="3320503">
                <a:moveTo>
                  <a:pt x="0" y="0"/>
                </a:moveTo>
                <a:lnTo>
                  <a:pt x="3593818" y="0"/>
                </a:lnTo>
                <a:lnTo>
                  <a:pt x="3593818" y="3320502"/>
                </a:lnTo>
                <a:lnTo>
                  <a:pt x="0" y="33205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70843" r="-70843" b="-1866"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5" name="Freeform 5"/>
          <p:cNvSpPr/>
          <p:nvPr/>
        </p:nvSpPr>
        <p:spPr>
          <a:xfrm>
            <a:off x="14445944" y="5556797"/>
            <a:ext cx="3593818" cy="3320503"/>
          </a:xfrm>
          <a:custGeom>
            <a:avLst/>
            <a:gdLst/>
            <a:ahLst/>
            <a:cxnLst/>
            <a:rect l="l" t="t" r="r" b="b"/>
            <a:pathLst>
              <a:path w="3593818" h="3320503">
                <a:moveTo>
                  <a:pt x="0" y="0"/>
                </a:moveTo>
                <a:lnTo>
                  <a:pt x="3593818" y="0"/>
                </a:lnTo>
                <a:lnTo>
                  <a:pt x="3593818" y="3320502"/>
                </a:lnTo>
                <a:lnTo>
                  <a:pt x="0" y="33205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70843" r="-70843" b="-1866"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/>
          <p:cNvSpPr/>
          <p:nvPr/>
        </p:nvSpPr>
        <p:spPr>
          <a:xfrm>
            <a:off x="463291" y="244764"/>
            <a:ext cx="389178" cy="390598"/>
          </a:xfrm>
          <a:custGeom>
            <a:avLst/>
            <a:gdLst/>
            <a:ahLst/>
            <a:cxnLst/>
            <a:rect l="l" t="t" r="r" b="b"/>
            <a:pathLst>
              <a:path w="389178" h="390598">
                <a:moveTo>
                  <a:pt x="0" y="0"/>
                </a:moveTo>
                <a:lnTo>
                  <a:pt x="389178" y="0"/>
                </a:lnTo>
                <a:lnTo>
                  <a:pt x="389178" y="390598"/>
                </a:lnTo>
                <a:lnTo>
                  <a:pt x="0" y="3905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033" b="-1033"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/>
          <p:cNvSpPr/>
          <p:nvPr/>
        </p:nvSpPr>
        <p:spPr>
          <a:xfrm>
            <a:off x="17567467" y="9426029"/>
            <a:ext cx="397119" cy="505615"/>
          </a:xfrm>
          <a:custGeom>
            <a:avLst/>
            <a:gdLst/>
            <a:ahLst/>
            <a:cxnLst/>
            <a:rect l="l" t="t" r="r" b="b"/>
            <a:pathLst>
              <a:path w="397119" h="505615">
                <a:moveTo>
                  <a:pt x="0" y="0"/>
                </a:moveTo>
                <a:lnTo>
                  <a:pt x="397119" y="0"/>
                </a:lnTo>
                <a:lnTo>
                  <a:pt x="397119" y="505615"/>
                </a:lnTo>
                <a:lnTo>
                  <a:pt x="0" y="5056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grpSp>
        <p:nvGrpSpPr>
          <p:cNvPr id="8" name="Group 8"/>
          <p:cNvGrpSpPr/>
          <p:nvPr/>
        </p:nvGrpSpPr>
        <p:grpSpPr>
          <a:xfrm>
            <a:off x="17492295" y="9598502"/>
            <a:ext cx="547464" cy="290659"/>
            <a:chOff x="0" y="0"/>
            <a:chExt cx="729952" cy="3875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29952" cy="387545"/>
            </a:xfrm>
            <a:custGeom>
              <a:avLst/>
              <a:gdLst/>
              <a:ahLst/>
              <a:cxnLst/>
              <a:rect l="l" t="t" r="r" b="b"/>
              <a:pathLst>
                <a:path w="729952" h="387545">
                  <a:moveTo>
                    <a:pt x="0" y="0"/>
                  </a:moveTo>
                  <a:lnTo>
                    <a:pt x="729952" y="0"/>
                  </a:lnTo>
                  <a:lnTo>
                    <a:pt x="729952" y="387545"/>
                  </a:lnTo>
                  <a:lnTo>
                    <a:pt x="0" y="387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729952" cy="4161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1959"/>
                </a:lnSpc>
              </a:pPr>
              <a:r>
                <a:rPr lang="en-US" sz="13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63291" y="749662"/>
            <a:ext cx="10820505" cy="2761527"/>
            <a:chOff x="0" y="0"/>
            <a:chExt cx="14427340" cy="368203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427340" cy="3682036"/>
            </a:xfrm>
            <a:custGeom>
              <a:avLst/>
              <a:gdLst/>
              <a:ahLst/>
              <a:cxnLst/>
              <a:rect l="l" t="t" r="r" b="b"/>
              <a:pathLst>
                <a:path w="14427340" h="3682036">
                  <a:moveTo>
                    <a:pt x="0" y="0"/>
                  </a:moveTo>
                  <a:lnTo>
                    <a:pt x="14427340" y="0"/>
                  </a:lnTo>
                  <a:lnTo>
                    <a:pt x="14427340" y="3682036"/>
                  </a:lnTo>
                  <a:lnTo>
                    <a:pt x="0" y="36820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4427340" cy="37010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749"/>
                </a:lnSpc>
              </a:pPr>
              <a:r>
                <a:rPr lang="en-US" sz="49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Watch Sample Agent Behaviors</a:t>
              </a:r>
            </a:p>
            <a:p>
              <a:pPr algn="l">
                <a:lnSpc>
                  <a:spcPts val="5749"/>
                </a:lnSpc>
              </a:pPr>
              <a:endParaRPr lang="en-US" sz="4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algn="l">
                <a:lnSpc>
                  <a:spcPts val="5749"/>
                </a:lnSpc>
              </a:pPr>
              <a:endParaRPr lang="en-US" sz="4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54056" y="2596623"/>
            <a:ext cx="5784896" cy="1711412"/>
            <a:chOff x="0" y="0"/>
            <a:chExt cx="7713195" cy="228188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713195" cy="2281882"/>
            </a:xfrm>
            <a:custGeom>
              <a:avLst/>
              <a:gdLst/>
              <a:ahLst/>
              <a:cxnLst/>
              <a:rect l="l" t="t" r="r" b="b"/>
              <a:pathLst>
                <a:path w="7713195" h="2281882">
                  <a:moveTo>
                    <a:pt x="0" y="0"/>
                  </a:moveTo>
                  <a:lnTo>
                    <a:pt x="7713195" y="0"/>
                  </a:lnTo>
                  <a:lnTo>
                    <a:pt x="7713195" y="2281882"/>
                  </a:lnTo>
                  <a:lnTo>
                    <a:pt x="0" y="22818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7713195" cy="23390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🎬FrozenLake – Q-Learning 🎬</a:t>
              </a:r>
            </a:p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           Click to watch</a:t>
              </a:r>
            </a:p>
            <a:p>
              <a:pPr algn="l">
                <a:lnSpc>
                  <a:spcPts val="1500"/>
                </a:lnSpc>
              </a:pPr>
              <a:endPara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l">
                <a:lnSpc>
                  <a:spcPts val="1500"/>
                </a:lnSpc>
              </a:pPr>
              <a:endPara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4056" y="4421188"/>
            <a:ext cx="5219487" cy="2225762"/>
            <a:chOff x="0" y="0"/>
            <a:chExt cx="6959316" cy="296768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59316" cy="2967682"/>
            </a:xfrm>
            <a:custGeom>
              <a:avLst/>
              <a:gdLst/>
              <a:ahLst/>
              <a:cxnLst/>
              <a:rect l="l" t="t" r="r" b="b"/>
              <a:pathLst>
                <a:path w="6959316" h="2967682">
                  <a:moveTo>
                    <a:pt x="0" y="0"/>
                  </a:moveTo>
                  <a:lnTo>
                    <a:pt x="6959316" y="0"/>
                  </a:lnTo>
                  <a:lnTo>
                    <a:pt x="6959316" y="2967682"/>
                  </a:lnTo>
                  <a:lnTo>
                    <a:pt x="0" y="29676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6959316" cy="30248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🎬 LunarLander – DQN 🎬</a:t>
              </a:r>
            </a:p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           Click to watch</a:t>
              </a:r>
            </a:p>
            <a:p>
              <a:pPr algn="l">
                <a:lnSpc>
                  <a:spcPts val="4200"/>
                </a:lnSpc>
              </a:pPr>
              <a:endPara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l">
                <a:lnSpc>
                  <a:spcPts val="4200"/>
                </a:lnSpc>
              </a:pPr>
              <a:endPara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4056" y="6254217"/>
            <a:ext cx="5484689" cy="1673199"/>
            <a:chOff x="0" y="0"/>
            <a:chExt cx="7312919" cy="223093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312919" cy="2230931"/>
            </a:xfrm>
            <a:custGeom>
              <a:avLst/>
              <a:gdLst/>
              <a:ahLst/>
              <a:cxnLst/>
              <a:rect l="l" t="t" r="r" b="b"/>
              <a:pathLst>
                <a:path w="7312919" h="2230931">
                  <a:moveTo>
                    <a:pt x="0" y="0"/>
                  </a:moveTo>
                  <a:lnTo>
                    <a:pt x="7312919" y="0"/>
                  </a:lnTo>
                  <a:lnTo>
                    <a:pt x="7312919" y="2230931"/>
                  </a:lnTo>
                  <a:lnTo>
                    <a:pt x="0" y="22309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7312919" cy="227855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98"/>
                </a:lnSpc>
              </a:pPr>
              <a:r>
                <a:rPr lang="en-US" sz="29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🎬Bipedal Hardcore – PPO🎬</a:t>
              </a:r>
            </a:p>
            <a:p>
              <a:pPr algn="l">
                <a:lnSpc>
                  <a:spcPts val="4198"/>
                </a:lnSpc>
              </a:pPr>
              <a:r>
                <a:rPr lang="en-US" sz="29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           Click to watch</a:t>
              </a:r>
            </a:p>
            <a:p>
              <a:pPr algn="l">
                <a:lnSpc>
                  <a:spcPts val="1499"/>
                </a:lnSpc>
              </a:pPr>
              <a:endParaRPr lang="en-US" sz="2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l">
                <a:lnSpc>
                  <a:spcPts val="1499"/>
                </a:lnSpc>
              </a:pPr>
              <a:endParaRPr lang="en-US" sz="2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54056" y="8014223"/>
            <a:ext cx="5784897" cy="2225762"/>
            <a:chOff x="0" y="0"/>
            <a:chExt cx="7713196" cy="296768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713196" cy="2967682"/>
            </a:xfrm>
            <a:custGeom>
              <a:avLst/>
              <a:gdLst/>
              <a:ahLst/>
              <a:cxnLst/>
              <a:rect l="l" t="t" r="r" b="b"/>
              <a:pathLst>
                <a:path w="7713196" h="2967682">
                  <a:moveTo>
                    <a:pt x="0" y="0"/>
                  </a:moveTo>
                  <a:lnTo>
                    <a:pt x="7713196" y="0"/>
                  </a:lnTo>
                  <a:lnTo>
                    <a:pt x="7713196" y="2967682"/>
                  </a:lnTo>
                  <a:lnTo>
                    <a:pt x="0" y="29676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7713196" cy="30248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🎬BipedalWalker – DDPG 🎬</a:t>
              </a:r>
            </a:p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           Click to watch</a:t>
              </a:r>
            </a:p>
            <a:p>
              <a:pPr algn="l">
                <a:lnSpc>
                  <a:spcPts val="4200"/>
                </a:lnSpc>
              </a:pPr>
              <a:endPara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l">
                <a:lnSpc>
                  <a:spcPts val="4200"/>
                </a:lnSpc>
              </a:pPr>
              <a:endPara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pic>
        <p:nvPicPr>
          <p:cNvPr id="26" name="Picture 2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5"/>
          <a:srcRect t="3770" b="3770"/>
          <a:stretch>
            <a:fillRect/>
          </a:stretch>
        </p:blipFill>
        <p:spPr>
          <a:xfrm>
            <a:off x="10746659" y="2130425"/>
            <a:ext cx="3591360" cy="3320503"/>
          </a:xfrm>
          <a:prstGeom prst="rect">
            <a:avLst/>
          </a:prstGeom>
        </p:spPr>
      </p:pic>
      <p:pic>
        <p:nvPicPr>
          <p:cNvPr id="27" name="Picture 27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rcRect l="10936" r="10936"/>
          <a:stretch>
            <a:fillRect/>
          </a:stretch>
        </p:blipFill>
        <p:spPr>
          <a:xfrm>
            <a:off x="10731911" y="5478463"/>
            <a:ext cx="3650816" cy="3504706"/>
          </a:xfrm>
          <a:prstGeom prst="rect">
            <a:avLst/>
          </a:prstGeom>
        </p:spPr>
      </p:pic>
      <p:pic>
        <p:nvPicPr>
          <p:cNvPr id="28" name="Picture 28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7"/>
          <a:srcRect l="9803" r="9803"/>
          <a:stretch>
            <a:fillRect/>
          </a:stretch>
        </p:blipFill>
        <p:spPr>
          <a:xfrm>
            <a:off x="14364670" y="2037874"/>
            <a:ext cx="3675089" cy="3504706"/>
          </a:xfrm>
          <a:prstGeom prst="rect">
            <a:avLst/>
          </a:prstGeom>
        </p:spPr>
      </p:pic>
      <p:pic>
        <p:nvPicPr>
          <p:cNvPr id="29" name="Picture 29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8"/>
          <a:srcRect l="9155" r="9155"/>
          <a:stretch>
            <a:fillRect/>
          </a:stretch>
        </p:blipFill>
        <p:spPr>
          <a:xfrm>
            <a:off x="14388943" y="5556797"/>
            <a:ext cx="3650816" cy="34263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1"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  <p:video fullScrn="1"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  <p:video fullScrn="1"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  <p:video fullScrn="1"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3087" y="226531"/>
            <a:ext cx="389178" cy="390598"/>
          </a:xfrm>
          <a:custGeom>
            <a:avLst/>
            <a:gdLst/>
            <a:ahLst/>
            <a:cxnLst/>
            <a:rect l="l" t="t" r="r" b="b"/>
            <a:pathLst>
              <a:path w="389178" h="390598">
                <a:moveTo>
                  <a:pt x="0" y="0"/>
                </a:moveTo>
                <a:lnTo>
                  <a:pt x="389178" y="0"/>
                </a:lnTo>
                <a:lnTo>
                  <a:pt x="389178" y="390598"/>
                </a:lnTo>
                <a:lnTo>
                  <a:pt x="0" y="390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33" b="-1033"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3" name="Freeform 3"/>
          <p:cNvSpPr/>
          <p:nvPr/>
        </p:nvSpPr>
        <p:spPr>
          <a:xfrm>
            <a:off x="17567467" y="9426029"/>
            <a:ext cx="397119" cy="505615"/>
          </a:xfrm>
          <a:custGeom>
            <a:avLst/>
            <a:gdLst/>
            <a:ahLst/>
            <a:cxnLst/>
            <a:rect l="l" t="t" r="r" b="b"/>
            <a:pathLst>
              <a:path w="397119" h="505615">
                <a:moveTo>
                  <a:pt x="0" y="0"/>
                </a:moveTo>
                <a:lnTo>
                  <a:pt x="397119" y="0"/>
                </a:lnTo>
                <a:lnTo>
                  <a:pt x="397119" y="505615"/>
                </a:lnTo>
                <a:lnTo>
                  <a:pt x="0" y="5056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grpSp>
        <p:nvGrpSpPr>
          <p:cNvPr id="4" name="Group 4"/>
          <p:cNvGrpSpPr/>
          <p:nvPr/>
        </p:nvGrpSpPr>
        <p:grpSpPr>
          <a:xfrm>
            <a:off x="17492295" y="9598502"/>
            <a:ext cx="547464" cy="240591"/>
            <a:chOff x="0" y="0"/>
            <a:chExt cx="729952" cy="3207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29952" cy="320788"/>
            </a:xfrm>
            <a:custGeom>
              <a:avLst/>
              <a:gdLst/>
              <a:ahLst/>
              <a:cxnLst/>
              <a:rect l="l" t="t" r="r" b="b"/>
              <a:pathLst>
                <a:path w="729952" h="320788">
                  <a:moveTo>
                    <a:pt x="0" y="0"/>
                  </a:moveTo>
                  <a:lnTo>
                    <a:pt x="729952" y="0"/>
                  </a:lnTo>
                  <a:lnTo>
                    <a:pt x="729952" y="320788"/>
                  </a:lnTo>
                  <a:lnTo>
                    <a:pt x="0" y="3207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729952" cy="3493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1959"/>
                </a:lnSpc>
              </a:pPr>
              <a:r>
                <a:rPr lang="en-US" sz="13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06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71600" y="358465"/>
            <a:ext cx="6248400" cy="749179"/>
            <a:chOff x="0" y="0"/>
            <a:chExt cx="8331200" cy="9989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331200" cy="998905"/>
            </a:xfrm>
            <a:custGeom>
              <a:avLst/>
              <a:gdLst/>
              <a:ahLst/>
              <a:cxnLst/>
              <a:rect l="l" t="t" r="r" b="b"/>
              <a:pathLst>
                <a:path w="8331200" h="998905">
                  <a:moveTo>
                    <a:pt x="0" y="0"/>
                  </a:moveTo>
                  <a:lnTo>
                    <a:pt x="8331200" y="0"/>
                  </a:lnTo>
                  <a:lnTo>
                    <a:pt x="8331200" y="998905"/>
                  </a:lnTo>
                  <a:lnTo>
                    <a:pt x="0" y="9989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331200" cy="10465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750"/>
                </a:lnSpc>
              </a:pPr>
              <a:r>
                <a:rPr lang="en-US" sz="5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Summary of Results</a:t>
              </a:r>
            </a:p>
          </p:txBody>
        </p:sp>
      </p:grpSp>
      <p:graphicFrame>
        <p:nvGraphicFramePr>
          <p:cNvPr id="10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415196"/>
              </p:ext>
            </p:extLst>
          </p:nvPr>
        </p:nvGraphicFramePr>
        <p:xfrm>
          <a:off x="0" y="1598160"/>
          <a:ext cx="18288000" cy="7671374"/>
        </p:xfrm>
        <a:graphic>
          <a:graphicData uri="http://schemas.openxmlformats.org/drawingml/2006/table">
            <a:tbl>
              <a:tblPr/>
              <a:tblGrid>
                <a:gridCol w="4841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6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0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90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33271"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36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Environment</a:t>
                      </a:r>
                      <a:endParaRPr lang="en-US" sz="1100" dirty="0"/>
                    </a:p>
                  </a:txBody>
                  <a:tcPr marL="180594" marR="180594" marT="180594" marB="180594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38"/>
                        </a:lnSpc>
                        <a:defRPr/>
                      </a:pPr>
                      <a:r>
                        <a:rPr lang="en-US" sz="36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Algorithm</a:t>
                      </a:r>
                      <a:endParaRPr lang="en-US" sz="1100" dirty="0"/>
                    </a:p>
                    <a:p>
                      <a:pPr algn="ctr">
                        <a:lnSpc>
                          <a:spcPts val="4338"/>
                        </a:lnSpc>
                      </a:pPr>
                      <a:endParaRPr lang="en-US" sz="1100" dirty="0"/>
                    </a:p>
                  </a:txBody>
                  <a:tcPr marL="180594" marR="180594" marT="180594" marB="180594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38"/>
                        </a:lnSpc>
                        <a:defRPr/>
                      </a:pPr>
                      <a:r>
                        <a:rPr lang="en-US" sz="36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Training Time</a:t>
                      </a:r>
                      <a:endParaRPr lang="en-US" sz="1100" dirty="0"/>
                    </a:p>
                  </a:txBody>
                  <a:tcPr marL="180594" marR="180594" marT="180594" marB="180594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36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Success Rate</a:t>
                      </a:r>
                      <a:endParaRPr lang="en-US" sz="1100" dirty="0"/>
                    </a:p>
                  </a:txBody>
                  <a:tcPr marL="180594" marR="180594" marT="180594" marB="180594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97">
                <a:tc>
                  <a:txBody>
                    <a:bodyPr/>
                    <a:lstStyle/>
                    <a:p>
                      <a:pPr algn="ctr">
                        <a:lnSpc>
                          <a:spcPts val="4800"/>
                        </a:lnSpc>
                        <a:defRPr/>
                      </a:pPr>
                      <a:r>
                        <a:rPr lang="en-US" sz="4000" b="1" dirty="0">
                          <a:solidFill>
                            <a:srgbClr val="FFFFFF"/>
                          </a:solidFill>
                          <a:latin typeface="Calibri (MS) Bold"/>
                          <a:cs typeface="Calibri (MS) Bold"/>
                          <a:sym typeface="Calibri (MS) Bold"/>
                        </a:rPr>
                        <a:t>FrozenLake-v1</a:t>
                      </a:r>
                      <a:endParaRPr lang="en-US" sz="1100" dirty="0"/>
                    </a:p>
                  </a:txBody>
                  <a:tcPr marL="180594" marR="180594" marT="180594" marB="180594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Q-Learning</a:t>
                      </a:r>
                      <a:endParaRPr lang="en-US" sz="1100" dirty="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 dirty="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 dirty="0"/>
                    </a:p>
                  </a:txBody>
                  <a:tcPr marL="180594" marR="180594" marT="180594" marB="180594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8"/>
                        </a:lnSpc>
                        <a:defRPr/>
                      </a:pPr>
                      <a:r>
                        <a:rPr lang="en-US" sz="36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Less than 1 minute</a:t>
                      </a:r>
                      <a:endParaRPr lang="en-US" sz="1100" dirty="0"/>
                    </a:p>
                    <a:p>
                      <a:pPr algn="ctr">
                        <a:lnSpc>
                          <a:spcPts val="3498"/>
                        </a:lnSpc>
                      </a:pPr>
                      <a:endParaRPr lang="en-US" sz="1100" dirty="0"/>
                    </a:p>
                    <a:p>
                      <a:pPr algn="ctr">
                        <a:lnSpc>
                          <a:spcPts val="3498"/>
                        </a:lnSpc>
                      </a:pPr>
                      <a:endParaRPr lang="en-US" sz="1100" dirty="0"/>
                    </a:p>
                  </a:txBody>
                  <a:tcPr marL="180594" marR="180594" marT="180594" marB="180594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8"/>
                        </a:lnSpc>
                        <a:defRPr/>
                      </a:pPr>
                      <a:endParaRPr lang="en-US" sz="3600" b="1" dirty="0">
                        <a:solidFill>
                          <a:srgbClr val="FFFFFF"/>
                        </a:solidFill>
                        <a:latin typeface="Calibri (MS) Bold"/>
                        <a:ea typeface="Calibri (MS) Bold"/>
                        <a:cs typeface="Calibri (MS) Bold"/>
                        <a:sym typeface="Calibri (MS) Bold"/>
                      </a:endParaRPr>
                    </a:p>
                    <a:p>
                      <a:pPr algn="ctr">
                        <a:lnSpc>
                          <a:spcPts val="3498"/>
                        </a:lnSpc>
                        <a:defRPr/>
                      </a:pPr>
                      <a:r>
                        <a:rPr lang="en-US" sz="3600" b="1" dirty="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100%</a:t>
                      </a:r>
                      <a:endParaRPr lang="en-US" sz="1100" dirty="0"/>
                    </a:p>
                  </a:txBody>
                  <a:tcPr marL="180594" marR="180594" marT="180594" marB="180594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957">
                <a:tc>
                  <a:txBody>
                    <a:bodyPr/>
                    <a:lstStyle/>
                    <a:p>
                      <a:pPr algn="ctr">
                        <a:lnSpc>
                          <a:spcPts val="4799"/>
                        </a:lnSpc>
                        <a:defRPr/>
                      </a:pPr>
                      <a:r>
                        <a:rPr lang="en-US" sz="3999" b="1" dirty="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LunarLander-v2</a:t>
                      </a:r>
                      <a:endParaRPr lang="en-US" sz="1100" dirty="0"/>
                    </a:p>
                  </a:txBody>
                  <a:tcPr marL="180594" marR="180594" marT="180594" marB="180594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8"/>
                        </a:lnSpc>
                        <a:defRPr/>
                      </a:pPr>
                      <a:r>
                        <a:rPr lang="en-US" sz="36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(DQN)</a:t>
                      </a:r>
                      <a:endParaRPr lang="en-US" sz="1100" dirty="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 dirty="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 dirty="0"/>
                    </a:p>
                  </a:txBody>
                  <a:tcPr marL="180594" marR="180594" marT="180594" marB="180594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8"/>
                        </a:lnSpc>
                        <a:defRPr/>
                      </a:pPr>
                      <a:r>
                        <a:rPr lang="en-US" sz="36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20 minute ( GPU )</a:t>
                      </a:r>
                      <a:endParaRPr lang="en-US" sz="1100" dirty="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 dirty="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 dirty="0"/>
                    </a:p>
                  </a:txBody>
                  <a:tcPr marL="180594" marR="180594" marT="180594" marB="180594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3600" b="1" dirty="0">
                        <a:solidFill>
                          <a:srgbClr val="FFFFFF"/>
                        </a:solidFill>
                        <a:latin typeface="Calibri (MS) Bold"/>
                        <a:ea typeface="Calibri (MS) Bold"/>
                        <a:cs typeface="Calibri (MS) Bold"/>
                        <a:sym typeface="Calibri (MS) Bold"/>
                      </a:endParaRPr>
                    </a:p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3600" b="1" dirty="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95%</a:t>
                      </a:r>
                      <a:endParaRPr lang="en-US" sz="1100" dirty="0"/>
                    </a:p>
                  </a:txBody>
                  <a:tcPr marL="180594" marR="180594" marT="180594" marB="180594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0670">
                <a:tc>
                  <a:txBody>
                    <a:bodyPr/>
                    <a:lstStyle/>
                    <a:p>
                      <a:pPr algn="ctr">
                        <a:lnSpc>
                          <a:spcPts val="3358"/>
                        </a:lnSpc>
                        <a:defRPr/>
                      </a:pPr>
                      <a:r>
                        <a:rPr lang="en-US" sz="4000" b="1" dirty="0">
                          <a:solidFill>
                            <a:srgbClr val="FFFFFF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BipedalWalker-v3</a:t>
                      </a:r>
                      <a:endParaRPr lang="en-US" sz="1200" dirty="0">
                        <a:latin typeface="+mn-lt"/>
                      </a:endParaRPr>
                    </a:p>
                    <a:p>
                      <a:pPr algn="ctr">
                        <a:lnSpc>
                          <a:spcPts val="4800"/>
                        </a:lnSpc>
                      </a:pPr>
                      <a:endParaRPr lang="en-US" sz="1100" dirty="0"/>
                    </a:p>
                  </a:txBody>
                  <a:tcPr marL="180594" marR="180594" marT="180594" marB="180594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8"/>
                        </a:lnSpc>
                        <a:defRPr/>
                      </a:pPr>
                      <a:r>
                        <a:rPr lang="en-US" sz="36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DDPG</a:t>
                      </a:r>
                      <a:endParaRPr lang="en-US" sz="1100" dirty="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 dirty="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 dirty="0"/>
                    </a:p>
                  </a:txBody>
                  <a:tcPr marL="180594" marR="180594" marT="180594" marB="180594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8"/>
                        </a:lnSpc>
                        <a:defRPr/>
                      </a:pPr>
                      <a:r>
                        <a:rPr lang="en-US" sz="36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4 hours ( GPU )</a:t>
                      </a:r>
                      <a:endParaRPr lang="en-US" sz="1100" dirty="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 dirty="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 dirty="0"/>
                    </a:p>
                  </a:txBody>
                  <a:tcPr marL="180594" marR="180594" marT="180594" marB="180594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3600" b="1" dirty="0">
                        <a:solidFill>
                          <a:srgbClr val="FFFFFF"/>
                        </a:solidFill>
                        <a:latin typeface="Calibri (MS) Bold"/>
                        <a:ea typeface="Calibri (MS) Bold"/>
                        <a:cs typeface="Calibri (MS) Bold"/>
                        <a:sym typeface="Calibri (MS) Bold"/>
                      </a:endParaRPr>
                    </a:p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3600" b="1" dirty="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90%</a:t>
                      </a:r>
                      <a:endParaRPr lang="en-US" sz="1100" dirty="0"/>
                    </a:p>
                  </a:txBody>
                  <a:tcPr marL="180594" marR="180594" marT="180594" marB="180594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8445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4000" b="1" dirty="0">
                          <a:solidFill>
                            <a:srgbClr val="FFFFFF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BipedalWalker</a:t>
                      </a:r>
                      <a:endParaRPr lang="en-US" sz="1400" dirty="0">
                        <a:latin typeface="+mn-lt"/>
                      </a:endParaRPr>
                    </a:p>
                    <a:p>
                      <a:pPr algn="ctr">
                        <a:lnSpc>
                          <a:spcPts val="4480"/>
                        </a:lnSpc>
                      </a:pPr>
                      <a:r>
                        <a:rPr lang="en-US" sz="4000" b="1" dirty="0">
                          <a:solidFill>
                            <a:srgbClr val="FFFFFF"/>
                          </a:solidFill>
                          <a:latin typeface="+mn-lt"/>
                          <a:ea typeface="Open Sans Bold"/>
                          <a:cs typeface="Open Sans Bold"/>
                          <a:sym typeface="Open Sans Bold"/>
                        </a:rPr>
                        <a:t>Hardcore-v3</a:t>
                      </a:r>
                    </a:p>
                    <a:p>
                      <a:pPr algn="ctr">
                        <a:lnSpc>
                          <a:spcPts val="3359"/>
                        </a:lnSpc>
                      </a:pPr>
                      <a:endParaRPr lang="en-US" sz="1100" dirty="0"/>
                    </a:p>
                  </a:txBody>
                  <a:tcPr marL="180594" marR="180594" marT="180594" marB="180594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8"/>
                        </a:lnSpc>
                        <a:defRPr/>
                      </a:pPr>
                      <a:r>
                        <a:rPr lang="en-US" sz="2799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PPO </a:t>
                      </a:r>
                      <a:endParaRPr lang="en-US" sz="1100" dirty="0"/>
                    </a:p>
                    <a:p>
                      <a:pPr algn="ctr">
                        <a:lnSpc>
                          <a:spcPts val="3358"/>
                        </a:lnSpc>
                      </a:pPr>
                      <a:r>
                        <a:rPr lang="en-US" sz="2799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(Stable-Baselines3)</a:t>
                      </a:r>
                    </a:p>
                    <a:p>
                      <a:pPr algn="ctr">
                        <a:lnSpc>
                          <a:spcPts val="3358"/>
                        </a:lnSpc>
                      </a:pPr>
                      <a:endParaRPr lang="en-US" sz="2799" b="1" dirty="0">
                        <a:solidFill>
                          <a:srgbClr val="FFFFFF"/>
                        </a:solidFill>
                        <a:latin typeface="Open Sans Bold"/>
                        <a:ea typeface="Open Sans Bold"/>
                        <a:cs typeface="Open Sans Bold"/>
                        <a:sym typeface="Open Sans Bold"/>
                      </a:endParaRPr>
                    </a:p>
                    <a:p>
                      <a:pPr algn="ctr">
                        <a:lnSpc>
                          <a:spcPts val="3358"/>
                        </a:lnSpc>
                      </a:pPr>
                      <a:endParaRPr lang="en-US" sz="2799" b="1" dirty="0">
                        <a:solidFill>
                          <a:srgbClr val="FFFFFF"/>
                        </a:solidFill>
                        <a:latin typeface="Open Sans Bold"/>
                        <a:ea typeface="Open Sans Bold"/>
                        <a:cs typeface="Open Sans Bold"/>
                        <a:sym typeface="Open Sans Bold"/>
                      </a:endParaRPr>
                    </a:p>
                  </a:txBody>
                  <a:tcPr marL="180594" marR="180594" marT="180594" marB="180594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14 hours ( GPU ) </a:t>
                      </a:r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3200" b="1" dirty="0">
                        <a:solidFill>
                          <a:srgbClr val="FFFFFF"/>
                        </a:solidFill>
                        <a:latin typeface="Open Sans Bold"/>
                        <a:ea typeface="Open Sans Bold"/>
                        <a:cs typeface="Open Sans Bold"/>
                        <a:sym typeface="Open Sans Bold"/>
                      </a:endParaRPr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3200" b="1" dirty="0">
                        <a:solidFill>
                          <a:srgbClr val="FFFFFF"/>
                        </a:solidFill>
                        <a:latin typeface="Open Sans Bold"/>
                        <a:ea typeface="Open Sans Bold"/>
                        <a:cs typeface="Open Sans Bold"/>
                        <a:sym typeface="Open Sans Bold"/>
                      </a:endParaRPr>
                    </a:p>
                  </a:txBody>
                  <a:tcPr marL="180594" marR="180594" marT="180594" marB="180594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3600" b="1" dirty="0">
                        <a:solidFill>
                          <a:srgbClr val="FFFFFF"/>
                        </a:solidFill>
                        <a:latin typeface="Calibri (MS) Bold"/>
                        <a:ea typeface="Calibri (MS) Bold"/>
                        <a:cs typeface="Calibri (MS) Bold"/>
                        <a:sym typeface="Calibri (MS) Bold"/>
                      </a:endParaRPr>
                    </a:p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3600" b="1" dirty="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77%</a:t>
                      </a:r>
                      <a:endParaRPr lang="en-US" sz="1100" dirty="0"/>
                    </a:p>
                  </a:txBody>
                  <a:tcPr marL="180594" marR="180594" marT="180594" marB="180594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4111" y="319051"/>
            <a:ext cx="389178" cy="390598"/>
          </a:xfrm>
          <a:custGeom>
            <a:avLst/>
            <a:gdLst/>
            <a:ahLst/>
            <a:cxnLst/>
            <a:rect l="l" t="t" r="r" b="b"/>
            <a:pathLst>
              <a:path w="389178" h="390598">
                <a:moveTo>
                  <a:pt x="0" y="0"/>
                </a:moveTo>
                <a:lnTo>
                  <a:pt x="389178" y="0"/>
                </a:lnTo>
                <a:lnTo>
                  <a:pt x="389178" y="390598"/>
                </a:lnTo>
                <a:lnTo>
                  <a:pt x="0" y="390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033" b="-1033"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3" name="Freeform 3"/>
          <p:cNvSpPr/>
          <p:nvPr/>
        </p:nvSpPr>
        <p:spPr>
          <a:xfrm>
            <a:off x="17567467" y="9426029"/>
            <a:ext cx="397119" cy="505615"/>
          </a:xfrm>
          <a:custGeom>
            <a:avLst/>
            <a:gdLst/>
            <a:ahLst/>
            <a:cxnLst/>
            <a:rect l="l" t="t" r="r" b="b"/>
            <a:pathLst>
              <a:path w="397119" h="505615">
                <a:moveTo>
                  <a:pt x="0" y="0"/>
                </a:moveTo>
                <a:lnTo>
                  <a:pt x="397119" y="0"/>
                </a:lnTo>
                <a:lnTo>
                  <a:pt x="397119" y="505615"/>
                </a:lnTo>
                <a:lnTo>
                  <a:pt x="0" y="505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grpSp>
        <p:nvGrpSpPr>
          <p:cNvPr id="4" name="Group 4"/>
          <p:cNvGrpSpPr/>
          <p:nvPr/>
        </p:nvGrpSpPr>
        <p:grpSpPr>
          <a:xfrm>
            <a:off x="17492295" y="9598502"/>
            <a:ext cx="547464" cy="290659"/>
            <a:chOff x="0" y="0"/>
            <a:chExt cx="729952" cy="3875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29952" cy="387545"/>
            </a:xfrm>
            <a:custGeom>
              <a:avLst/>
              <a:gdLst/>
              <a:ahLst/>
              <a:cxnLst/>
              <a:rect l="l" t="t" r="r" b="b"/>
              <a:pathLst>
                <a:path w="729952" h="387545">
                  <a:moveTo>
                    <a:pt x="0" y="0"/>
                  </a:moveTo>
                  <a:lnTo>
                    <a:pt x="729952" y="0"/>
                  </a:lnTo>
                  <a:lnTo>
                    <a:pt x="729952" y="387545"/>
                  </a:lnTo>
                  <a:lnTo>
                    <a:pt x="0" y="387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729952" cy="4161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1959"/>
                </a:lnSpc>
              </a:pPr>
              <a:r>
                <a:rPr lang="en-US" sz="13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07</a:t>
              </a:r>
            </a:p>
          </p:txBody>
        </p:sp>
      </p:grpSp>
      <p:sp>
        <p:nvSpPr>
          <p:cNvPr id="7" name="Freeform 7"/>
          <p:cNvSpPr/>
          <p:nvPr/>
        </p:nvSpPr>
        <p:spPr>
          <a:xfrm flipH="1">
            <a:off x="12054099" y="1350730"/>
            <a:ext cx="5205201" cy="4259254"/>
          </a:xfrm>
          <a:custGeom>
            <a:avLst/>
            <a:gdLst/>
            <a:ahLst/>
            <a:cxnLst/>
            <a:rect l="l" t="t" r="r" b="b"/>
            <a:pathLst>
              <a:path w="5205201" h="4259254">
                <a:moveTo>
                  <a:pt x="5205201" y="0"/>
                </a:moveTo>
                <a:lnTo>
                  <a:pt x="0" y="0"/>
                </a:lnTo>
                <a:lnTo>
                  <a:pt x="0" y="4259254"/>
                </a:lnTo>
                <a:lnTo>
                  <a:pt x="5205201" y="4259254"/>
                </a:lnTo>
                <a:lnTo>
                  <a:pt x="5205201" y="0"/>
                </a:lnTo>
                <a:close/>
              </a:path>
            </a:pathLst>
          </a:custGeom>
          <a:blipFill>
            <a:blip r:embed="rId6"/>
            <a:stretch>
              <a:fillRect t="-7676" r="-64" b="-55267"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/>
          <p:cNvSpPr/>
          <p:nvPr/>
        </p:nvSpPr>
        <p:spPr>
          <a:xfrm>
            <a:off x="6543363" y="1350730"/>
            <a:ext cx="5205201" cy="4259254"/>
          </a:xfrm>
          <a:custGeom>
            <a:avLst/>
            <a:gdLst/>
            <a:ahLst/>
            <a:cxnLst/>
            <a:rect l="l" t="t" r="r" b="b"/>
            <a:pathLst>
              <a:path w="5205201" h="4259254">
                <a:moveTo>
                  <a:pt x="0" y="0"/>
                </a:moveTo>
                <a:lnTo>
                  <a:pt x="5205201" y="0"/>
                </a:lnTo>
                <a:lnTo>
                  <a:pt x="5205201" y="4259254"/>
                </a:lnTo>
                <a:lnTo>
                  <a:pt x="0" y="4259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4815" b="-48130"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9" name="Freeform 9"/>
          <p:cNvSpPr/>
          <p:nvPr/>
        </p:nvSpPr>
        <p:spPr>
          <a:xfrm>
            <a:off x="1028700" y="1350730"/>
            <a:ext cx="5205201" cy="4259254"/>
          </a:xfrm>
          <a:custGeom>
            <a:avLst/>
            <a:gdLst/>
            <a:ahLst/>
            <a:cxnLst/>
            <a:rect l="l" t="t" r="r" b="b"/>
            <a:pathLst>
              <a:path w="5205201" h="4259254">
                <a:moveTo>
                  <a:pt x="0" y="0"/>
                </a:moveTo>
                <a:lnTo>
                  <a:pt x="5205201" y="0"/>
                </a:lnTo>
                <a:lnTo>
                  <a:pt x="5205201" y="4259254"/>
                </a:lnTo>
                <a:lnTo>
                  <a:pt x="0" y="4259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550" r="-4551"/>
            </a:stretch>
          </a:blipFill>
        </p:spPr>
        <p:txBody>
          <a:bodyPr/>
          <a:lstStyle/>
          <a:p>
            <a:endParaRPr lang="ar-JO"/>
          </a:p>
        </p:txBody>
      </p:sp>
      <p:grpSp>
        <p:nvGrpSpPr>
          <p:cNvPr id="10" name="Group 10"/>
          <p:cNvGrpSpPr/>
          <p:nvPr/>
        </p:nvGrpSpPr>
        <p:grpSpPr>
          <a:xfrm>
            <a:off x="1603727" y="190500"/>
            <a:ext cx="4782942" cy="1365018"/>
            <a:chOff x="0" y="-19050"/>
            <a:chExt cx="6377256" cy="1820024"/>
          </a:xfrm>
        </p:grpSpPr>
        <p:sp>
          <p:nvSpPr>
            <p:cNvPr id="11" name="Freeform 11"/>
            <p:cNvSpPr/>
            <p:nvPr/>
          </p:nvSpPr>
          <p:spPr>
            <a:xfrm>
              <a:off x="9236" y="148281"/>
              <a:ext cx="6368020" cy="1652693"/>
            </a:xfrm>
            <a:custGeom>
              <a:avLst/>
              <a:gdLst/>
              <a:ahLst/>
              <a:cxnLst/>
              <a:rect l="l" t="t" r="r" b="b"/>
              <a:pathLst>
                <a:path w="6368020" h="1652693">
                  <a:moveTo>
                    <a:pt x="0" y="0"/>
                  </a:moveTo>
                  <a:lnTo>
                    <a:pt x="6368020" y="0"/>
                  </a:lnTo>
                  <a:lnTo>
                    <a:pt x="6368020" y="1652693"/>
                  </a:lnTo>
                  <a:lnTo>
                    <a:pt x="0" y="16526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368020" cy="16717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749"/>
                </a:lnSpc>
              </a:pPr>
              <a:r>
                <a:rPr lang="en-US" sz="49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Challenges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6248159"/>
            <a:ext cx="8466438" cy="4068695"/>
            <a:chOff x="0" y="0"/>
            <a:chExt cx="6857006" cy="329525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857006" cy="3295254"/>
            </a:xfrm>
            <a:custGeom>
              <a:avLst/>
              <a:gdLst/>
              <a:ahLst/>
              <a:cxnLst/>
              <a:rect l="l" t="t" r="r" b="b"/>
              <a:pathLst>
                <a:path w="6857006" h="3295254">
                  <a:moveTo>
                    <a:pt x="0" y="0"/>
                  </a:moveTo>
                  <a:lnTo>
                    <a:pt x="6857006" y="0"/>
                  </a:lnTo>
                  <a:lnTo>
                    <a:pt x="6857006" y="3295254"/>
                  </a:lnTo>
                  <a:lnTo>
                    <a:pt x="0" y="32952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6857006" cy="336192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712468" lvl="1" indent="-356234" algn="l">
                <a:lnSpc>
                  <a:spcPts val="4619"/>
                </a:lnSpc>
                <a:buFont typeface="Arial"/>
                <a:buChar char="•"/>
              </a:pPr>
              <a:r>
                <a:rPr lang="en-US" sz="32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Unstable learning in early </a:t>
              </a:r>
            </a:p>
            <a:p>
              <a:pPr marL="712468" lvl="1" indent="-356234" algn="l">
                <a:lnSpc>
                  <a:spcPts val="4619"/>
                </a:lnSpc>
                <a:buFont typeface="Arial"/>
                <a:buChar char="•"/>
              </a:pPr>
              <a:r>
                <a:rPr lang="en-US" sz="32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training stages</a:t>
              </a:r>
            </a:p>
            <a:p>
              <a:pPr algn="l">
                <a:lnSpc>
                  <a:spcPts val="4619"/>
                </a:lnSpc>
              </a:pPr>
              <a:endParaRPr lang="en-US" sz="32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marL="712468" lvl="1" indent="-356234" algn="l">
                <a:lnSpc>
                  <a:spcPts val="4619"/>
                </a:lnSpc>
                <a:buFont typeface="Arial"/>
                <a:buChar char="•"/>
              </a:pPr>
              <a:r>
                <a:rPr lang="en-US" sz="32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High sensitivity to hyperparameters (especially in DDPG)</a:t>
              </a:r>
            </a:p>
            <a:p>
              <a:pPr algn="l">
                <a:lnSpc>
                  <a:spcPts val="4200"/>
                </a:lnSpc>
              </a:pPr>
              <a:endParaRPr lang="en-US" sz="32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l">
                <a:lnSpc>
                  <a:spcPts val="4200"/>
                </a:lnSpc>
              </a:pPr>
              <a:endParaRPr lang="en-US" sz="32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662191" y="6218305"/>
            <a:ext cx="7103836" cy="4068695"/>
            <a:chOff x="0" y="0"/>
            <a:chExt cx="5753429" cy="329525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53429" cy="3295254"/>
            </a:xfrm>
            <a:custGeom>
              <a:avLst/>
              <a:gdLst/>
              <a:ahLst/>
              <a:cxnLst/>
              <a:rect l="l" t="t" r="r" b="b"/>
              <a:pathLst>
                <a:path w="5753429" h="3295254">
                  <a:moveTo>
                    <a:pt x="0" y="0"/>
                  </a:moveTo>
                  <a:lnTo>
                    <a:pt x="5753429" y="0"/>
                  </a:lnTo>
                  <a:lnTo>
                    <a:pt x="5753429" y="3295254"/>
                  </a:lnTo>
                  <a:lnTo>
                    <a:pt x="0" y="32952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5753429" cy="336192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712468" lvl="1" indent="-356234" algn="l">
                <a:lnSpc>
                  <a:spcPts val="4619"/>
                </a:lnSpc>
                <a:buFont typeface="Arial"/>
                <a:buChar char="•"/>
              </a:pPr>
              <a:r>
                <a:rPr lang="en-US" sz="32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Long training times for complex environments</a:t>
              </a:r>
            </a:p>
            <a:p>
              <a:pPr algn="l">
                <a:lnSpc>
                  <a:spcPts val="4619"/>
                </a:lnSpc>
              </a:pPr>
              <a:endParaRPr lang="en-US" sz="32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marL="712468" lvl="1" indent="-356234" algn="l">
                <a:lnSpc>
                  <a:spcPts val="4619"/>
                </a:lnSpc>
                <a:buFont typeface="Arial"/>
                <a:buChar char="•"/>
              </a:pPr>
              <a:r>
                <a:rPr lang="en-US" sz="32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Sparse reward settings made learning harder</a:t>
              </a:r>
            </a:p>
            <a:p>
              <a:pPr algn="l">
                <a:lnSpc>
                  <a:spcPts val="4200"/>
                </a:lnSpc>
              </a:pPr>
              <a:endParaRPr lang="en-US" sz="32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l">
                <a:lnSpc>
                  <a:spcPts val="4200"/>
                </a:lnSpc>
              </a:pPr>
              <a:endParaRPr lang="en-US" sz="32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4111" y="362698"/>
            <a:ext cx="389178" cy="390598"/>
          </a:xfrm>
          <a:custGeom>
            <a:avLst/>
            <a:gdLst/>
            <a:ahLst/>
            <a:cxnLst/>
            <a:rect l="l" t="t" r="r" b="b"/>
            <a:pathLst>
              <a:path w="389178" h="390598">
                <a:moveTo>
                  <a:pt x="0" y="0"/>
                </a:moveTo>
                <a:lnTo>
                  <a:pt x="389178" y="0"/>
                </a:lnTo>
                <a:lnTo>
                  <a:pt x="389178" y="390598"/>
                </a:lnTo>
                <a:lnTo>
                  <a:pt x="0" y="390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033" b="-1033"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3" name="Freeform 3"/>
          <p:cNvSpPr/>
          <p:nvPr/>
        </p:nvSpPr>
        <p:spPr>
          <a:xfrm>
            <a:off x="17567467" y="9426029"/>
            <a:ext cx="397119" cy="505615"/>
          </a:xfrm>
          <a:custGeom>
            <a:avLst/>
            <a:gdLst/>
            <a:ahLst/>
            <a:cxnLst/>
            <a:rect l="l" t="t" r="r" b="b"/>
            <a:pathLst>
              <a:path w="397119" h="505615">
                <a:moveTo>
                  <a:pt x="0" y="0"/>
                </a:moveTo>
                <a:lnTo>
                  <a:pt x="397119" y="0"/>
                </a:lnTo>
                <a:lnTo>
                  <a:pt x="397119" y="505615"/>
                </a:lnTo>
                <a:lnTo>
                  <a:pt x="0" y="505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grpSp>
        <p:nvGrpSpPr>
          <p:cNvPr id="4" name="Group 4"/>
          <p:cNvGrpSpPr/>
          <p:nvPr/>
        </p:nvGrpSpPr>
        <p:grpSpPr>
          <a:xfrm>
            <a:off x="17492295" y="9598502"/>
            <a:ext cx="547464" cy="290659"/>
            <a:chOff x="0" y="0"/>
            <a:chExt cx="729952" cy="3875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29952" cy="387545"/>
            </a:xfrm>
            <a:custGeom>
              <a:avLst/>
              <a:gdLst/>
              <a:ahLst/>
              <a:cxnLst/>
              <a:rect l="l" t="t" r="r" b="b"/>
              <a:pathLst>
                <a:path w="729952" h="387545">
                  <a:moveTo>
                    <a:pt x="0" y="0"/>
                  </a:moveTo>
                  <a:lnTo>
                    <a:pt x="729952" y="0"/>
                  </a:lnTo>
                  <a:lnTo>
                    <a:pt x="729952" y="387545"/>
                  </a:lnTo>
                  <a:lnTo>
                    <a:pt x="0" y="387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729952" cy="4161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1959"/>
                </a:lnSpc>
              </a:pPr>
              <a:r>
                <a:rPr lang="en-US" sz="13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08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34111" y="869367"/>
            <a:ext cx="6430013" cy="2687320"/>
            <a:chOff x="0" y="0"/>
            <a:chExt cx="8573350" cy="35830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73350" cy="3583094"/>
            </a:xfrm>
            <a:custGeom>
              <a:avLst/>
              <a:gdLst/>
              <a:ahLst/>
              <a:cxnLst/>
              <a:rect l="l" t="t" r="r" b="b"/>
              <a:pathLst>
                <a:path w="8573350" h="3583094">
                  <a:moveTo>
                    <a:pt x="0" y="0"/>
                  </a:moveTo>
                  <a:lnTo>
                    <a:pt x="8573350" y="0"/>
                  </a:lnTo>
                  <a:lnTo>
                    <a:pt x="8573350" y="3583094"/>
                  </a:lnTo>
                  <a:lnTo>
                    <a:pt x="0" y="35830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8573350" cy="360214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5750"/>
                </a:lnSpc>
              </a:pPr>
              <a:r>
                <a:rPr lang="en-US" sz="50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Recommendations              &amp;</a:t>
              </a:r>
            </a:p>
            <a:p>
              <a:pPr algn="ctr">
                <a:lnSpc>
                  <a:spcPts val="5749"/>
                </a:lnSpc>
              </a:pPr>
              <a:r>
                <a:rPr lang="en-US" sz="49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Future Work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4703522"/>
            <a:ext cx="11685162" cy="5583478"/>
            <a:chOff x="0" y="0"/>
            <a:chExt cx="4959501" cy="23697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959501" cy="2369780"/>
            </a:xfrm>
            <a:custGeom>
              <a:avLst/>
              <a:gdLst/>
              <a:ahLst/>
              <a:cxnLst/>
              <a:rect l="l" t="t" r="r" b="b"/>
              <a:pathLst>
                <a:path w="4959501" h="2369780">
                  <a:moveTo>
                    <a:pt x="0" y="0"/>
                  </a:moveTo>
                  <a:lnTo>
                    <a:pt x="4959501" y="0"/>
                  </a:lnTo>
                  <a:lnTo>
                    <a:pt x="4959501" y="2369780"/>
                  </a:lnTo>
                  <a:lnTo>
                    <a:pt x="0" y="23697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4959501" cy="24269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690876" lvl="1" indent="-345438" algn="l">
                <a:lnSpc>
                  <a:spcPts val="4479"/>
                </a:lnSpc>
                <a:buFont typeface="Arial"/>
                <a:buChar char="•"/>
              </a:pPr>
              <a:r>
                <a:rPr lang="en-US" sz="31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Use parallel environments (VecEnv) </a:t>
              </a:r>
            </a:p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      to speed up training</a:t>
              </a:r>
            </a:p>
            <a:p>
              <a:pPr algn="l">
                <a:lnSpc>
                  <a:spcPts val="4479"/>
                </a:lnSpc>
              </a:pPr>
              <a:endPara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marL="690876" lvl="1" indent="-345438" algn="l">
                <a:lnSpc>
                  <a:spcPts val="4479"/>
                </a:lnSpc>
                <a:buFont typeface="Arial"/>
                <a:buChar char="•"/>
              </a:pPr>
              <a:r>
                <a:rPr lang="en-US" sz="31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Save checkpoints and monitor training </a:t>
              </a:r>
            </a:p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      performance regularly</a:t>
              </a:r>
            </a:p>
            <a:p>
              <a:pPr algn="l">
                <a:lnSpc>
                  <a:spcPts val="4479"/>
                </a:lnSpc>
              </a:pPr>
              <a:endPara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marL="690876" lvl="1" indent="-345438" algn="l">
                <a:lnSpc>
                  <a:spcPts val="4479"/>
                </a:lnSpc>
                <a:buFont typeface="Arial"/>
                <a:buChar char="•"/>
              </a:pPr>
              <a:r>
                <a:rPr lang="en-US" sz="31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Try more advanced algorithms ( A3C , TQC , e.g.)</a:t>
              </a:r>
            </a:p>
            <a:p>
              <a:pPr algn="l">
                <a:lnSpc>
                  <a:spcPts val="4479"/>
                </a:lnSpc>
              </a:pPr>
              <a:endPara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marL="690876" lvl="1" indent="-345438" algn="l">
                <a:lnSpc>
                  <a:spcPts val="4479"/>
                </a:lnSpc>
                <a:buFont typeface="Arial"/>
                <a:buChar char="•"/>
              </a:pPr>
              <a:r>
                <a:rPr lang="en-US" sz="31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Explore real-world simulators like MuJoCo or PyBullet</a:t>
              </a:r>
            </a:p>
            <a:p>
              <a:pPr algn="l">
                <a:lnSpc>
                  <a:spcPts val="3499"/>
                </a:lnSpc>
              </a:pPr>
              <a:endParaRPr lang="en-US" sz="3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1972418" y="2609004"/>
            <a:ext cx="5992168" cy="5992168"/>
          </a:xfrm>
          <a:custGeom>
            <a:avLst/>
            <a:gdLst/>
            <a:ahLst/>
            <a:cxnLst/>
            <a:rect l="l" t="t" r="r" b="b"/>
            <a:pathLst>
              <a:path w="5992168" h="5992168">
                <a:moveTo>
                  <a:pt x="0" y="0"/>
                </a:moveTo>
                <a:lnTo>
                  <a:pt x="5992168" y="0"/>
                </a:lnTo>
                <a:lnTo>
                  <a:pt x="5992168" y="5992168"/>
                </a:lnTo>
                <a:lnTo>
                  <a:pt x="0" y="59921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7561" y="319051"/>
            <a:ext cx="389178" cy="390598"/>
          </a:xfrm>
          <a:custGeom>
            <a:avLst/>
            <a:gdLst/>
            <a:ahLst/>
            <a:cxnLst/>
            <a:rect l="l" t="t" r="r" b="b"/>
            <a:pathLst>
              <a:path w="389178" h="390598">
                <a:moveTo>
                  <a:pt x="0" y="0"/>
                </a:moveTo>
                <a:lnTo>
                  <a:pt x="389178" y="0"/>
                </a:lnTo>
                <a:lnTo>
                  <a:pt x="389178" y="390598"/>
                </a:lnTo>
                <a:lnTo>
                  <a:pt x="0" y="390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033" b="-1033"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3" name="Freeform 3"/>
          <p:cNvSpPr/>
          <p:nvPr/>
        </p:nvSpPr>
        <p:spPr>
          <a:xfrm>
            <a:off x="17567467" y="9426029"/>
            <a:ext cx="397119" cy="505615"/>
          </a:xfrm>
          <a:custGeom>
            <a:avLst/>
            <a:gdLst/>
            <a:ahLst/>
            <a:cxnLst/>
            <a:rect l="l" t="t" r="r" b="b"/>
            <a:pathLst>
              <a:path w="397119" h="505615">
                <a:moveTo>
                  <a:pt x="0" y="0"/>
                </a:moveTo>
                <a:lnTo>
                  <a:pt x="397119" y="0"/>
                </a:lnTo>
                <a:lnTo>
                  <a:pt x="397119" y="505615"/>
                </a:lnTo>
                <a:lnTo>
                  <a:pt x="0" y="505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grpSp>
        <p:nvGrpSpPr>
          <p:cNvPr id="4" name="Group 4"/>
          <p:cNvGrpSpPr/>
          <p:nvPr/>
        </p:nvGrpSpPr>
        <p:grpSpPr>
          <a:xfrm>
            <a:off x="17492295" y="9598502"/>
            <a:ext cx="547464" cy="240591"/>
            <a:chOff x="0" y="0"/>
            <a:chExt cx="729952" cy="3207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29952" cy="320788"/>
            </a:xfrm>
            <a:custGeom>
              <a:avLst/>
              <a:gdLst/>
              <a:ahLst/>
              <a:cxnLst/>
              <a:rect l="l" t="t" r="r" b="b"/>
              <a:pathLst>
                <a:path w="729952" h="320788">
                  <a:moveTo>
                    <a:pt x="0" y="0"/>
                  </a:moveTo>
                  <a:lnTo>
                    <a:pt x="729952" y="0"/>
                  </a:lnTo>
                  <a:lnTo>
                    <a:pt x="729952" y="320788"/>
                  </a:lnTo>
                  <a:lnTo>
                    <a:pt x="0" y="3207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729952" cy="3493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1959"/>
                </a:lnSpc>
              </a:pPr>
              <a:r>
                <a:rPr lang="en-US" sz="13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09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364990" y="871264"/>
            <a:ext cx="7939129" cy="8967829"/>
          </a:xfrm>
          <a:custGeom>
            <a:avLst/>
            <a:gdLst/>
            <a:ahLst/>
            <a:cxnLst/>
            <a:rect l="l" t="t" r="r" b="b"/>
            <a:pathLst>
              <a:path w="7939129" h="8967829">
                <a:moveTo>
                  <a:pt x="0" y="0"/>
                </a:moveTo>
                <a:lnTo>
                  <a:pt x="7939129" y="0"/>
                </a:lnTo>
                <a:lnTo>
                  <a:pt x="7939129" y="8967829"/>
                </a:lnTo>
                <a:lnTo>
                  <a:pt x="0" y="89678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4768" r="-34768" b="-84"/>
            </a:stretch>
          </a:blipFill>
        </p:spPr>
        <p:txBody>
          <a:bodyPr/>
          <a:lstStyle/>
          <a:p>
            <a:endParaRPr lang="ar-JO"/>
          </a:p>
        </p:txBody>
      </p:sp>
      <p:grpSp>
        <p:nvGrpSpPr>
          <p:cNvPr id="8" name="Group 8"/>
          <p:cNvGrpSpPr/>
          <p:nvPr/>
        </p:nvGrpSpPr>
        <p:grpSpPr>
          <a:xfrm>
            <a:off x="10397456" y="641424"/>
            <a:ext cx="4776015" cy="1241705"/>
            <a:chOff x="0" y="0"/>
            <a:chExt cx="6368020" cy="16556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68020" cy="1655607"/>
            </a:xfrm>
            <a:custGeom>
              <a:avLst/>
              <a:gdLst/>
              <a:ahLst/>
              <a:cxnLst/>
              <a:rect l="l" t="t" r="r" b="b"/>
              <a:pathLst>
                <a:path w="6368020" h="1655607">
                  <a:moveTo>
                    <a:pt x="0" y="0"/>
                  </a:moveTo>
                  <a:lnTo>
                    <a:pt x="6368020" y="0"/>
                  </a:lnTo>
                  <a:lnTo>
                    <a:pt x="6368020" y="1655607"/>
                  </a:lnTo>
                  <a:lnTo>
                    <a:pt x="0" y="16556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6368020" cy="167465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749"/>
                </a:lnSpc>
              </a:pPr>
              <a:r>
                <a:rPr lang="en-US" sz="49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547365" y="2906942"/>
            <a:ext cx="8476197" cy="6351358"/>
            <a:chOff x="0" y="0"/>
            <a:chExt cx="3162587" cy="23697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62588" cy="2369780"/>
            </a:xfrm>
            <a:custGeom>
              <a:avLst/>
              <a:gdLst/>
              <a:ahLst/>
              <a:cxnLst/>
              <a:rect l="l" t="t" r="r" b="b"/>
              <a:pathLst>
                <a:path w="3162588" h="2369780">
                  <a:moveTo>
                    <a:pt x="0" y="0"/>
                  </a:moveTo>
                  <a:lnTo>
                    <a:pt x="3162588" y="0"/>
                  </a:lnTo>
                  <a:lnTo>
                    <a:pt x="3162588" y="2369780"/>
                  </a:lnTo>
                  <a:lnTo>
                    <a:pt x="0" y="23697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3162587" cy="24269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755644" lvl="1" indent="-377822" algn="l">
                <a:lnSpc>
                  <a:spcPts val="4899"/>
                </a:lnSpc>
                <a:buFont typeface="Arial"/>
                <a:buChar char="•"/>
              </a:pPr>
              <a:r>
                <a:rPr lang="en-US" sz="34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RL proved effective in training agents without pre-existing data</a:t>
              </a:r>
            </a:p>
            <a:p>
              <a:pPr algn="l">
                <a:lnSpc>
                  <a:spcPts val="4899"/>
                </a:lnSpc>
              </a:pPr>
              <a:endParaRPr lang="en-US" sz="3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marL="755644" lvl="1" indent="-377822" algn="l">
                <a:lnSpc>
                  <a:spcPts val="4899"/>
                </a:lnSpc>
                <a:buFont typeface="Arial"/>
                <a:buChar char="•"/>
              </a:pPr>
              <a:r>
                <a:rPr lang="en-US" sz="34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Each algorithm has its strengths depending on the task complexity</a:t>
              </a:r>
            </a:p>
            <a:p>
              <a:pPr algn="l">
                <a:lnSpc>
                  <a:spcPts val="4899"/>
                </a:lnSpc>
              </a:pPr>
              <a:endParaRPr lang="en-US" sz="3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marL="755644" lvl="1" indent="-377822" algn="l">
                <a:lnSpc>
                  <a:spcPts val="4899"/>
                </a:lnSpc>
                <a:buFont typeface="Arial"/>
                <a:buChar char="•"/>
              </a:pPr>
              <a:r>
                <a:rPr lang="en-US" sz="34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Thanks to our supervisor, faculty, families, and colleagues</a:t>
              </a:r>
            </a:p>
            <a:p>
              <a:pPr algn="l">
                <a:lnSpc>
                  <a:spcPts val="4479"/>
                </a:lnSpc>
              </a:pPr>
              <a:endParaRPr lang="en-US" sz="3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l">
                <a:lnSpc>
                  <a:spcPts val="3499"/>
                </a:lnSpc>
              </a:pPr>
              <a:endParaRPr lang="en-US" sz="3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ar-JO"/>
            </a:p>
          </p:txBody>
        </p:sp>
      </p:grpSp>
      <p:sp>
        <p:nvSpPr>
          <p:cNvPr id="4" name="Freeform 4"/>
          <p:cNvSpPr/>
          <p:nvPr/>
        </p:nvSpPr>
        <p:spPr>
          <a:xfrm>
            <a:off x="1427561" y="319051"/>
            <a:ext cx="389178" cy="390598"/>
          </a:xfrm>
          <a:custGeom>
            <a:avLst/>
            <a:gdLst/>
            <a:ahLst/>
            <a:cxnLst/>
            <a:rect l="l" t="t" r="r" b="b"/>
            <a:pathLst>
              <a:path w="389178" h="390598">
                <a:moveTo>
                  <a:pt x="0" y="0"/>
                </a:moveTo>
                <a:lnTo>
                  <a:pt x="389178" y="0"/>
                </a:lnTo>
                <a:lnTo>
                  <a:pt x="389178" y="390598"/>
                </a:lnTo>
                <a:lnTo>
                  <a:pt x="0" y="390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33" b="-1033"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5" name="Freeform 5"/>
          <p:cNvSpPr/>
          <p:nvPr/>
        </p:nvSpPr>
        <p:spPr>
          <a:xfrm>
            <a:off x="17567467" y="9426029"/>
            <a:ext cx="397119" cy="505615"/>
          </a:xfrm>
          <a:custGeom>
            <a:avLst/>
            <a:gdLst/>
            <a:ahLst/>
            <a:cxnLst/>
            <a:rect l="l" t="t" r="r" b="b"/>
            <a:pathLst>
              <a:path w="397119" h="505615">
                <a:moveTo>
                  <a:pt x="0" y="0"/>
                </a:moveTo>
                <a:lnTo>
                  <a:pt x="397119" y="0"/>
                </a:lnTo>
                <a:lnTo>
                  <a:pt x="397119" y="505615"/>
                </a:lnTo>
                <a:lnTo>
                  <a:pt x="0" y="5056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grpSp>
        <p:nvGrpSpPr>
          <p:cNvPr id="6" name="Group 6"/>
          <p:cNvGrpSpPr/>
          <p:nvPr/>
        </p:nvGrpSpPr>
        <p:grpSpPr>
          <a:xfrm>
            <a:off x="17492295" y="9598502"/>
            <a:ext cx="547464" cy="240591"/>
            <a:chOff x="0" y="0"/>
            <a:chExt cx="729952" cy="3207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9952" cy="320788"/>
            </a:xfrm>
            <a:custGeom>
              <a:avLst/>
              <a:gdLst/>
              <a:ahLst/>
              <a:cxnLst/>
              <a:rect l="l" t="t" r="r" b="b"/>
              <a:pathLst>
                <a:path w="729952" h="320788">
                  <a:moveTo>
                    <a:pt x="0" y="0"/>
                  </a:moveTo>
                  <a:lnTo>
                    <a:pt x="729952" y="0"/>
                  </a:lnTo>
                  <a:lnTo>
                    <a:pt x="729952" y="320788"/>
                  </a:lnTo>
                  <a:lnTo>
                    <a:pt x="0" y="3207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729952" cy="3493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1959"/>
                </a:lnSpc>
              </a:pPr>
              <a:r>
                <a:rPr lang="en-US" sz="13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27561" y="1216512"/>
            <a:ext cx="15365709" cy="3710629"/>
            <a:chOff x="0" y="0"/>
            <a:chExt cx="16643135" cy="40191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643135" cy="4019112"/>
            </a:xfrm>
            <a:custGeom>
              <a:avLst/>
              <a:gdLst/>
              <a:ahLst/>
              <a:cxnLst/>
              <a:rect l="l" t="t" r="r" b="b"/>
              <a:pathLst>
                <a:path w="16643135" h="4019112">
                  <a:moveTo>
                    <a:pt x="0" y="0"/>
                  </a:moveTo>
                  <a:lnTo>
                    <a:pt x="16643135" y="0"/>
                  </a:lnTo>
                  <a:lnTo>
                    <a:pt x="16643135" y="4019112"/>
                  </a:lnTo>
                  <a:lnTo>
                    <a:pt x="0" y="40191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71450"/>
              <a:ext cx="16643135" cy="41905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8399"/>
                </a:lnSpc>
              </a:pPr>
              <a:r>
                <a:rPr lang="en-US" sz="5999" b="1">
                  <a:solidFill>
                    <a:srgbClr val="00C9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That Concludes our Presentation</a:t>
              </a:r>
            </a:p>
            <a:p>
              <a:pPr algn="ctr">
                <a:lnSpc>
                  <a:spcPts val="8399"/>
                </a:lnSpc>
              </a:pPr>
              <a:endParaRPr lang="en-US" sz="5999" b="1">
                <a:solidFill>
                  <a:srgbClr val="00C9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algn="ctr">
                <a:lnSpc>
                  <a:spcPts val="8400"/>
                </a:lnSpc>
              </a:pPr>
              <a:r>
                <a:rPr lang="en-US" sz="5999" b="1">
                  <a:solidFill>
                    <a:srgbClr val="00C9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Thank you for your time and attention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266310" y="6447222"/>
            <a:ext cx="14292108" cy="2811078"/>
            <a:chOff x="0" y="0"/>
            <a:chExt cx="19056144" cy="37481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056145" cy="3748104"/>
            </a:xfrm>
            <a:custGeom>
              <a:avLst/>
              <a:gdLst/>
              <a:ahLst/>
              <a:cxnLst/>
              <a:rect l="l" t="t" r="r" b="b"/>
              <a:pathLst>
                <a:path w="19056145" h="3748104">
                  <a:moveTo>
                    <a:pt x="0" y="0"/>
                  </a:moveTo>
                  <a:lnTo>
                    <a:pt x="19056145" y="0"/>
                  </a:lnTo>
                  <a:lnTo>
                    <a:pt x="19056145" y="3748104"/>
                  </a:lnTo>
                  <a:lnTo>
                    <a:pt x="0" y="37481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19056144" cy="385287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7000"/>
                </a:lnSpc>
              </a:pPr>
              <a:r>
                <a:rPr lang="en-US" sz="5000" b="1" i="1">
                  <a:solidFill>
                    <a:srgbClr val="FFFFFF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Reinforcement learning is just the beginning  the future is full of possibilities.</a:t>
              </a:r>
            </a:p>
            <a:p>
              <a:pPr algn="ctr">
                <a:lnSpc>
                  <a:spcPts val="7000"/>
                </a:lnSpc>
              </a:pPr>
              <a:endParaRPr lang="en-US" sz="5000" b="1" i="1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389</Words>
  <Application>Microsoft Office PowerPoint</Application>
  <PresentationFormat>مخصص</PresentationFormat>
  <Paragraphs>117</Paragraphs>
  <Slides>10</Slides>
  <Notes>1</Notes>
  <HiddenSlides>0</HiddenSlides>
  <MMClips>4</MMClips>
  <ScaleCrop>false</ScaleCrop>
  <HeadingPairs>
    <vt:vector size="6" baseType="variant">
      <vt:variant>
        <vt:lpstr>الخطوط المستخدمة</vt:lpstr>
      </vt:variant>
      <vt:variant>
        <vt:i4>8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9" baseType="lpstr">
      <vt:lpstr>Poppins Bold</vt:lpstr>
      <vt:lpstr>Calibri (MS) Bold</vt:lpstr>
      <vt:lpstr>Arial</vt:lpstr>
      <vt:lpstr>Open Sans</vt:lpstr>
      <vt:lpstr>Open Sans Bold Italics</vt:lpstr>
      <vt:lpstr>Calibri</vt:lpstr>
      <vt:lpstr>Open Sans Bold</vt:lpstr>
      <vt:lpstr>Aptos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Futuristic Artificial Intelligence Presentation</dc:title>
  <cp:lastModifiedBy>البراء خالد احمد المسيعديين</cp:lastModifiedBy>
  <cp:revision>5</cp:revision>
  <dcterms:created xsi:type="dcterms:W3CDTF">2006-08-16T00:00:00Z</dcterms:created>
  <dcterms:modified xsi:type="dcterms:W3CDTF">2025-05-24T19:49:13Z</dcterms:modified>
  <dc:identifier>DAGoUMf3lfQ</dc:identifier>
</cp:coreProperties>
</file>