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1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none" spc="0" baseline="0">
                <a:latin typeface="+mj-lt"/>
                <a:ea typeface="Source Sans Pro SemiBold" panose="020B0603030403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D6D0F569-AC90-44EB-9EF4-4E5C2F5D823C}" type="datetime1">
              <a:rPr lang="en-US" smtClean="0"/>
              <a:t>5/26/2024</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838752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8C2D79EF-17C8-45D8-9866-DAF5723FC604}" type="datetime1">
              <a:rPr lang="en-US" smtClean="0"/>
              <a:t>5/26/2024</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900945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DFFC2ADC-3680-4013-A757-E4663495DB98}" type="datetime1">
              <a:rPr lang="en-US" smtClean="0"/>
              <a:t>5/26/2024</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37405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4751BA94-5DCA-4F19-960F-0FB2BD5EE85A}" type="datetime1">
              <a:rPr lang="en-US" smtClean="0"/>
              <a:t>5/26/2024</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66799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01BED947-38D9-44AC-8B89-E79758333B77}" type="datetime1">
              <a:rPr lang="en-US" smtClean="0"/>
              <a:t>5/26/2024</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558127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dirty="0"/>
              <a:t>Click to edit Master title style</a:t>
            </a:r>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3781E23F-BD3C-4F23-B116-2B758120C8AC}" type="datetime1">
              <a:rPr lang="en-US" smtClean="0"/>
              <a:t>5/26/2024</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519037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473CFAA9-6D59-4D98-869E-ACBDB83B2CA4}" type="datetime1">
              <a:rPr lang="en-US" smtClean="0"/>
              <a:t>5/26/2024</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0743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DC410804-27E3-430A-BB42-B831260DE39A}" type="datetime1">
              <a:rPr lang="en-US" smtClean="0"/>
              <a:t>5/26/2024</a:t>
            </a:fld>
            <a:endParaRPr lang="en-US" dirty="0"/>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328846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60E22DE3-3D1A-4D53-B9A6-6C7463B8C992}" type="datetime1">
              <a:rPr lang="en-US" smtClean="0"/>
              <a:t>5/26/2024</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046944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46BA7D41-E8B7-4A0B-B861-3EC4AE88917D}" type="datetime1">
              <a:rPr lang="en-US" smtClean="0"/>
              <a:t>5/26/2024</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969908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A7C34823-0B19-4B4E-A643-7A3B0A3D24D6}" type="datetime1">
              <a:rPr lang="en-US" smtClean="0"/>
              <a:t>5/26/2024</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37106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b="0" cap="none" spc="0" baseline="0">
                <a:solidFill>
                  <a:schemeClr val="tx1">
                    <a:tint val="75000"/>
                  </a:schemeClr>
                </a:solidFill>
                <a:latin typeface="+mn-lt"/>
                <a:ea typeface="Source Sans Pro SemiBold" panose="020B0603030403020204" pitchFamily="34" charset="0"/>
              </a:defRPr>
            </a:lvl1pPr>
          </a:lstStyle>
          <a:p>
            <a:fld id="{5ECD8B30-1B71-45A1-8314-D59C86F581E1}" type="datetime1">
              <a:rPr lang="en-US" smtClean="0"/>
              <a:pPr/>
              <a:t>5/26/2024</a:t>
            </a:fld>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b="0" cap="none" spc="0" baseline="0">
                <a:solidFill>
                  <a:schemeClr val="tx1">
                    <a:tint val="75000"/>
                  </a:schemeClr>
                </a:solidFill>
                <a:latin typeface="+mn-lt"/>
                <a:ea typeface="Source Sans Pro SemiBold" panose="020B0603030403020204" pitchFamily="34" charset="0"/>
              </a:defRPr>
            </a:lvl1pPr>
          </a:lstStyle>
          <a:p>
            <a:r>
              <a:rPr lang="en-US" dirty="0"/>
              <a:t>Sample Footer Text</a:t>
            </a:r>
            <a:endParaRPr lang="en-US" b="1" dirty="0"/>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b="0" cap="none" spc="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14624990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1" r:id="rId6"/>
    <p:sldLayoutId id="2147483706" r:id="rId7"/>
    <p:sldLayoutId id="2147483702" r:id="rId8"/>
    <p:sldLayoutId id="2147483703" r:id="rId9"/>
    <p:sldLayoutId id="2147483704" r:id="rId10"/>
    <p:sldLayoutId id="2147483705" r:id="rId11"/>
  </p:sldLayoutIdLst>
  <p:hf sldNum="0" hdr="0" ftr="0" dt="0"/>
  <p:txStyles>
    <p:titleStyle>
      <a:lvl1pPr algn="l" defTabSz="914400" rtl="0" eaLnBrk="1" latinLnBrk="0" hangingPunct="1">
        <a:lnSpc>
          <a:spcPct val="11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شعار, رمز, قنزعة, شارة&#10;&#10;تم إنشاء الوصف تلقائياً">
            <a:extLst>
              <a:ext uri="{FF2B5EF4-FFF2-40B4-BE49-F238E27FC236}">
                <a16:creationId xmlns:a16="http://schemas.microsoft.com/office/drawing/2014/main" id="{A1B998F6-2B02-B8C6-C403-C42F444BF69A}"/>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4297" b="94922" l="9961" r="89844">
                        <a14:foregroundMark x1="41992" y1="32813" x2="41992" y2="32813"/>
                        <a14:foregroundMark x1="41992" y1="32813" x2="60352" y2="55078"/>
                        <a14:foregroundMark x1="60352" y1="55078" x2="62109" y2="54297"/>
                        <a14:foregroundMark x1="45508" y1="9961" x2="50977" y2="73047"/>
                        <a14:foregroundMark x1="50977" y1="73047" x2="55664" y2="71484"/>
                        <a14:foregroundMark x1="55664" y1="71484" x2="55664" y2="71484"/>
                        <a14:foregroundMark x1="43750" y1="6836" x2="45703" y2="4492"/>
                        <a14:foregroundMark x1="37500" y1="87891" x2="63672" y2="87695"/>
                        <a14:foregroundMark x1="39648" y1="89844" x2="59180" y2="87500"/>
                        <a14:foregroundMark x1="47266" y1="94922" x2="53320" y2="94922"/>
                      </a14:backgroundRemoval>
                    </a14:imgEffect>
                  </a14:imgLayer>
                </a14:imgProps>
              </a:ext>
              <a:ext uri="{28A0092B-C50C-407E-A947-70E740481C1C}">
                <a14:useLocalDpi xmlns:a14="http://schemas.microsoft.com/office/drawing/2010/main" val="0"/>
              </a:ext>
            </a:extLst>
          </a:blip>
          <a:srcRect t="729" r="-1" b="11075"/>
          <a:stretch/>
        </p:blipFill>
        <p:spPr>
          <a:xfrm>
            <a:off x="89903" y="-39776"/>
            <a:ext cx="1836636" cy="1619810"/>
          </a:xfrm>
          <a:prstGeom prst="rect">
            <a:avLst/>
          </a:prstGeom>
          <a:ln w="28575">
            <a:noFill/>
          </a:ln>
        </p:spPr>
      </p:pic>
      <p:grpSp>
        <p:nvGrpSpPr>
          <p:cNvPr id="11" name="Group 10">
            <a:extLst>
              <a:ext uri="{FF2B5EF4-FFF2-40B4-BE49-F238E27FC236}">
                <a16:creationId xmlns:a16="http://schemas.microsoft.com/office/drawing/2014/main" id="{FC1BD014-5623-4064-BAFE-A5AAAFB3CE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35096" y="657544"/>
            <a:ext cx="4843727" cy="5534144"/>
            <a:chOff x="1674895" y="1345036"/>
            <a:chExt cx="5428610" cy="4210939"/>
          </a:xfrm>
        </p:grpSpPr>
        <p:sp>
          <p:nvSpPr>
            <p:cNvPr id="12" name="Rectangle 11">
              <a:extLst>
                <a:ext uri="{FF2B5EF4-FFF2-40B4-BE49-F238E27FC236}">
                  <a16:creationId xmlns:a16="http://schemas.microsoft.com/office/drawing/2014/main" id="{A27BC42E-B225-42FA-9AB5-F860C44BB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ECF5D0B-A89A-4902-8D22-AFB1D55AC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5" name="Rectangle 14">
            <a:extLst>
              <a:ext uri="{FF2B5EF4-FFF2-40B4-BE49-F238E27FC236}">
                <a16:creationId xmlns:a16="http://schemas.microsoft.com/office/drawing/2014/main" id="{7871DA93-90AF-40F3-A1A1-04E166972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8435" y="401247"/>
            <a:ext cx="4860256" cy="5669873"/>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1455871E-9BB9-4855-F0FB-D472AD278673}"/>
              </a:ext>
            </a:extLst>
          </p:cNvPr>
          <p:cNvSpPr>
            <a:spLocks noGrp="1"/>
          </p:cNvSpPr>
          <p:nvPr>
            <p:ph type="ctrTitle"/>
          </p:nvPr>
        </p:nvSpPr>
        <p:spPr>
          <a:xfrm>
            <a:off x="7012297" y="786880"/>
            <a:ext cx="4203323" cy="3596201"/>
          </a:xfrm>
        </p:spPr>
        <p:txBody>
          <a:bodyPr>
            <a:normAutofit/>
          </a:bodyPr>
          <a:lstStyle/>
          <a:p>
            <a:pPr>
              <a:lnSpc>
                <a:spcPct val="100000"/>
              </a:lnSpc>
            </a:pPr>
            <a:r>
              <a:rPr lang="en-US" sz="4200" b="0" i="0">
                <a:effectLst/>
                <a:latin typeface="ui-sans-serif"/>
              </a:rPr>
              <a:t>Application of the Apriori Algorithm for Market Basket Analysis</a:t>
            </a:r>
            <a:endParaRPr lang="en-US" sz="4200"/>
          </a:p>
        </p:txBody>
      </p:sp>
      <p:sp>
        <p:nvSpPr>
          <p:cNvPr id="3" name="عنوان فرعي 2">
            <a:extLst>
              <a:ext uri="{FF2B5EF4-FFF2-40B4-BE49-F238E27FC236}">
                <a16:creationId xmlns:a16="http://schemas.microsoft.com/office/drawing/2014/main" id="{9E26F936-D5B6-5A34-4A01-C08DC082B2CE}"/>
              </a:ext>
            </a:extLst>
          </p:cNvPr>
          <p:cNvSpPr>
            <a:spLocks noGrp="1"/>
          </p:cNvSpPr>
          <p:nvPr>
            <p:ph type="subTitle" idx="1"/>
          </p:nvPr>
        </p:nvSpPr>
        <p:spPr>
          <a:xfrm>
            <a:off x="7012297" y="4475155"/>
            <a:ext cx="4203323" cy="1143291"/>
          </a:xfrm>
        </p:spPr>
        <p:txBody>
          <a:bodyPr>
            <a:normAutofit/>
          </a:bodyPr>
          <a:lstStyle/>
          <a:p>
            <a:pPr>
              <a:lnSpc>
                <a:spcPct val="104000"/>
              </a:lnSpc>
            </a:pPr>
            <a:r>
              <a:rPr lang="en-US" sz="2000" b="0" i="0">
                <a:effectLst/>
                <a:latin typeface="ui-sans-serif"/>
              </a:rPr>
              <a:t>Analyzing Electronic Accessories Purchasing Patterns</a:t>
            </a:r>
            <a:endParaRPr lang="en-US" sz="2000"/>
          </a:p>
        </p:txBody>
      </p:sp>
      <p:sp>
        <p:nvSpPr>
          <p:cNvPr id="17" name="Graphic 212">
            <a:extLst>
              <a:ext uri="{FF2B5EF4-FFF2-40B4-BE49-F238E27FC236}">
                <a16:creationId xmlns:a16="http://schemas.microsoft.com/office/drawing/2014/main" id="{4FB204DF-284E-45F6-A017-79A4DF57B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0051" y="771024"/>
            <a:ext cx="693403" cy="693403"/>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9" name="Graphic 212">
            <a:extLst>
              <a:ext uri="{FF2B5EF4-FFF2-40B4-BE49-F238E27FC236}">
                <a16:creationId xmlns:a16="http://schemas.microsoft.com/office/drawing/2014/main" id="{70616F44-B954-409D-87BC-C69465EDE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0051" y="771024"/>
            <a:ext cx="693403" cy="693403"/>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1" name="Freeform: Shape 20">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003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3" name="Freeform: Shape 22">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76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5" name="Oval 24">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512" y="4357092"/>
            <a:ext cx="319941" cy="31994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Oval 26">
            <a:extLst>
              <a:ext uri="{FF2B5EF4-FFF2-40B4-BE49-F238E27FC236}">
                <a16:creationId xmlns:a16="http://schemas.microsoft.com/office/drawing/2014/main" id="{5D981608-D865-4AD7-AC34-A2398EA1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512" y="4357092"/>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9"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59160" y="5987064"/>
            <a:ext cx="1054466" cy="469689"/>
            <a:chOff x="9841624" y="4115729"/>
            <a:chExt cx="602169" cy="268223"/>
          </a:xfrm>
          <a:solidFill>
            <a:schemeClr val="tx1"/>
          </a:solidFill>
        </p:grpSpPr>
        <p:sp>
          <p:nvSpPr>
            <p:cNvPr id="30" name="Freeform: Shape 29">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مستطيل 4">
            <a:extLst>
              <a:ext uri="{FF2B5EF4-FFF2-40B4-BE49-F238E27FC236}">
                <a16:creationId xmlns:a16="http://schemas.microsoft.com/office/drawing/2014/main" id="{ADE3AD77-5043-EF71-E640-E8FA55BFBFEB}"/>
              </a:ext>
            </a:extLst>
          </p:cNvPr>
          <p:cNvSpPr/>
          <p:nvPr/>
        </p:nvSpPr>
        <p:spPr>
          <a:xfrm>
            <a:off x="0" y="2399097"/>
            <a:ext cx="4780896" cy="69340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ar-JO" sz="1800" kern="1200" dirty="0">
                <a:solidFill>
                  <a:schemeClr val="tx1"/>
                </a:solidFill>
                <a:effectLst/>
                <a:latin typeface="Segoe UI" panose="020B0502040204020203" pitchFamily="34" charset="0"/>
                <a:ea typeface="+mn-ea"/>
                <a:cs typeface="+mn-cs"/>
              </a:rPr>
              <a:t>البراء</a:t>
            </a:r>
            <a:r>
              <a:rPr lang="ar-JO" sz="1800" kern="1200" dirty="0">
                <a:solidFill>
                  <a:schemeClr val="tx1"/>
                </a:solidFill>
                <a:effectLst/>
                <a:latin typeface="Segoe UI" panose="020B0502040204020203" pitchFamily="34" charset="0"/>
                <a:ea typeface="+mn-ea"/>
                <a:cs typeface="Segoe UI" panose="020B0502040204020203" pitchFamily="34" charset="0"/>
              </a:rPr>
              <a:t> </a:t>
            </a:r>
            <a:r>
              <a:rPr lang="ar-JO" sz="1800" kern="1200" dirty="0">
                <a:solidFill>
                  <a:schemeClr val="tx1"/>
                </a:solidFill>
                <a:effectLst/>
                <a:latin typeface="Segoe UI" panose="020B0502040204020203" pitchFamily="34" charset="0"/>
                <a:ea typeface="+mn-ea"/>
                <a:cs typeface="+mn-cs"/>
              </a:rPr>
              <a:t>خالد احمد المسيعديين:</a:t>
            </a:r>
            <a:r>
              <a:rPr lang="en-US" sz="1800" kern="1200" dirty="0">
                <a:solidFill>
                  <a:schemeClr val="tx1"/>
                </a:solidFill>
                <a:effectLst/>
                <a:latin typeface="Segoe UI" panose="020B0502040204020203" pitchFamily="34" charset="0"/>
                <a:ea typeface="+mn-ea"/>
                <a:cs typeface="+mn-cs"/>
              </a:rPr>
              <a:t>Prepared by the student</a:t>
            </a:r>
            <a:endParaRPr lang="en-US" dirty="0">
              <a:solidFill>
                <a:schemeClr val="tx1"/>
              </a:solidFill>
            </a:endParaRPr>
          </a:p>
        </p:txBody>
      </p:sp>
      <p:sp>
        <p:nvSpPr>
          <p:cNvPr id="10" name="مستطيل 9">
            <a:extLst>
              <a:ext uri="{FF2B5EF4-FFF2-40B4-BE49-F238E27FC236}">
                <a16:creationId xmlns:a16="http://schemas.microsoft.com/office/drawing/2014/main" id="{C365380B-25F2-626E-0D8B-75FF05BA218E}"/>
              </a:ext>
            </a:extLst>
          </p:cNvPr>
          <p:cNvSpPr/>
          <p:nvPr/>
        </p:nvSpPr>
        <p:spPr>
          <a:xfrm>
            <a:off x="0" y="3114938"/>
            <a:ext cx="4780896" cy="69340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kern="1200" dirty="0">
                <a:solidFill>
                  <a:srgbClr val="FFFFFF"/>
                </a:solidFill>
                <a:effectLst/>
                <a:latin typeface="Segoe UI" panose="020B0502040204020203" pitchFamily="34" charset="0"/>
                <a:ea typeface="+mn-ea"/>
                <a:cs typeface="+mn-cs"/>
              </a:rPr>
              <a:t>Supervised by</a:t>
            </a:r>
            <a:r>
              <a:rPr lang="en-US" dirty="0">
                <a:solidFill>
                  <a:srgbClr val="FFFFFF"/>
                </a:solidFill>
                <a:latin typeface="Segoe UI" panose="020B0502040204020203" pitchFamily="34" charset="0"/>
              </a:rPr>
              <a:t>: Dr. </a:t>
            </a:r>
            <a:r>
              <a:rPr lang="en-US" b="0" i="0" dirty="0">
                <a:solidFill>
                  <a:schemeClr val="tx1"/>
                </a:solidFill>
                <a:effectLst/>
                <a:latin typeface="Helvetica" panose="020B0604020202020204" pitchFamily="34" charset="0"/>
              </a:rPr>
              <a:t>Mohammad Abdallah Almseidin</a:t>
            </a:r>
            <a:endParaRPr lang="en-US" dirty="0">
              <a:solidFill>
                <a:schemeClr val="tx1"/>
              </a:solidFill>
            </a:endParaRPr>
          </a:p>
        </p:txBody>
      </p:sp>
    </p:spTree>
    <p:extLst>
      <p:ext uri="{BB962C8B-B14F-4D97-AF65-F5344CB8AC3E}">
        <p14:creationId xmlns:p14="http://schemas.microsoft.com/office/powerpoint/2010/main" val="2403801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CC91179-3CF1-ACC2-E22E-D6A2AB10DEB3}"/>
              </a:ext>
            </a:extLst>
          </p:cNvPr>
          <p:cNvSpPr>
            <a:spLocks noGrp="1"/>
          </p:cNvSpPr>
          <p:nvPr>
            <p:ph type="title"/>
          </p:nvPr>
        </p:nvSpPr>
        <p:spPr/>
        <p:txBody>
          <a:bodyPr/>
          <a:lstStyle/>
          <a:p>
            <a:pPr algn="ctr"/>
            <a:r>
              <a:rPr lang="en-US" b="1" i="0" dirty="0">
                <a:effectLst/>
                <a:latin typeface="ui-sans-serif"/>
              </a:rPr>
              <a:t>Introduction:</a:t>
            </a:r>
            <a:r>
              <a:rPr lang="en-US" b="1" i="0" dirty="0">
                <a:solidFill>
                  <a:srgbClr val="ECECEC"/>
                </a:solidFill>
                <a:effectLst/>
                <a:latin typeface="ui-sans-serif"/>
              </a:rPr>
              <a:t> Market Basket Analysis </a:t>
            </a:r>
            <a:br>
              <a:rPr lang="en-US" b="1" i="0" dirty="0">
                <a:effectLst/>
                <a:latin typeface="ui-sans-serif"/>
              </a:rPr>
            </a:br>
            <a:endParaRPr lang="en-US" dirty="0"/>
          </a:p>
        </p:txBody>
      </p:sp>
      <p:sp>
        <p:nvSpPr>
          <p:cNvPr id="3" name="عنصر نائب للمحتوى 2">
            <a:extLst>
              <a:ext uri="{FF2B5EF4-FFF2-40B4-BE49-F238E27FC236}">
                <a16:creationId xmlns:a16="http://schemas.microsoft.com/office/drawing/2014/main" id="{CA72DC1C-A298-9382-61E4-5488201023A8}"/>
              </a:ext>
            </a:extLst>
          </p:cNvPr>
          <p:cNvSpPr>
            <a:spLocks noGrp="1"/>
          </p:cNvSpPr>
          <p:nvPr>
            <p:ph idx="1"/>
          </p:nvPr>
        </p:nvSpPr>
        <p:spPr/>
        <p:txBody>
          <a:bodyPr/>
          <a:lstStyle/>
          <a:p>
            <a:pPr marL="0" indent="0">
              <a:buNone/>
            </a:pPr>
            <a:r>
              <a:rPr lang="en-US" b="1" i="0" dirty="0">
                <a:solidFill>
                  <a:srgbClr val="ECECEC"/>
                </a:solidFill>
                <a:effectLst/>
                <a:latin typeface="ui-sans-serif"/>
              </a:rPr>
              <a:t>Overview of Market Basket Analysis (MBA):</a:t>
            </a:r>
            <a:endParaRPr lang="en-US" b="0" i="0" dirty="0">
              <a:solidFill>
                <a:srgbClr val="ECECEC"/>
              </a:solidFill>
              <a:effectLst/>
              <a:latin typeface="ui-sans-serif"/>
            </a:endParaRPr>
          </a:p>
          <a:p>
            <a:r>
              <a:rPr lang="en-US" b="0" i="0" dirty="0">
                <a:solidFill>
                  <a:srgbClr val="ECECEC"/>
                </a:solidFill>
                <a:effectLst/>
                <a:latin typeface="ui-sans-serif"/>
              </a:rPr>
              <a:t>Market Basket Analysis (MBA) is a popular data mining technique used to uncover patterns and relationships between items purchased together within transactional datasets. It is widely used in the retail industry to understand customer purchasing behavior, optimize product placement, and develop targeted marketing strategies.</a:t>
            </a:r>
          </a:p>
          <a:p>
            <a:r>
              <a:rPr lang="en-US" b="1" i="0" dirty="0">
                <a:solidFill>
                  <a:srgbClr val="ECECEC"/>
                </a:solidFill>
                <a:effectLst/>
                <a:latin typeface="ui-sans-serif"/>
              </a:rPr>
              <a:t>Importance of MBA:</a:t>
            </a:r>
            <a:endParaRPr lang="en-US" b="0" i="0" dirty="0">
              <a:solidFill>
                <a:srgbClr val="ECECEC"/>
              </a:solidFill>
              <a:effectLst/>
              <a:latin typeface="ui-sans-serif"/>
            </a:endParaRPr>
          </a:p>
          <a:p>
            <a:r>
              <a:rPr lang="en-US" sz="2000" b="1" i="0" dirty="0">
                <a:solidFill>
                  <a:srgbClr val="ECECEC"/>
                </a:solidFill>
                <a:effectLst/>
                <a:latin typeface="ui-sans-serif"/>
              </a:rPr>
              <a:t>Understanding Customer Behavior.                                        </a:t>
            </a:r>
          </a:p>
          <a:p>
            <a:r>
              <a:rPr lang="en-US" sz="2000" b="1" i="0" dirty="0">
                <a:solidFill>
                  <a:srgbClr val="ECECEC"/>
                </a:solidFill>
                <a:effectLst/>
                <a:latin typeface="ui-sans-serif"/>
              </a:rPr>
              <a:t>Optimizing Store Layout.</a:t>
            </a:r>
            <a:endParaRPr lang="en-US" sz="2800" dirty="0"/>
          </a:p>
        </p:txBody>
      </p:sp>
      <p:sp>
        <p:nvSpPr>
          <p:cNvPr id="6" name="عنصر نائب للمحتوى 2">
            <a:extLst>
              <a:ext uri="{FF2B5EF4-FFF2-40B4-BE49-F238E27FC236}">
                <a16:creationId xmlns:a16="http://schemas.microsoft.com/office/drawing/2014/main" id="{046FC9BA-368F-3C08-5C0D-C9D49EC4C62A}"/>
              </a:ext>
            </a:extLst>
          </p:cNvPr>
          <p:cNvSpPr txBox="1">
            <a:spLocks/>
          </p:cNvSpPr>
          <p:nvPr/>
        </p:nvSpPr>
        <p:spPr>
          <a:xfrm>
            <a:off x="5680172" y="4553109"/>
            <a:ext cx="6598920" cy="1623854"/>
          </a:xfrm>
          <a:prstGeom prst="rect">
            <a:avLst/>
          </a:prstGeom>
        </p:spPr>
        <p:txBody>
          <a:bodyPr lIns="109728" tIns="109728" rIns="109728" bIns="91440"/>
          <a:lstStyle>
            <a:lvl1pPr marL="228600" indent="-228600" algn="l" defTabSz="914400" rtl="0" eaLnBrk="1" latinLnBrk="0" hangingPunct="1">
              <a:lnSpc>
                <a:spcPct val="114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solidFill>
                <a:srgbClr val="ECECEC"/>
              </a:solidFill>
              <a:latin typeface="ui-sans-serif"/>
            </a:endParaRPr>
          </a:p>
          <a:p>
            <a:r>
              <a:rPr lang="en-US" sz="2000" b="1" i="0" dirty="0">
                <a:solidFill>
                  <a:srgbClr val="ECECEC"/>
                </a:solidFill>
                <a:effectLst/>
                <a:latin typeface="ui-sans-serif"/>
              </a:rPr>
              <a:t>Designing Promotions and Bundles.</a:t>
            </a:r>
          </a:p>
          <a:p>
            <a:r>
              <a:rPr lang="en-US" sz="2000" b="1" i="0" dirty="0">
                <a:solidFill>
                  <a:srgbClr val="ECECEC"/>
                </a:solidFill>
                <a:effectLst/>
                <a:latin typeface="ui-sans-serif"/>
              </a:rPr>
              <a:t>Inventory Management</a:t>
            </a:r>
            <a:r>
              <a:rPr lang="en-US" sz="2000" b="1" dirty="0">
                <a:solidFill>
                  <a:srgbClr val="ECECEC"/>
                </a:solidFill>
                <a:latin typeface="ui-sans-serif"/>
              </a:rPr>
              <a:t>.</a:t>
            </a:r>
            <a:endParaRPr lang="en-US" sz="2800" dirty="0"/>
          </a:p>
        </p:txBody>
      </p:sp>
    </p:spTree>
    <p:extLst>
      <p:ext uri="{BB962C8B-B14F-4D97-AF65-F5344CB8AC3E}">
        <p14:creationId xmlns:p14="http://schemas.microsoft.com/office/powerpoint/2010/main" val="2812346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EA9A6D8-D97B-0C75-15B9-248C45723247}"/>
              </a:ext>
            </a:extLst>
          </p:cNvPr>
          <p:cNvSpPr>
            <a:spLocks noGrp="1"/>
          </p:cNvSpPr>
          <p:nvPr>
            <p:ph type="title"/>
          </p:nvPr>
        </p:nvSpPr>
        <p:spPr/>
        <p:txBody>
          <a:bodyPr/>
          <a:lstStyle/>
          <a:p>
            <a:pPr algn="ctr"/>
            <a:r>
              <a:rPr lang="en-US" b="1" i="0" dirty="0">
                <a:effectLst/>
                <a:latin typeface="ui-sans-serif"/>
              </a:rPr>
              <a:t>Introduction:</a:t>
            </a:r>
            <a:r>
              <a:rPr lang="en-US" b="0" i="0" dirty="0">
                <a:solidFill>
                  <a:srgbClr val="ECECEC"/>
                </a:solidFill>
                <a:effectLst/>
                <a:latin typeface="ui-sans-serif"/>
              </a:rPr>
              <a:t> </a:t>
            </a:r>
            <a:r>
              <a:rPr lang="en-US" i="0" dirty="0">
                <a:solidFill>
                  <a:srgbClr val="ECECEC"/>
                </a:solidFill>
                <a:effectLst/>
                <a:latin typeface="ui-sans-serif"/>
              </a:rPr>
              <a:t>Apriori algorithm</a:t>
            </a:r>
            <a:endParaRPr lang="en-US" dirty="0"/>
          </a:p>
        </p:txBody>
      </p:sp>
      <p:sp>
        <p:nvSpPr>
          <p:cNvPr id="3" name="عنصر نائب للمحتوى 2">
            <a:extLst>
              <a:ext uri="{FF2B5EF4-FFF2-40B4-BE49-F238E27FC236}">
                <a16:creationId xmlns:a16="http://schemas.microsoft.com/office/drawing/2014/main" id="{A2FD97FC-6B8E-45A1-5FAD-949E59BF1081}"/>
              </a:ext>
            </a:extLst>
          </p:cNvPr>
          <p:cNvSpPr>
            <a:spLocks noGrp="1"/>
          </p:cNvSpPr>
          <p:nvPr>
            <p:ph idx="1"/>
          </p:nvPr>
        </p:nvSpPr>
        <p:spPr/>
        <p:txBody>
          <a:bodyPr/>
          <a:lstStyle/>
          <a:p>
            <a:r>
              <a:rPr lang="en-US" b="0" i="0" dirty="0">
                <a:solidFill>
                  <a:srgbClr val="ECECEC"/>
                </a:solidFill>
                <a:effectLst/>
                <a:latin typeface="ui-sans-serif"/>
              </a:rPr>
              <a:t>The Apriori algorithm is a foundational data mining technique used to identify frequent itemsets and derive association rules from large datasets. It is widely employed in Market Basket Analysis to uncover relationships between items that are frequently bought together.</a:t>
            </a:r>
          </a:p>
          <a:p>
            <a:pPr marL="0" indent="0">
              <a:buNone/>
            </a:pPr>
            <a:r>
              <a:rPr lang="en-US" b="1" i="0" dirty="0">
                <a:solidFill>
                  <a:srgbClr val="ECECEC"/>
                </a:solidFill>
                <a:effectLst/>
                <a:latin typeface="ui-sans-serif"/>
              </a:rPr>
              <a:t>Applications of the Apriori Algorithm:</a:t>
            </a:r>
            <a:endParaRPr lang="en-US" b="0" i="0" dirty="0">
              <a:solidFill>
                <a:srgbClr val="ECECEC"/>
              </a:solidFill>
              <a:effectLst/>
              <a:latin typeface="ui-sans-serif"/>
            </a:endParaRPr>
          </a:p>
          <a:p>
            <a:r>
              <a:rPr lang="en-US" i="0" dirty="0">
                <a:solidFill>
                  <a:srgbClr val="ECECEC"/>
                </a:solidFill>
                <a:effectLst/>
                <a:latin typeface="ui-sans-serif"/>
              </a:rPr>
              <a:t>E-commerce Recommendation Systems:</a:t>
            </a:r>
          </a:p>
          <a:p>
            <a:pPr marL="0" indent="0">
              <a:buNone/>
            </a:pPr>
            <a:r>
              <a:rPr lang="en-US" b="1" i="0" dirty="0">
                <a:solidFill>
                  <a:srgbClr val="ECECEC"/>
                </a:solidFill>
                <a:effectLst/>
                <a:latin typeface="ui-sans-serif"/>
              </a:rPr>
              <a:t>Objective</a:t>
            </a:r>
            <a:r>
              <a:rPr lang="en-US" b="0" i="0" dirty="0">
                <a:solidFill>
                  <a:srgbClr val="ECECEC"/>
                </a:solidFill>
                <a:effectLst/>
                <a:latin typeface="ui-sans-serif"/>
              </a:rPr>
              <a:t>: Suggest products to customers based on their browsing and purchasing history.</a:t>
            </a:r>
          </a:p>
          <a:p>
            <a:pPr marL="0" indent="0">
              <a:buNone/>
            </a:pPr>
            <a:r>
              <a:rPr lang="en-US" b="1" i="0" dirty="0">
                <a:solidFill>
                  <a:srgbClr val="ECECEC"/>
                </a:solidFill>
                <a:effectLst/>
                <a:latin typeface="ui-sans-serif"/>
              </a:rPr>
              <a:t>Example: </a:t>
            </a:r>
            <a:r>
              <a:rPr lang="en-US" b="0" i="0" dirty="0">
                <a:solidFill>
                  <a:srgbClr val="ECECEC"/>
                </a:solidFill>
                <a:effectLst/>
                <a:latin typeface="ui-sans-serif"/>
              </a:rPr>
              <a:t>An online bookstore might recommend additional books to a customer based on books frequently bought together.</a:t>
            </a:r>
          </a:p>
          <a:p>
            <a:pPr marL="0" indent="0">
              <a:buNone/>
            </a:pPr>
            <a:endParaRPr lang="en-US" sz="1600" b="0" i="0" dirty="0">
              <a:solidFill>
                <a:srgbClr val="ECECEC"/>
              </a:solidFill>
              <a:effectLst/>
              <a:latin typeface="ui-sans-serif"/>
            </a:endParaRPr>
          </a:p>
          <a:p>
            <a:pPr marL="0" indent="0">
              <a:buNone/>
            </a:pPr>
            <a:endParaRPr lang="en-US" sz="2000" dirty="0">
              <a:solidFill>
                <a:srgbClr val="ECECEC"/>
              </a:solidFill>
              <a:latin typeface="ui-sans-serif"/>
            </a:endParaRPr>
          </a:p>
          <a:p>
            <a:endParaRPr lang="en-US" dirty="0">
              <a:solidFill>
                <a:srgbClr val="ECECEC"/>
              </a:solidFill>
              <a:latin typeface="ui-sans-serif"/>
            </a:endParaRPr>
          </a:p>
        </p:txBody>
      </p:sp>
    </p:spTree>
    <p:extLst>
      <p:ext uri="{BB962C8B-B14F-4D97-AF65-F5344CB8AC3E}">
        <p14:creationId xmlns:p14="http://schemas.microsoft.com/office/powerpoint/2010/main" val="3505259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17D158B-1344-93D6-2402-E110C760BBDF}"/>
              </a:ext>
            </a:extLst>
          </p:cNvPr>
          <p:cNvSpPr>
            <a:spLocks noGrp="1"/>
          </p:cNvSpPr>
          <p:nvPr>
            <p:ph type="title"/>
          </p:nvPr>
        </p:nvSpPr>
        <p:spPr/>
        <p:txBody>
          <a:bodyPr/>
          <a:lstStyle/>
          <a:p>
            <a:pPr algn="ctr"/>
            <a:r>
              <a:rPr lang="en-US" b="1" i="0" dirty="0">
                <a:solidFill>
                  <a:srgbClr val="ECECEC"/>
                </a:solidFill>
                <a:effectLst/>
                <a:latin typeface="ui-sans-serif"/>
              </a:rPr>
              <a:t>Applications of the Apriori Algorithm</a:t>
            </a:r>
            <a:br>
              <a:rPr lang="en-US" b="1" i="0" dirty="0">
                <a:solidFill>
                  <a:srgbClr val="ECECEC"/>
                </a:solidFill>
                <a:effectLst/>
                <a:highlight>
                  <a:srgbClr val="212121"/>
                </a:highlight>
                <a:latin typeface="ui-sans-serif"/>
              </a:rPr>
            </a:br>
            <a:endParaRPr lang="en-US" dirty="0"/>
          </a:p>
        </p:txBody>
      </p:sp>
      <p:sp>
        <p:nvSpPr>
          <p:cNvPr id="3" name="عنصر نائب للمحتوى 2">
            <a:extLst>
              <a:ext uri="{FF2B5EF4-FFF2-40B4-BE49-F238E27FC236}">
                <a16:creationId xmlns:a16="http://schemas.microsoft.com/office/drawing/2014/main" id="{568567BA-EB03-588D-EA50-5BA0F297FC92}"/>
              </a:ext>
            </a:extLst>
          </p:cNvPr>
          <p:cNvSpPr>
            <a:spLocks noGrp="1"/>
          </p:cNvSpPr>
          <p:nvPr>
            <p:ph idx="1"/>
          </p:nvPr>
        </p:nvSpPr>
        <p:spPr>
          <a:xfrm>
            <a:off x="838200" y="1681932"/>
            <a:ext cx="10515600" cy="4351338"/>
          </a:xfrm>
        </p:spPr>
        <p:txBody>
          <a:bodyPr/>
          <a:lstStyle/>
          <a:p>
            <a:r>
              <a:rPr lang="en-US" b="1" i="0" dirty="0">
                <a:solidFill>
                  <a:srgbClr val="ECECEC"/>
                </a:solidFill>
                <a:effectLst/>
                <a:latin typeface="ui-sans-serif"/>
              </a:rPr>
              <a:t>Fraud Detection:</a:t>
            </a:r>
          </a:p>
          <a:p>
            <a:pPr marL="0" indent="0">
              <a:buNone/>
            </a:pPr>
            <a:r>
              <a:rPr lang="en-US" b="1" i="0" dirty="0">
                <a:solidFill>
                  <a:srgbClr val="ECECEC"/>
                </a:solidFill>
                <a:effectLst/>
                <a:latin typeface="ui-sans-serif"/>
              </a:rPr>
              <a:t>Objective</a:t>
            </a:r>
            <a:r>
              <a:rPr lang="en-US" b="0" i="0" dirty="0">
                <a:solidFill>
                  <a:srgbClr val="ECECEC"/>
                </a:solidFill>
                <a:effectLst/>
                <a:latin typeface="ui-sans-serif"/>
              </a:rPr>
              <a:t>: Identify patterns indicative of fraudulent activity.</a:t>
            </a:r>
          </a:p>
          <a:p>
            <a:pPr marL="0" indent="0">
              <a:buNone/>
            </a:pPr>
            <a:r>
              <a:rPr lang="en-US" b="1" i="0" dirty="0">
                <a:solidFill>
                  <a:srgbClr val="ECECEC"/>
                </a:solidFill>
                <a:effectLst/>
                <a:latin typeface="ui-sans-serif"/>
              </a:rPr>
              <a:t>Example</a:t>
            </a:r>
            <a:r>
              <a:rPr lang="en-US" b="0" i="0" dirty="0">
                <a:solidFill>
                  <a:srgbClr val="ECECEC"/>
                </a:solidFill>
                <a:effectLst/>
                <a:latin typeface="ui-sans-serif"/>
              </a:rPr>
              <a:t>: In financial transactions, certain combinations of transactions that occur together might signal fraudulent behavior, helping banks and financial institutions detect and prevent fraud.</a:t>
            </a:r>
          </a:p>
          <a:p>
            <a:r>
              <a:rPr lang="en-US" b="1" i="0" dirty="0">
                <a:solidFill>
                  <a:srgbClr val="ECECEC"/>
                </a:solidFill>
                <a:effectLst/>
                <a:latin typeface="ui-sans-serif"/>
              </a:rPr>
              <a:t>Healthcare and Bioinformatics:</a:t>
            </a:r>
          </a:p>
          <a:p>
            <a:r>
              <a:rPr lang="en-US" b="1" i="0" dirty="0">
                <a:solidFill>
                  <a:srgbClr val="ECECEC"/>
                </a:solidFill>
                <a:effectLst/>
                <a:latin typeface="ui-sans-serif"/>
              </a:rPr>
              <a:t>Objective</a:t>
            </a:r>
            <a:r>
              <a:rPr lang="en-US" b="0" i="0" dirty="0">
                <a:solidFill>
                  <a:srgbClr val="ECECEC"/>
                </a:solidFill>
                <a:effectLst/>
                <a:latin typeface="ui-sans-serif"/>
              </a:rPr>
              <a:t>: Discover associations between symptoms, diagnoses, and treatments.</a:t>
            </a:r>
          </a:p>
          <a:p>
            <a:r>
              <a:rPr lang="en-US" b="1" i="0" dirty="0">
                <a:solidFill>
                  <a:srgbClr val="ECECEC"/>
                </a:solidFill>
                <a:effectLst/>
                <a:latin typeface="ui-sans-serif"/>
              </a:rPr>
              <a:t>Example</a:t>
            </a:r>
            <a:r>
              <a:rPr lang="en-US" b="0" i="0" dirty="0">
                <a:solidFill>
                  <a:srgbClr val="ECECEC"/>
                </a:solidFill>
                <a:effectLst/>
                <a:latin typeface="ui-sans-serif"/>
              </a:rPr>
              <a:t>: In healthcare, analyzing patient records to find common co-occurrences of symptoms can help in early diagnosis and treatment planning. In bioinformatics, it can help identify associations between genes and diseases.</a:t>
            </a:r>
          </a:p>
        </p:txBody>
      </p:sp>
    </p:spTree>
    <p:extLst>
      <p:ext uri="{BB962C8B-B14F-4D97-AF65-F5344CB8AC3E}">
        <p14:creationId xmlns:p14="http://schemas.microsoft.com/office/powerpoint/2010/main" val="2530018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FCFCCEF-77BD-B1CB-4CBC-C89BA1441C30}"/>
              </a:ext>
            </a:extLst>
          </p:cNvPr>
          <p:cNvSpPr>
            <a:spLocks noGrp="1"/>
          </p:cNvSpPr>
          <p:nvPr>
            <p:ph type="title"/>
          </p:nvPr>
        </p:nvSpPr>
        <p:spPr/>
        <p:txBody>
          <a:bodyPr/>
          <a:lstStyle/>
          <a:p>
            <a:pPr algn="ctr"/>
            <a:r>
              <a:rPr lang="en-US" b="1" i="0" dirty="0">
                <a:solidFill>
                  <a:srgbClr val="ECECEC"/>
                </a:solidFill>
                <a:effectLst/>
                <a:latin typeface="ui-sans-serif"/>
              </a:rPr>
              <a:t>Applications of the Apriori Algorithm</a:t>
            </a:r>
            <a:br>
              <a:rPr lang="en-US" b="1" i="0" dirty="0">
                <a:solidFill>
                  <a:srgbClr val="ECECEC"/>
                </a:solidFill>
                <a:effectLst/>
                <a:highlight>
                  <a:srgbClr val="212121"/>
                </a:highlight>
                <a:latin typeface="ui-sans-serif"/>
              </a:rPr>
            </a:br>
            <a:endParaRPr lang="en-US" dirty="0"/>
          </a:p>
        </p:txBody>
      </p:sp>
      <p:sp>
        <p:nvSpPr>
          <p:cNvPr id="3" name="عنصر نائب للمحتوى 2">
            <a:extLst>
              <a:ext uri="{FF2B5EF4-FFF2-40B4-BE49-F238E27FC236}">
                <a16:creationId xmlns:a16="http://schemas.microsoft.com/office/drawing/2014/main" id="{54BB3662-8027-F75C-09E9-1E40D31BC2B0}"/>
              </a:ext>
            </a:extLst>
          </p:cNvPr>
          <p:cNvSpPr>
            <a:spLocks noGrp="1"/>
          </p:cNvSpPr>
          <p:nvPr>
            <p:ph idx="1"/>
          </p:nvPr>
        </p:nvSpPr>
        <p:spPr>
          <a:xfrm>
            <a:off x="838200" y="1446798"/>
            <a:ext cx="10515600" cy="4351338"/>
          </a:xfrm>
        </p:spPr>
        <p:txBody>
          <a:bodyPr/>
          <a:lstStyle/>
          <a:p>
            <a:r>
              <a:rPr lang="en-US" b="1" i="0" dirty="0">
                <a:effectLst/>
                <a:latin typeface="ui-sans-serif"/>
              </a:rPr>
              <a:t>Education:</a:t>
            </a:r>
          </a:p>
          <a:p>
            <a:pPr marL="0" indent="0">
              <a:buNone/>
            </a:pPr>
            <a:r>
              <a:rPr lang="en-US" b="1" i="0" dirty="0">
                <a:effectLst/>
                <a:latin typeface="ui-sans-serif"/>
              </a:rPr>
              <a:t>Objective</a:t>
            </a:r>
            <a:r>
              <a:rPr lang="en-US" b="0" i="0" dirty="0">
                <a:effectLst/>
                <a:latin typeface="ui-sans-serif"/>
              </a:rPr>
              <a:t>: Analyze student behavior and performance patterns.</a:t>
            </a:r>
          </a:p>
          <a:p>
            <a:pPr marL="0" indent="0">
              <a:buNone/>
            </a:pPr>
            <a:r>
              <a:rPr lang="en-US" b="1" i="0" dirty="0">
                <a:effectLst/>
                <a:latin typeface="ui-sans-serif"/>
              </a:rPr>
              <a:t>Example</a:t>
            </a:r>
            <a:r>
              <a:rPr lang="en-US" b="0" i="0" dirty="0">
                <a:effectLst/>
                <a:latin typeface="ui-sans-serif"/>
              </a:rPr>
              <a:t>: Educational institutions can use the Apriori algorithm to find patterns in course enrollment and performance, helping to design better curricula and support systems.</a:t>
            </a:r>
            <a:endParaRPr lang="en-US" b="1" dirty="0">
              <a:latin typeface="ui-sans-serif"/>
            </a:endParaRPr>
          </a:p>
          <a:p>
            <a:r>
              <a:rPr lang="en-US" b="1" i="0" dirty="0">
                <a:effectLst/>
                <a:latin typeface="ui-sans-serif"/>
              </a:rPr>
              <a:t>Insurance:</a:t>
            </a:r>
          </a:p>
          <a:p>
            <a:pPr marL="0" indent="0">
              <a:buNone/>
            </a:pPr>
            <a:r>
              <a:rPr lang="en-US" b="1" i="0" dirty="0">
                <a:effectLst/>
                <a:latin typeface="ui-sans-serif"/>
              </a:rPr>
              <a:t>Objective</a:t>
            </a:r>
            <a:r>
              <a:rPr lang="en-US" b="0" i="0" dirty="0">
                <a:effectLst/>
                <a:latin typeface="ui-sans-serif"/>
              </a:rPr>
              <a:t>: Identify patterns in claims to detect fraudulent claims and optimize policy offerings.</a:t>
            </a:r>
          </a:p>
          <a:p>
            <a:pPr marL="0" indent="0">
              <a:buNone/>
            </a:pPr>
            <a:r>
              <a:rPr lang="en-US" b="1" i="0" dirty="0">
                <a:effectLst/>
                <a:latin typeface="ui-sans-serif"/>
              </a:rPr>
              <a:t>Example</a:t>
            </a:r>
            <a:r>
              <a:rPr lang="en-US" b="0" i="0" dirty="0">
                <a:effectLst/>
                <a:latin typeface="ui-sans-serif"/>
              </a:rPr>
              <a:t>: Insurance companies can analyze claim data to find suspicious patterns that indicate fraud or to offer bundled insurance products that meet customer needs.</a:t>
            </a:r>
          </a:p>
        </p:txBody>
      </p:sp>
    </p:spTree>
    <p:extLst>
      <p:ext uri="{BB962C8B-B14F-4D97-AF65-F5344CB8AC3E}">
        <p14:creationId xmlns:p14="http://schemas.microsoft.com/office/powerpoint/2010/main" val="910603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02CFFE6-D96E-922D-3092-2066519950C0}"/>
              </a:ext>
            </a:extLst>
          </p:cNvPr>
          <p:cNvSpPr>
            <a:spLocks noGrp="1"/>
          </p:cNvSpPr>
          <p:nvPr>
            <p:ph type="title"/>
          </p:nvPr>
        </p:nvSpPr>
        <p:spPr>
          <a:xfrm>
            <a:off x="838200" y="-639"/>
            <a:ext cx="10515600" cy="1325563"/>
          </a:xfrm>
        </p:spPr>
        <p:txBody>
          <a:bodyPr/>
          <a:lstStyle/>
          <a:p>
            <a:pPr algn="ctr"/>
            <a:r>
              <a:rPr lang="en-US" b="1" i="0" dirty="0">
                <a:solidFill>
                  <a:srgbClr val="ECECEC"/>
                </a:solidFill>
                <a:effectLst/>
                <a:latin typeface="ui-sans-serif"/>
              </a:rPr>
              <a:t>Methodology</a:t>
            </a:r>
            <a:endParaRPr lang="en-US" dirty="0"/>
          </a:p>
        </p:txBody>
      </p:sp>
      <p:sp>
        <p:nvSpPr>
          <p:cNvPr id="3" name="عنصر نائب للمحتوى 2">
            <a:extLst>
              <a:ext uri="{FF2B5EF4-FFF2-40B4-BE49-F238E27FC236}">
                <a16:creationId xmlns:a16="http://schemas.microsoft.com/office/drawing/2014/main" id="{4B8E2B4F-2CA7-876E-FC45-97671FB7D313}"/>
              </a:ext>
            </a:extLst>
          </p:cNvPr>
          <p:cNvSpPr>
            <a:spLocks noGrp="1"/>
          </p:cNvSpPr>
          <p:nvPr>
            <p:ph idx="1"/>
          </p:nvPr>
        </p:nvSpPr>
        <p:spPr>
          <a:xfrm>
            <a:off x="838200" y="1316168"/>
            <a:ext cx="10515600" cy="4351338"/>
          </a:xfrm>
        </p:spPr>
        <p:txBody>
          <a:bodyPr/>
          <a:lstStyle/>
          <a:p>
            <a:r>
              <a:rPr lang="en-US" b="1" i="0" dirty="0">
                <a:solidFill>
                  <a:srgbClr val="ECECEC"/>
                </a:solidFill>
                <a:effectLst/>
                <a:latin typeface="ui-sans-serif"/>
              </a:rPr>
              <a:t>Data Collection:</a:t>
            </a:r>
          </a:p>
          <a:p>
            <a:pPr marL="0" indent="0">
              <a:buNone/>
            </a:pPr>
            <a:r>
              <a:rPr lang="en-US" b="0" i="0" dirty="0">
                <a:solidFill>
                  <a:srgbClr val="ECECEC"/>
                </a:solidFill>
                <a:effectLst/>
                <a:latin typeface="ui-sans-serif"/>
              </a:rPr>
              <a:t>Description of the dataset (electronic accessories transactions).</a:t>
            </a:r>
            <a:endParaRPr lang="en-US" b="1" i="0" dirty="0">
              <a:solidFill>
                <a:srgbClr val="ECECEC"/>
              </a:solidFill>
              <a:effectLst/>
              <a:latin typeface="ui-sans-serif"/>
            </a:endParaRPr>
          </a:p>
          <a:p>
            <a:r>
              <a:rPr lang="en-US" b="1" i="0" dirty="0">
                <a:solidFill>
                  <a:srgbClr val="ECECEC"/>
                </a:solidFill>
                <a:effectLst/>
                <a:latin typeface="ui-sans-serif"/>
              </a:rPr>
              <a:t>Data Preprocessing</a:t>
            </a:r>
            <a:r>
              <a:rPr lang="en-US" b="1" dirty="0">
                <a:solidFill>
                  <a:srgbClr val="ECECEC"/>
                </a:solidFill>
                <a:latin typeface="ui-sans-serif"/>
              </a:rPr>
              <a:t>:</a:t>
            </a:r>
          </a:p>
          <a:p>
            <a:pPr marL="0" indent="0">
              <a:buNone/>
            </a:pPr>
            <a:r>
              <a:rPr lang="en-US" dirty="0">
                <a:solidFill>
                  <a:srgbClr val="ECECEC"/>
                </a:solidFill>
                <a:latin typeface="ui-sans-serif"/>
              </a:rPr>
              <a:t>1. Loading data from CSV.</a:t>
            </a:r>
          </a:p>
          <a:p>
            <a:pPr marL="0" indent="0">
              <a:buNone/>
            </a:pPr>
            <a:r>
              <a:rPr lang="en-US" dirty="0">
                <a:solidFill>
                  <a:srgbClr val="ECECEC"/>
                </a:solidFill>
                <a:latin typeface="ui-sans-serif"/>
              </a:rPr>
              <a:t>2. Cleaning and preparing the dataset.</a:t>
            </a:r>
            <a:endParaRPr lang="en-US" b="1" dirty="0">
              <a:solidFill>
                <a:srgbClr val="ECECEC"/>
              </a:solidFill>
              <a:latin typeface="ui-sans-serif"/>
            </a:endParaRPr>
          </a:p>
          <a:p>
            <a:r>
              <a:rPr lang="en-US" b="1" i="0" dirty="0">
                <a:solidFill>
                  <a:srgbClr val="ECECEC"/>
                </a:solidFill>
                <a:effectLst/>
                <a:latin typeface="ui-sans-serif"/>
              </a:rPr>
              <a:t>Apriori Algorithm Steps:</a:t>
            </a:r>
          </a:p>
          <a:p>
            <a:r>
              <a:rPr lang="en-US" b="1" i="0" dirty="0">
                <a:solidFill>
                  <a:srgbClr val="ECECEC"/>
                </a:solidFill>
                <a:effectLst/>
                <a:latin typeface="ui-sans-serif"/>
              </a:rPr>
              <a:t>Step 1</a:t>
            </a:r>
            <a:r>
              <a:rPr lang="en-US" b="0" i="0" dirty="0">
                <a:solidFill>
                  <a:srgbClr val="ECECEC"/>
                </a:solidFill>
                <a:effectLst/>
                <a:latin typeface="ui-sans-serif"/>
              </a:rPr>
              <a:t>: Generate initial candidate itemsets (C1).</a:t>
            </a:r>
          </a:p>
          <a:p>
            <a:r>
              <a:rPr lang="en-US" b="1" i="0" dirty="0">
                <a:solidFill>
                  <a:srgbClr val="ECECEC"/>
                </a:solidFill>
                <a:effectLst/>
                <a:latin typeface="ui-sans-serif"/>
              </a:rPr>
              <a:t>Step 2</a:t>
            </a:r>
            <a:r>
              <a:rPr lang="en-US" b="0" i="0" dirty="0">
                <a:solidFill>
                  <a:srgbClr val="ECECEC"/>
                </a:solidFill>
                <a:effectLst/>
                <a:latin typeface="ui-sans-serif"/>
              </a:rPr>
              <a:t>: Scan dataset to calculate support.</a:t>
            </a:r>
          </a:p>
          <a:p>
            <a:r>
              <a:rPr lang="en-US" b="1" i="0" dirty="0">
                <a:solidFill>
                  <a:srgbClr val="ECECEC"/>
                </a:solidFill>
                <a:effectLst/>
                <a:latin typeface="ui-sans-serif"/>
              </a:rPr>
              <a:t>Step 3</a:t>
            </a:r>
            <a:r>
              <a:rPr lang="en-US" b="0" i="0" dirty="0">
                <a:solidFill>
                  <a:srgbClr val="ECECEC"/>
                </a:solidFill>
                <a:effectLst/>
                <a:latin typeface="ui-sans-serif"/>
              </a:rPr>
              <a:t>: Filter candidates based on minimum support.</a:t>
            </a:r>
          </a:p>
          <a:p>
            <a:r>
              <a:rPr lang="en-US" b="1" i="0" dirty="0">
                <a:solidFill>
                  <a:srgbClr val="ECECEC"/>
                </a:solidFill>
                <a:effectLst/>
                <a:latin typeface="ui-sans-serif"/>
              </a:rPr>
              <a:t>Step 4</a:t>
            </a:r>
            <a:r>
              <a:rPr lang="en-US" b="0" i="0" dirty="0">
                <a:solidFill>
                  <a:srgbClr val="ECECEC"/>
                </a:solidFill>
                <a:effectLst/>
                <a:latin typeface="ui-sans-serif"/>
              </a:rPr>
              <a:t>: Generate new candidates (Ck) and repeat.</a:t>
            </a:r>
          </a:p>
          <a:p>
            <a:endParaRPr lang="en-US" b="1" i="0" dirty="0">
              <a:effectLst/>
              <a:latin typeface="ui-sans-serif"/>
            </a:endParaRPr>
          </a:p>
        </p:txBody>
      </p:sp>
    </p:spTree>
    <p:extLst>
      <p:ext uri="{BB962C8B-B14F-4D97-AF65-F5344CB8AC3E}">
        <p14:creationId xmlns:p14="http://schemas.microsoft.com/office/powerpoint/2010/main" val="3007555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7DE59BC-399A-08DD-0E09-4AFAA6F96D87}"/>
              </a:ext>
            </a:extLst>
          </p:cNvPr>
          <p:cNvSpPr>
            <a:spLocks noGrp="1"/>
          </p:cNvSpPr>
          <p:nvPr>
            <p:ph type="title"/>
          </p:nvPr>
        </p:nvSpPr>
        <p:spPr/>
        <p:txBody>
          <a:bodyPr/>
          <a:lstStyle/>
          <a:p>
            <a:pPr algn="ctr"/>
            <a:r>
              <a:rPr lang="en-US" b="1" i="0" dirty="0">
                <a:solidFill>
                  <a:srgbClr val="ECECEC"/>
                </a:solidFill>
                <a:effectLst/>
                <a:latin typeface="ui-sans-serif"/>
              </a:rPr>
              <a:t>Implementation</a:t>
            </a:r>
            <a:endParaRPr lang="en-US" dirty="0"/>
          </a:p>
        </p:txBody>
      </p:sp>
      <p:sp>
        <p:nvSpPr>
          <p:cNvPr id="3" name="عنصر نائب للمحتوى 2">
            <a:extLst>
              <a:ext uri="{FF2B5EF4-FFF2-40B4-BE49-F238E27FC236}">
                <a16:creationId xmlns:a16="http://schemas.microsoft.com/office/drawing/2014/main" id="{2539AE29-2AFD-E886-75E7-1A020CB997C6}"/>
              </a:ext>
            </a:extLst>
          </p:cNvPr>
          <p:cNvSpPr>
            <a:spLocks noGrp="1"/>
          </p:cNvSpPr>
          <p:nvPr>
            <p:ph idx="1"/>
          </p:nvPr>
        </p:nvSpPr>
        <p:spPr>
          <a:xfrm>
            <a:off x="838200" y="1708058"/>
            <a:ext cx="10515600" cy="4351338"/>
          </a:xfrm>
        </p:spPr>
        <p:txBody>
          <a:bodyPr/>
          <a:lstStyle/>
          <a:p>
            <a:r>
              <a:rPr lang="en-US"/>
              <a:t>Generate the dataset (Add a personal)</a:t>
            </a:r>
            <a:r>
              <a:rPr lang="ar-JO"/>
              <a:t>:</a:t>
            </a:r>
            <a:endParaRPr lang="en-US"/>
          </a:p>
          <a:p>
            <a:pPr marL="0" indent="0">
              <a:buNone/>
            </a:pPr>
            <a:r>
              <a:rPr lang="en-US"/>
              <a:t>My dataset was generated by dependence on this base dataset:</a:t>
            </a:r>
          </a:p>
          <a:p>
            <a:pPr marL="0" indent="0">
              <a:buNone/>
            </a:pPr>
            <a:r>
              <a:rPr lang="en-US" sz="1400">
                <a:solidFill>
                  <a:srgbClr val="CCCCCC"/>
                </a:solidFill>
                <a:latin typeface="Consolas" panose="020B0609020204030204" pitchFamily="49" charset="0"/>
              </a:rPr>
              <a:t>Base dataset=</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'phone case'</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'screen protector'</a:t>
            </a:r>
            <a:r>
              <a:rPr lang="en-US" sz="1400" b="0">
                <a:solidFill>
                  <a:srgbClr val="CCCCCC"/>
                </a:solidFill>
                <a:effectLst/>
                <a:latin typeface="Consolas" panose="020B0609020204030204" pitchFamily="49" charset="0"/>
              </a:rPr>
              <a:t>],</a:t>
            </a:r>
          </a:p>
          <a:p>
            <a:pPr marL="0" indent="0">
              <a:buNone/>
            </a:pP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'laptop charger'</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'USB cable'</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'wireless mouse'</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'keyboard'</a:t>
            </a:r>
            <a:r>
              <a:rPr lang="en-US" sz="1400" b="0">
                <a:solidFill>
                  <a:srgbClr val="CCCCCC"/>
                </a:solidFill>
                <a:effectLst/>
                <a:latin typeface="Consolas" panose="020B0609020204030204" pitchFamily="49" charset="0"/>
              </a:rPr>
              <a:t>],</a:t>
            </a:r>
          </a:p>
          <a:p>
            <a:pPr marL="0" indent="0">
              <a:buNone/>
            </a:pP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'phone case'</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'USB cable'</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'power bank'</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'headphones'</a:t>
            </a:r>
            <a:r>
              <a:rPr lang="en-US" sz="1400" b="0">
                <a:solidFill>
                  <a:srgbClr val="CCCCCC"/>
                </a:solidFill>
                <a:effectLst/>
                <a:latin typeface="Consolas" panose="020B0609020204030204" pitchFamily="49" charset="0"/>
              </a:rPr>
              <a:t>],</a:t>
            </a:r>
          </a:p>
          <a:p>
            <a:pPr marL="0" indent="0">
              <a:buNone/>
            </a:pP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'screen protector'</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'laptop charger'</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'wireless mouse'</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'phone stand'</a:t>
            </a:r>
            <a:r>
              <a:rPr lang="en-US" sz="1400" b="0">
                <a:solidFill>
                  <a:srgbClr val="CCCCCC"/>
                </a:solidFill>
                <a:effectLst/>
                <a:latin typeface="Consolas" panose="020B0609020204030204" pitchFamily="49" charset="0"/>
              </a:rPr>
              <a:t>],</a:t>
            </a:r>
          </a:p>
          <a:p>
            <a:pPr marL="0" indent="0">
              <a:buNone/>
            </a:pP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'phone case'</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'screen protector'</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'power bank'</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'headphones’</a:t>
            </a:r>
            <a:r>
              <a:rPr lang="en-US" sz="1400" b="0">
                <a:solidFill>
                  <a:srgbClr val="CCCCCC"/>
                </a:solidFill>
                <a:effectLst/>
                <a:latin typeface="Consolas" panose="020B0609020204030204" pitchFamily="49" charset="0"/>
              </a:rPr>
              <a:t>]</a:t>
            </a:r>
          </a:p>
          <a:p>
            <a:r>
              <a:rPr lang="en-US" sz="1400" b="0">
                <a:solidFill>
                  <a:srgbClr val="CCCCCC"/>
                </a:solidFill>
                <a:effectLst/>
                <a:latin typeface="Consolas" panose="020B0609020204030204" pitchFamily="49" charset="0"/>
              </a:rPr>
              <a:t>All items:</a:t>
            </a:r>
            <a:r>
              <a:rPr lang="en-US" sz="1400" b="0">
                <a:solidFill>
                  <a:srgbClr val="9CDCFE"/>
                </a:solidFill>
                <a:effectLst/>
                <a:latin typeface="Consolas" panose="020B0609020204030204" pitchFamily="49" charset="0"/>
              </a:rPr>
              <a:t>items</a:t>
            </a:r>
            <a:r>
              <a:rPr lang="en-US" sz="1400" b="0">
                <a:solidFill>
                  <a:srgbClr val="CCCCCC"/>
                </a:solidFill>
                <a:effectLst/>
                <a:latin typeface="Consolas" panose="020B0609020204030204" pitchFamily="49" charset="0"/>
              </a:rPr>
              <a:t> </a:t>
            </a:r>
            <a:r>
              <a:rPr lang="en-US" sz="1400" b="0">
                <a:solidFill>
                  <a:srgbClr val="D4D4D4"/>
                </a:solidFill>
                <a:effectLst/>
                <a:latin typeface="Consolas" panose="020B0609020204030204" pitchFamily="49" charset="0"/>
              </a:rPr>
              <a:t>=</a:t>
            </a:r>
            <a:r>
              <a:rPr lang="en-US" sz="1400" b="0">
                <a:solidFill>
                  <a:srgbClr val="CCCCCC"/>
                </a:solidFill>
                <a:effectLst/>
                <a:latin typeface="Consolas" panose="020B0609020204030204" pitchFamily="49" charset="0"/>
              </a:rPr>
              <a:t> [</a:t>
            </a:r>
          </a:p>
          <a:p>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'phone case'</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'screen protector'</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'laptop charger'</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'USB cable'</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'wireless mouse'</a:t>
            </a:r>
            <a:r>
              <a:rPr lang="en-US" sz="1400" b="0">
                <a:solidFill>
                  <a:srgbClr val="CCCCCC"/>
                </a:solidFill>
                <a:effectLst/>
                <a:latin typeface="Consolas" panose="020B0609020204030204" pitchFamily="49" charset="0"/>
              </a:rPr>
              <a:t>,</a:t>
            </a:r>
          </a:p>
          <a:p>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'keyboard'</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'power bank'</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'headphones'</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'phone stand'</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'tablet cover'</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'Bluetooth speaker'</a:t>
            </a:r>
            <a:r>
              <a:rPr lang="en-US" sz="1400" b="0">
                <a:solidFill>
                  <a:srgbClr val="CCCCCC"/>
                </a:solidFill>
                <a:effectLst/>
                <a:latin typeface="Consolas" panose="020B0609020204030204" pitchFamily="49" charset="0"/>
              </a:rPr>
              <a:t>, </a:t>
            </a:r>
            <a:r>
              <a:rPr lang="en-US" sz="1400" b="0">
                <a:solidFill>
                  <a:srgbClr val="CE9178"/>
                </a:solidFill>
                <a:effectLst/>
                <a:latin typeface="Consolas" panose="020B0609020204030204" pitchFamily="49" charset="0"/>
              </a:rPr>
              <a:t>'webcam'</a:t>
            </a:r>
            <a:endParaRPr lang="en-US" sz="1400" b="0">
              <a:solidFill>
                <a:srgbClr val="CCCCCC"/>
              </a:solidFill>
              <a:effectLst/>
              <a:latin typeface="Consolas" panose="020B0609020204030204" pitchFamily="49" charset="0"/>
            </a:endParaRPr>
          </a:p>
          <a:p>
            <a:pPr marL="0" indent="0">
              <a:buNone/>
            </a:pPr>
            <a:r>
              <a:rPr lang="en-US" sz="2000" b="0">
                <a:solidFill>
                  <a:srgbClr val="9CDCFE"/>
                </a:solidFill>
                <a:effectLst/>
                <a:latin typeface="Consolas" panose="020B0609020204030204" pitchFamily="49" charset="0"/>
              </a:rPr>
              <a:t>Number of transactions</a:t>
            </a:r>
            <a:r>
              <a:rPr lang="en-US" sz="2000" b="0">
                <a:solidFill>
                  <a:srgbClr val="CCCCCC"/>
                </a:solidFill>
                <a:effectLst/>
                <a:latin typeface="Consolas" panose="020B0609020204030204" pitchFamily="49" charset="0"/>
              </a:rPr>
              <a:t> </a:t>
            </a:r>
            <a:r>
              <a:rPr lang="en-US" sz="2000" b="0">
                <a:solidFill>
                  <a:srgbClr val="D4D4D4"/>
                </a:solidFill>
                <a:effectLst/>
                <a:latin typeface="Consolas" panose="020B0609020204030204" pitchFamily="49" charset="0"/>
              </a:rPr>
              <a:t>=</a:t>
            </a:r>
            <a:r>
              <a:rPr lang="en-US" sz="2000" b="0">
                <a:solidFill>
                  <a:srgbClr val="CCCCCC"/>
                </a:solidFill>
                <a:effectLst/>
                <a:latin typeface="Consolas" panose="020B0609020204030204" pitchFamily="49" charset="0"/>
              </a:rPr>
              <a:t> </a:t>
            </a:r>
            <a:r>
              <a:rPr lang="en-US" sz="2000" b="0">
                <a:solidFill>
                  <a:srgbClr val="B5CEA8"/>
                </a:solidFill>
                <a:effectLst/>
                <a:latin typeface="Consolas" panose="020B0609020204030204" pitchFamily="49" charset="0"/>
              </a:rPr>
              <a:t>1000</a:t>
            </a:r>
            <a:endParaRPr lang="en-US" sz="2000" b="0">
              <a:solidFill>
                <a:srgbClr val="CCCCCC"/>
              </a:solidFill>
              <a:effectLst/>
              <a:latin typeface="Consolas" panose="020B0609020204030204" pitchFamily="49" charset="0"/>
            </a:endParaRPr>
          </a:p>
          <a:p>
            <a:pPr marL="0" indent="0">
              <a:buNone/>
            </a:pPr>
            <a:endParaRPr lang="en-US" sz="1400" b="0">
              <a:solidFill>
                <a:srgbClr val="CCCCCC"/>
              </a:solidFill>
              <a:effectLst/>
              <a:latin typeface="Consolas" panose="020B0609020204030204" pitchFamily="49" charset="0"/>
            </a:endParaRPr>
          </a:p>
          <a:p>
            <a:pPr marL="0" indent="0">
              <a:buNone/>
            </a:pPr>
            <a:endParaRPr lang="en-US" dirty="0"/>
          </a:p>
        </p:txBody>
      </p:sp>
    </p:spTree>
    <p:extLst>
      <p:ext uri="{BB962C8B-B14F-4D97-AF65-F5344CB8AC3E}">
        <p14:creationId xmlns:p14="http://schemas.microsoft.com/office/powerpoint/2010/main" val="2748977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1F218CB-B5DE-75F7-4E79-CD695B5E159F}"/>
              </a:ext>
            </a:extLst>
          </p:cNvPr>
          <p:cNvSpPr>
            <a:spLocks noGrp="1"/>
          </p:cNvSpPr>
          <p:nvPr>
            <p:ph type="title"/>
          </p:nvPr>
        </p:nvSpPr>
        <p:spPr>
          <a:xfrm>
            <a:off x="838200" y="129991"/>
            <a:ext cx="10515600" cy="1325563"/>
          </a:xfrm>
        </p:spPr>
        <p:txBody>
          <a:bodyPr/>
          <a:lstStyle/>
          <a:p>
            <a:pPr algn="ctr"/>
            <a:r>
              <a:rPr lang="en-US" b="1" i="0" dirty="0">
                <a:solidFill>
                  <a:srgbClr val="ECECEC"/>
                </a:solidFill>
                <a:effectLst/>
                <a:latin typeface="ui-sans-serif"/>
              </a:rPr>
              <a:t>Implementation - Loading the Dataset</a:t>
            </a:r>
            <a:endParaRPr lang="en-US" dirty="0"/>
          </a:p>
        </p:txBody>
      </p:sp>
      <p:sp>
        <p:nvSpPr>
          <p:cNvPr id="3" name="عنصر نائب للمحتوى 2">
            <a:extLst>
              <a:ext uri="{FF2B5EF4-FFF2-40B4-BE49-F238E27FC236}">
                <a16:creationId xmlns:a16="http://schemas.microsoft.com/office/drawing/2014/main" id="{7362F2D2-AE07-3EBD-DACB-E8A1D443B73B}"/>
              </a:ext>
            </a:extLst>
          </p:cNvPr>
          <p:cNvSpPr>
            <a:spLocks noGrp="1"/>
          </p:cNvSpPr>
          <p:nvPr>
            <p:ph idx="1"/>
          </p:nvPr>
        </p:nvSpPr>
        <p:spPr>
          <a:xfrm>
            <a:off x="838200" y="1642743"/>
            <a:ext cx="10515600" cy="4351338"/>
          </a:xfrm>
        </p:spPr>
        <p:txBody>
          <a:bodyPr/>
          <a:lstStyle/>
          <a:p>
            <a:r>
              <a:rPr lang="en-US" b="1" i="0" dirty="0">
                <a:solidFill>
                  <a:srgbClr val="ECECEC"/>
                </a:solidFill>
                <a:effectLst/>
                <a:latin typeface="ui-sans-serif"/>
              </a:rPr>
              <a:t>Loading the Dataset</a:t>
            </a:r>
            <a:r>
              <a:rPr lang="en-US" b="0" i="0" dirty="0">
                <a:solidFill>
                  <a:srgbClr val="ECECEC"/>
                </a:solidFill>
                <a:effectLst/>
                <a:latin typeface="ui-sans-serif"/>
              </a:rPr>
              <a:t>:</a:t>
            </a:r>
          </a:p>
          <a:p>
            <a:pPr marL="0" indent="0">
              <a:buNone/>
            </a:pPr>
            <a:r>
              <a:rPr lang="en-US" sz="1600" b="0" i="0" dirty="0">
                <a:effectLst/>
                <a:latin typeface="ui-monospace"/>
              </a:rPr>
              <a:t>import csv</a:t>
            </a:r>
          </a:p>
          <a:p>
            <a:pPr marL="0" indent="0">
              <a:buNone/>
            </a:pPr>
            <a:r>
              <a:rPr lang="en-US" sz="1600" b="0" i="0" dirty="0">
                <a:effectLst/>
                <a:latin typeface="ui-monospace"/>
              </a:rPr>
              <a:t> def load_dataset_from_csv(file_path): </a:t>
            </a:r>
          </a:p>
          <a:p>
            <a:pPr marL="0" indent="0">
              <a:buNone/>
            </a:pPr>
            <a:r>
              <a:rPr lang="en-US" sz="1600" b="0" i="0" dirty="0">
                <a:effectLst/>
                <a:latin typeface="ui-monospace"/>
              </a:rPr>
              <a:t>dataset = [] </a:t>
            </a:r>
          </a:p>
          <a:p>
            <a:pPr marL="0" indent="0">
              <a:buNone/>
            </a:pPr>
            <a:r>
              <a:rPr lang="en-US" sz="1600" b="0" i="0" dirty="0">
                <a:effectLst/>
                <a:latin typeface="ui-monospace"/>
              </a:rPr>
              <a:t>with open(file_path, newline='', encoding='utf-8') as csvfile: </a:t>
            </a:r>
          </a:p>
          <a:p>
            <a:pPr marL="0" indent="0">
              <a:buNone/>
            </a:pPr>
            <a:r>
              <a:rPr lang="en-US" sz="1600" b="0" i="0" dirty="0">
                <a:effectLst/>
                <a:latin typeface="ui-monospace"/>
              </a:rPr>
              <a:t>csvreader = csv.reader(csvfile) </a:t>
            </a:r>
          </a:p>
          <a:p>
            <a:pPr marL="0" indent="0">
              <a:buNone/>
            </a:pPr>
            <a:r>
              <a:rPr lang="en-US" sz="1600" b="0" i="0" dirty="0">
                <a:effectLst/>
                <a:latin typeface="ui-monospace"/>
              </a:rPr>
              <a:t>for row in csvreader: </a:t>
            </a:r>
          </a:p>
          <a:p>
            <a:pPr marL="0" indent="0">
              <a:buNone/>
            </a:pPr>
            <a:r>
              <a:rPr lang="en-US" sz="1600" b="0" i="0" dirty="0">
                <a:effectLst/>
                <a:latin typeface="ui-monospace"/>
              </a:rPr>
              <a:t>if csvreader.line_num == 1:</a:t>
            </a:r>
          </a:p>
          <a:p>
            <a:pPr marL="0" indent="0">
              <a:buNone/>
            </a:pPr>
            <a:r>
              <a:rPr lang="en-US" sz="1600" b="0" i="0" dirty="0">
                <a:effectLst/>
                <a:latin typeface="ui-monospace"/>
              </a:rPr>
              <a:t> continue </a:t>
            </a:r>
          </a:p>
          <a:p>
            <a:pPr marL="0" indent="0">
              <a:buNone/>
            </a:pPr>
            <a:r>
              <a:rPr lang="en-US" sz="1600" b="0" i="0" dirty="0">
                <a:effectLst/>
                <a:latin typeface="ui-monospace"/>
              </a:rPr>
              <a:t>dataset.append([item for item in row[1:] if item]) </a:t>
            </a:r>
          </a:p>
          <a:p>
            <a:pPr marL="0" indent="0">
              <a:buNone/>
            </a:pPr>
            <a:r>
              <a:rPr lang="en-US" sz="1600" b="0" i="0" dirty="0">
                <a:effectLst/>
                <a:latin typeface="ui-monospace"/>
              </a:rPr>
              <a:t>return dataset file_path = 'D:\\univer\\data mining\\sales\\large_sales.csv’ </a:t>
            </a:r>
          </a:p>
          <a:p>
            <a:pPr marL="0" indent="0">
              <a:buNone/>
            </a:pPr>
            <a:r>
              <a:rPr lang="en-US" sz="1600" b="0" i="0" dirty="0">
                <a:effectLst/>
                <a:latin typeface="ui-monospace"/>
              </a:rPr>
              <a:t>dataset = load_dataset_from_csv(file_path)</a:t>
            </a:r>
            <a:endParaRPr lang="en-US" sz="1600" dirty="0"/>
          </a:p>
        </p:txBody>
      </p:sp>
    </p:spTree>
    <p:extLst>
      <p:ext uri="{BB962C8B-B14F-4D97-AF65-F5344CB8AC3E}">
        <p14:creationId xmlns:p14="http://schemas.microsoft.com/office/powerpoint/2010/main" val="2525185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5BC5146-2F09-94A6-5CB8-8D42CC78DF7F}"/>
              </a:ext>
            </a:extLst>
          </p:cNvPr>
          <p:cNvSpPr>
            <a:spLocks noGrp="1"/>
          </p:cNvSpPr>
          <p:nvPr>
            <p:ph type="title"/>
          </p:nvPr>
        </p:nvSpPr>
        <p:spPr/>
        <p:txBody>
          <a:bodyPr/>
          <a:lstStyle/>
          <a:p>
            <a:pPr algn="ctr"/>
            <a:r>
              <a:rPr lang="en-US" b="1" i="0" dirty="0">
                <a:solidFill>
                  <a:srgbClr val="ECECEC"/>
                </a:solidFill>
                <a:effectLst/>
                <a:latin typeface="ui-sans-serif"/>
              </a:rPr>
              <a:t>Implementation - Generating Candidates</a:t>
            </a:r>
            <a:endParaRPr lang="en-US" dirty="0"/>
          </a:p>
        </p:txBody>
      </p:sp>
      <p:sp>
        <p:nvSpPr>
          <p:cNvPr id="3" name="عنصر نائب للمحتوى 2">
            <a:extLst>
              <a:ext uri="{FF2B5EF4-FFF2-40B4-BE49-F238E27FC236}">
                <a16:creationId xmlns:a16="http://schemas.microsoft.com/office/drawing/2014/main" id="{E73E5372-98CF-0265-1F3D-6C6FF2920235}"/>
              </a:ext>
            </a:extLst>
          </p:cNvPr>
          <p:cNvSpPr>
            <a:spLocks noGrp="1"/>
          </p:cNvSpPr>
          <p:nvPr>
            <p:ph idx="1"/>
          </p:nvPr>
        </p:nvSpPr>
        <p:spPr/>
        <p:txBody>
          <a:bodyPr/>
          <a:lstStyle/>
          <a:p>
            <a:pPr algn="l"/>
            <a:r>
              <a:rPr lang="en-US" b="1" i="0" dirty="0">
                <a:solidFill>
                  <a:srgbClr val="ECECEC"/>
                </a:solidFill>
                <a:effectLst/>
                <a:latin typeface="ui-sans-serif"/>
              </a:rPr>
              <a:t>Explanation of the Process:</a:t>
            </a:r>
            <a:endParaRPr lang="en-US" b="0" i="0" dirty="0">
              <a:solidFill>
                <a:srgbClr val="ECECEC"/>
              </a:solidFill>
              <a:effectLst/>
              <a:latin typeface="ui-sans-serif"/>
            </a:endParaRPr>
          </a:p>
          <a:p>
            <a:pPr marL="0" indent="0" algn="l">
              <a:buNone/>
            </a:pPr>
            <a:r>
              <a:rPr lang="en-US" b="0" i="0" dirty="0">
                <a:solidFill>
                  <a:srgbClr val="ECECEC"/>
                </a:solidFill>
                <a:effectLst/>
                <a:latin typeface="ui-sans-serif"/>
              </a:rPr>
              <a:t>The initial candidate itemsets (C1) are generated by identifying all unique items from the dataset. Each unique item is considered as a single-item itemset.</a:t>
            </a:r>
          </a:p>
          <a:p>
            <a:pPr algn="l"/>
            <a:r>
              <a:rPr lang="en-US" b="1" i="0" dirty="0">
                <a:solidFill>
                  <a:srgbClr val="ECECEC"/>
                </a:solidFill>
                <a:effectLst/>
                <a:latin typeface="ui-sans-serif"/>
              </a:rPr>
              <a:t>Importance of Candidate Generation:</a:t>
            </a:r>
            <a:endParaRPr lang="en-US" b="0" i="0" dirty="0">
              <a:solidFill>
                <a:srgbClr val="ECECEC"/>
              </a:solidFill>
              <a:effectLst/>
              <a:latin typeface="ui-sans-serif"/>
            </a:endParaRPr>
          </a:p>
          <a:p>
            <a:pPr algn="l">
              <a:buFont typeface="Arial" panose="020B0604020202020204" pitchFamily="34" charset="0"/>
              <a:buChar char="•"/>
            </a:pPr>
            <a:r>
              <a:rPr lang="en-US" b="0" i="0" dirty="0">
                <a:solidFill>
                  <a:srgbClr val="ECECEC"/>
                </a:solidFill>
                <a:effectLst/>
                <a:latin typeface="ui-sans-serif"/>
              </a:rPr>
              <a:t>Candidate generation is crucial in the Apriori algorithm as it forms the foundation for finding frequent itemsets. The efficiency and effectiveness of the algorithm depend on accurately generating and filtering these candidates.</a:t>
            </a:r>
          </a:p>
          <a:p>
            <a:pPr marL="0" indent="0">
              <a:buNone/>
            </a:pPr>
            <a:br>
              <a:rPr lang="en-US" dirty="0"/>
            </a:br>
            <a:endParaRPr lang="en-US" dirty="0"/>
          </a:p>
        </p:txBody>
      </p:sp>
    </p:spTree>
    <p:extLst>
      <p:ext uri="{BB962C8B-B14F-4D97-AF65-F5344CB8AC3E}">
        <p14:creationId xmlns:p14="http://schemas.microsoft.com/office/powerpoint/2010/main" val="2346731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3CB6692-C0E3-2739-9EDA-3CD650FB5474}"/>
              </a:ext>
            </a:extLst>
          </p:cNvPr>
          <p:cNvSpPr>
            <a:spLocks noGrp="1"/>
          </p:cNvSpPr>
          <p:nvPr>
            <p:ph type="title"/>
          </p:nvPr>
        </p:nvSpPr>
        <p:spPr/>
        <p:txBody>
          <a:bodyPr/>
          <a:lstStyle/>
          <a:p>
            <a:pPr algn="ctr"/>
            <a:r>
              <a:rPr lang="en-US" b="1" i="0" dirty="0">
                <a:solidFill>
                  <a:srgbClr val="ECECEC"/>
                </a:solidFill>
                <a:effectLst/>
                <a:latin typeface="ui-sans-serif"/>
              </a:rPr>
              <a:t>Implementation - Generating Candidates</a:t>
            </a:r>
            <a:endParaRPr lang="en-US" dirty="0"/>
          </a:p>
        </p:txBody>
      </p:sp>
      <p:sp>
        <p:nvSpPr>
          <p:cNvPr id="3" name="عنصر نائب للمحتوى 2">
            <a:extLst>
              <a:ext uri="{FF2B5EF4-FFF2-40B4-BE49-F238E27FC236}">
                <a16:creationId xmlns:a16="http://schemas.microsoft.com/office/drawing/2014/main" id="{A416D56F-E87F-52EF-C6C7-8819E5820079}"/>
              </a:ext>
            </a:extLst>
          </p:cNvPr>
          <p:cNvSpPr>
            <a:spLocks noGrp="1"/>
          </p:cNvSpPr>
          <p:nvPr>
            <p:ph idx="1"/>
          </p:nvPr>
        </p:nvSpPr>
        <p:spPr/>
        <p:txBody>
          <a:bodyPr/>
          <a:lstStyle/>
          <a:p>
            <a:r>
              <a:rPr lang="en-US" dirty="0"/>
              <a:t>Example:</a:t>
            </a:r>
          </a:p>
          <a:p>
            <a:pPr marL="0" indent="0">
              <a:buNone/>
            </a:pPr>
            <a:r>
              <a:rPr lang="en-US" dirty="0">
                <a:solidFill>
                  <a:srgbClr val="FFFFFF"/>
                </a:solidFill>
                <a:latin typeface="ui-monospace"/>
              </a:rPr>
              <a:t>Transaction </a:t>
            </a:r>
            <a:r>
              <a:rPr lang="en-US" dirty="0">
                <a:solidFill>
                  <a:srgbClr val="DF3079"/>
                </a:solidFill>
                <a:latin typeface="ui-monospace"/>
              </a:rPr>
              <a:t>1</a:t>
            </a:r>
            <a:r>
              <a:rPr lang="en-US" dirty="0">
                <a:solidFill>
                  <a:srgbClr val="FFFFFF"/>
                </a:solidFill>
                <a:latin typeface="ui-monospace"/>
              </a:rPr>
              <a:t>: </a:t>
            </a:r>
            <a:r>
              <a:rPr lang="en-US" dirty="0">
                <a:solidFill>
                  <a:srgbClr val="DF3079"/>
                </a:solidFill>
                <a:latin typeface="ui-monospace"/>
              </a:rPr>
              <a:t>[phone case, screen protector]</a:t>
            </a:r>
            <a:r>
              <a:rPr lang="en-US" dirty="0">
                <a:solidFill>
                  <a:srgbClr val="FFFFFF"/>
                </a:solidFill>
                <a:latin typeface="ui-monospace"/>
              </a:rPr>
              <a:t> </a:t>
            </a:r>
          </a:p>
          <a:p>
            <a:pPr marL="0" indent="0">
              <a:buNone/>
            </a:pPr>
            <a:r>
              <a:rPr lang="en-US" dirty="0">
                <a:solidFill>
                  <a:srgbClr val="FFFFFF"/>
                </a:solidFill>
                <a:latin typeface="ui-monospace"/>
              </a:rPr>
              <a:t>Transaction </a:t>
            </a:r>
            <a:r>
              <a:rPr lang="en-US" dirty="0">
                <a:solidFill>
                  <a:srgbClr val="DF3079"/>
                </a:solidFill>
                <a:latin typeface="ui-monospace"/>
              </a:rPr>
              <a:t>2</a:t>
            </a:r>
            <a:r>
              <a:rPr lang="en-US" dirty="0">
                <a:solidFill>
                  <a:srgbClr val="FFFFFF"/>
                </a:solidFill>
                <a:latin typeface="ui-monospace"/>
              </a:rPr>
              <a:t>: </a:t>
            </a:r>
            <a:r>
              <a:rPr lang="en-US" dirty="0">
                <a:solidFill>
                  <a:srgbClr val="DF3079"/>
                </a:solidFill>
                <a:latin typeface="ui-monospace"/>
              </a:rPr>
              <a:t>[laptop charger, USB cable, wireless mouse, keyboard]</a:t>
            </a:r>
            <a:r>
              <a:rPr lang="en-US" dirty="0">
                <a:solidFill>
                  <a:srgbClr val="FFFFFF"/>
                </a:solidFill>
                <a:latin typeface="ui-monospace"/>
              </a:rPr>
              <a:t> </a:t>
            </a:r>
          </a:p>
          <a:p>
            <a:pPr marL="0" indent="0">
              <a:buNone/>
            </a:pPr>
            <a:r>
              <a:rPr lang="en-US" dirty="0">
                <a:solidFill>
                  <a:srgbClr val="FFFFFF"/>
                </a:solidFill>
                <a:latin typeface="ui-monospace"/>
              </a:rPr>
              <a:t>Transaction </a:t>
            </a:r>
            <a:r>
              <a:rPr lang="en-US" dirty="0">
                <a:solidFill>
                  <a:srgbClr val="DF3079"/>
                </a:solidFill>
                <a:latin typeface="ui-monospace"/>
              </a:rPr>
              <a:t>3</a:t>
            </a:r>
            <a:r>
              <a:rPr lang="en-US" dirty="0">
                <a:solidFill>
                  <a:srgbClr val="FFFFFF"/>
                </a:solidFill>
                <a:latin typeface="ui-monospace"/>
              </a:rPr>
              <a:t>: </a:t>
            </a:r>
            <a:r>
              <a:rPr lang="en-US" dirty="0">
                <a:solidFill>
                  <a:srgbClr val="DF3079"/>
                </a:solidFill>
                <a:latin typeface="ui-monospace"/>
              </a:rPr>
              <a:t>[phone case, USB cable, power bank, headphones]</a:t>
            </a:r>
            <a:endParaRPr lang="en-US" dirty="0"/>
          </a:p>
          <a:p>
            <a:r>
              <a:rPr lang="en-US" b="1" i="0" dirty="0">
                <a:solidFill>
                  <a:srgbClr val="ECECEC"/>
                </a:solidFill>
                <a:effectLst/>
                <a:latin typeface="ui-sans-serif"/>
              </a:rPr>
              <a:t>Candidate Itemsets (C1):</a:t>
            </a:r>
          </a:p>
          <a:p>
            <a:pPr marL="0" indent="0">
              <a:buNone/>
            </a:pPr>
            <a:r>
              <a:rPr lang="en-US" b="0" i="0" dirty="0">
                <a:solidFill>
                  <a:srgbClr val="DF3079"/>
                </a:solidFill>
                <a:effectLst/>
                <a:latin typeface="ui-monospace"/>
              </a:rPr>
              <a:t>[{</a:t>
            </a:r>
            <a:r>
              <a:rPr lang="en-US" b="0" i="0" dirty="0">
                <a:solidFill>
                  <a:srgbClr val="00A67D"/>
                </a:solidFill>
                <a:effectLst/>
                <a:latin typeface="ui-monospace"/>
              </a:rPr>
              <a:t>'phone case'</a:t>
            </a:r>
            <a:r>
              <a:rPr lang="en-US" b="0" i="0" dirty="0">
                <a:solidFill>
                  <a:srgbClr val="DF3079"/>
                </a:solidFill>
                <a:effectLst/>
                <a:latin typeface="ui-monospace"/>
              </a:rPr>
              <a:t>}, {</a:t>
            </a:r>
            <a:r>
              <a:rPr lang="en-US" b="0" i="0" dirty="0">
                <a:solidFill>
                  <a:srgbClr val="00A67D"/>
                </a:solidFill>
                <a:effectLst/>
                <a:latin typeface="ui-monospace"/>
              </a:rPr>
              <a:t>'screen protector'</a:t>
            </a:r>
            <a:r>
              <a:rPr lang="en-US" b="0" i="0" dirty="0">
                <a:solidFill>
                  <a:srgbClr val="DF3079"/>
                </a:solidFill>
                <a:effectLst/>
                <a:latin typeface="ui-monospace"/>
              </a:rPr>
              <a:t>}, {</a:t>
            </a:r>
            <a:r>
              <a:rPr lang="en-US" b="0" i="0" dirty="0">
                <a:solidFill>
                  <a:srgbClr val="00A67D"/>
                </a:solidFill>
                <a:effectLst/>
                <a:latin typeface="ui-monospace"/>
              </a:rPr>
              <a:t>'laptop charger'</a:t>
            </a:r>
            <a:r>
              <a:rPr lang="en-US" b="0" i="0" dirty="0">
                <a:solidFill>
                  <a:srgbClr val="DF3079"/>
                </a:solidFill>
                <a:effectLst/>
                <a:latin typeface="ui-monospace"/>
              </a:rPr>
              <a:t>}, {</a:t>
            </a:r>
            <a:r>
              <a:rPr lang="en-US" b="0" i="0" dirty="0">
                <a:solidFill>
                  <a:srgbClr val="00A67D"/>
                </a:solidFill>
                <a:effectLst/>
                <a:latin typeface="ui-monospace"/>
              </a:rPr>
              <a:t>'USB cable'</a:t>
            </a:r>
            <a:r>
              <a:rPr lang="en-US" b="0" i="0" dirty="0">
                <a:solidFill>
                  <a:srgbClr val="DF3079"/>
                </a:solidFill>
                <a:effectLst/>
                <a:latin typeface="ui-monospace"/>
              </a:rPr>
              <a:t>}, {</a:t>
            </a:r>
            <a:r>
              <a:rPr lang="en-US" b="0" i="0" dirty="0">
                <a:solidFill>
                  <a:srgbClr val="00A67D"/>
                </a:solidFill>
                <a:effectLst/>
                <a:latin typeface="ui-monospace"/>
              </a:rPr>
              <a:t>'wireless mouse'</a:t>
            </a:r>
            <a:r>
              <a:rPr lang="en-US" b="0" i="0" dirty="0">
                <a:solidFill>
                  <a:srgbClr val="DF3079"/>
                </a:solidFill>
                <a:effectLst/>
                <a:latin typeface="ui-monospace"/>
              </a:rPr>
              <a:t>}, {</a:t>
            </a:r>
            <a:r>
              <a:rPr lang="en-US" b="0" i="0" dirty="0">
                <a:solidFill>
                  <a:srgbClr val="00A67D"/>
                </a:solidFill>
                <a:effectLst/>
                <a:latin typeface="ui-monospace"/>
              </a:rPr>
              <a:t>'keyboard'</a:t>
            </a:r>
            <a:r>
              <a:rPr lang="en-US" b="0" i="0" dirty="0">
                <a:solidFill>
                  <a:srgbClr val="DF3079"/>
                </a:solidFill>
                <a:effectLst/>
                <a:latin typeface="ui-monospace"/>
              </a:rPr>
              <a:t>}, {</a:t>
            </a:r>
            <a:r>
              <a:rPr lang="en-US" b="0" i="0" dirty="0">
                <a:solidFill>
                  <a:srgbClr val="00A67D"/>
                </a:solidFill>
                <a:effectLst/>
                <a:latin typeface="ui-monospace"/>
              </a:rPr>
              <a:t>'power bank'</a:t>
            </a:r>
            <a:r>
              <a:rPr lang="en-US" b="0" i="0" dirty="0">
                <a:solidFill>
                  <a:srgbClr val="DF3079"/>
                </a:solidFill>
                <a:effectLst/>
                <a:latin typeface="ui-monospace"/>
              </a:rPr>
              <a:t>}, {</a:t>
            </a:r>
            <a:r>
              <a:rPr lang="en-US" b="0" i="0" dirty="0">
                <a:solidFill>
                  <a:srgbClr val="00A67D"/>
                </a:solidFill>
                <a:effectLst/>
                <a:latin typeface="ui-monospace"/>
              </a:rPr>
              <a:t>'headphones'</a:t>
            </a:r>
            <a:r>
              <a:rPr lang="en-US" b="0" i="0" dirty="0">
                <a:solidFill>
                  <a:srgbClr val="DF3079"/>
                </a:solidFill>
                <a:effectLst/>
                <a:latin typeface="ui-monospace"/>
              </a:rPr>
              <a:t>}]</a:t>
            </a:r>
            <a:endParaRPr lang="en-US" dirty="0"/>
          </a:p>
          <a:p>
            <a:pPr marL="0" indent="0">
              <a:buNone/>
            </a:pPr>
            <a:endParaRPr lang="en-US" dirty="0"/>
          </a:p>
        </p:txBody>
      </p:sp>
    </p:spTree>
    <p:extLst>
      <p:ext uri="{BB962C8B-B14F-4D97-AF65-F5344CB8AC3E}">
        <p14:creationId xmlns:p14="http://schemas.microsoft.com/office/powerpoint/2010/main" val="3598663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0868429-7413-8B92-228B-19FFD2AD72DC}"/>
              </a:ext>
            </a:extLst>
          </p:cNvPr>
          <p:cNvSpPr>
            <a:spLocks noGrp="1"/>
          </p:cNvSpPr>
          <p:nvPr>
            <p:ph type="title"/>
          </p:nvPr>
        </p:nvSpPr>
        <p:spPr/>
        <p:txBody>
          <a:bodyPr/>
          <a:lstStyle/>
          <a:p>
            <a:pPr algn="ctr"/>
            <a:r>
              <a:rPr lang="en-US" b="1" i="0" dirty="0">
                <a:solidFill>
                  <a:srgbClr val="ECECEC"/>
                </a:solidFill>
                <a:effectLst/>
                <a:latin typeface="ui-sans-serif"/>
              </a:rPr>
              <a:t>Implementation - Generating Candidates(code)</a:t>
            </a:r>
            <a:endParaRPr lang="en-US" dirty="0"/>
          </a:p>
        </p:txBody>
      </p:sp>
      <p:sp>
        <p:nvSpPr>
          <p:cNvPr id="3" name="عنصر نائب للمحتوى 2">
            <a:extLst>
              <a:ext uri="{FF2B5EF4-FFF2-40B4-BE49-F238E27FC236}">
                <a16:creationId xmlns:a16="http://schemas.microsoft.com/office/drawing/2014/main" id="{66665EB2-356C-A2AB-490B-40802532EA3B}"/>
              </a:ext>
            </a:extLst>
          </p:cNvPr>
          <p:cNvSpPr>
            <a:spLocks noGrp="1"/>
          </p:cNvSpPr>
          <p:nvPr>
            <p:ph idx="1"/>
          </p:nvPr>
        </p:nvSpPr>
        <p:spPr/>
        <p:txBody>
          <a:bodyPr/>
          <a:lstStyle/>
          <a:p>
            <a:r>
              <a:rPr lang="en-US" b="0" dirty="0">
                <a:solidFill>
                  <a:srgbClr val="569CD6"/>
                </a:solidFill>
                <a:effectLst/>
                <a:latin typeface="Consolas" panose="020B0609020204030204" pitchFamily="49" charset="0"/>
              </a:rPr>
              <a:t>def</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create_candidates</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dataset</a:t>
            </a:r>
            <a:r>
              <a:rPr lang="en-US" b="0" dirty="0">
                <a:solidFill>
                  <a:srgbClr val="CCCCCC"/>
                </a:solidFill>
                <a:effectLst/>
                <a:latin typeface="Consolas" panose="020B0609020204030204" pitchFamily="49" charset="0"/>
              </a:rPr>
              <a:t>):</a:t>
            </a:r>
          </a:p>
          <a:p>
            <a:pPr marL="0" indent="0">
              <a:buNone/>
            </a:pP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C1</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p>
          <a:p>
            <a:pPr marL="0" indent="0">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transaction</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dataset</a:t>
            </a:r>
            <a:r>
              <a:rPr lang="en-US" b="0" dirty="0">
                <a:solidFill>
                  <a:srgbClr val="CCCCCC"/>
                </a:solidFill>
                <a:effectLst/>
                <a:latin typeface="Consolas" panose="020B0609020204030204" pitchFamily="49" charset="0"/>
              </a:rPr>
              <a:t>:</a:t>
            </a:r>
          </a:p>
          <a:p>
            <a:pPr marL="0" indent="0">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item</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transaction</a:t>
            </a:r>
            <a:r>
              <a:rPr lang="en-US" b="0" dirty="0">
                <a:solidFill>
                  <a:srgbClr val="CCCCCC"/>
                </a:solidFill>
                <a:effectLst/>
                <a:latin typeface="Consolas" panose="020B0609020204030204" pitchFamily="49" charset="0"/>
              </a:rPr>
              <a:t>:</a:t>
            </a:r>
          </a:p>
          <a:p>
            <a:pPr marL="0" indent="0">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not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item</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C1</a:t>
            </a:r>
            <a:r>
              <a:rPr lang="en-US" b="0" dirty="0">
                <a:solidFill>
                  <a:srgbClr val="CCCCCC"/>
                </a:solidFill>
                <a:effectLst/>
                <a:latin typeface="Consolas" panose="020B0609020204030204" pitchFamily="49" charset="0"/>
              </a:rPr>
              <a:t>:</a:t>
            </a:r>
          </a:p>
          <a:p>
            <a:pPr marL="0" indent="0">
              <a:buNone/>
            </a:pP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C1</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append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item</a:t>
            </a:r>
            <a:r>
              <a:rPr lang="en-US" b="0" dirty="0">
                <a:solidFill>
                  <a:srgbClr val="CCCCCC"/>
                </a:solidFill>
                <a:effectLst/>
                <a:latin typeface="Consolas" panose="020B0609020204030204" pitchFamily="49" charset="0"/>
              </a:rPr>
              <a:t>])</a:t>
            </a:r>
          </a:p>
          <a:p>
            <a:pPr marL="0" indent="0">
              <a:buNone/>
            </a:pP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C1</a:t>
            </a:r>
            <a:r>
              <a:rPr lang="en-US" b="0" dirty="0">
                <a:solidFill>
                  <a:srgbClr val="CCCCCC"/>
                </a:solidFill>
                <a:effectLst/>
                <a:latin typeface="Consolas" panose="020B0609020204030204" pitchFamily="49" charset="0"/>
              </a:rPr>
              <a:t>.</a:t>
            </a:r>
            <a:r>
              <a:rPr lang="en-US" b="0" dirty="0">
                <a:solidFill>
                  <a:srgbClr val="DCDCAA"/>
                </a:solidFill>
                <a:effectLst/>
                <a:latin typeface="Consolas" panose="020B0609020204030204" pitchFamily="49" charset="0"/>
              </a:rPr>
              <a:t>sort</a:t>
            </a:r>
            <a:r>
              <a:rPr lang="en-US" b="0" dirty="0">
                <a:solidFill>
                  <a:srgbClr val="CCCCCC"/>
                </a:solidFill>
                <a:effectLst/>
                <a:latin typeface="Consolas" panose="020B0609020204030204" pitchFamily="49" charset="0"/>
              </a:rPr>
              <a:t>()</a:t>
            </a:r>
          </a:p>
          <a:p>
            <a:pPr marL="0" indent="0">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list</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map</a:t>
            </a:r>
            <a:r>
              <a:rPr lang="en-US" b="0" dirty="0">
                <a:solidFill>
                  <a:srgbClr val="CCCCCC"/>
                </a:solidFill>
                <a:effectLst/>
                <a:latin typeface="Consolas" panose="020B0609020204030204" pitchFamily="49" charset="0"/>
              </a:rPr>
              <a:t>(</a:t>
            </a:r>
            <a:r>
              <a:rPr lang="en-US" b="0" dirty="0">
                <a:solidFill>
                  <a:srgbClr val="4EC9B0"/>
                </a:solidFill>
                <a:effectLst/>
                <a:latin typeface="Consolas" panose="020B0609020204030204" pitchFamily="49" charset="0"/>
              </a:rPr>
              <a:t>frozenset</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C1</a:t>
            </a:r>
            <a:r>
              <a:rPr lang="en-US" b="0" dirty="0">
                <a:solidFill>
                  <a:srgbClr val="CCCCCC"/>
                </a:solidFill>
                <a:effectLst/>
                <a:latin typeface="Consolas" panose="020B0609020204030204" pitchFamily="49" charset="0"/>
              </a:rPr>
              <a:t>))</a:t>
            </a:r>
          </a:p>
          <a:p>
            <a:pPr marL="0" indent="0">
              <a:buNone/>
            </a:pP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694876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1C5A536-EA28-BAE1-10A3-BA9FA3E3F0DE}"/>
              </a:ext>
            </a:extLst>
          </p:cNvPr>
          <p:cNvSpPr>
            <a:spLocks noGrp="1"/>
          </p:cNvSpPr>
          <p:nvPr>
            <p:ph type="title"/>
          </p:nvPr>
        </p:nvSpPr>
        <p:spPr/>
        <p:txBody>
          <a:bodyPr/>
          <a:lstStyle/>
          <a:p>
            <a:pPr algn="ctr"/>
            <a:r>
              <a:rPr lang="en-US" b="1" i="0" dirty="0">
                <a:solidFill>
                  <a:srgbClr val="ECECEC"/>
                </a:solidFill>
                <a:effectLst/>
                <a:latin typeface="ui-sans-serif"/>
              </a:rPr>
              <a:t>Implementation - Scanning the Dataset and Generating new Candidates</a:t>
            </a:r>
            <a:br>
              <a:rPr lang="en-US" b="1" i="0" dirty="0">
                <a:solidFill>
                  <a:srgbClr val="ECECEC"/>
                </a:solidFill>
                <a:effectLst/>
                <a:latin typeface="ui-sans-serif"/>
              </a:rPr>
            </a:br>
            <a:endParaRPr lang="en-US" dirty="0"/>
          </a:p>
        </p:txBody>
      </p:sp>
      <p:sp>
        <p:nvSpPr>
          <p:cNvPr id="3" name="عنصر نائب للمحتوى 2">
            <a:extLst>
              <a:ext uri="{FF2B5EF4-FFF2-40B4-BE49-F238E27FC236}">
                <a16:creationId xmlns:a16="http://schemas.microsoft.com/office/drawing/2014/main" id="{602C44AC-AA5C-335E-BCD5-7AF531C1696C}"/>
              </a:ext>
            </a:extLst>
          </p:cNvPr>
          <p:cNvSpPr>
            <a:spLocks noGrp="1"/>
          </p:cNvSpPr>
          <p:nvPr>
            <p:ph idx="1"/>
          </p:nvPr>
        </p:nvSpPr>
        <p:spPr/>
        <p:txBody>
          <a:bodyPr/>
          <a:lstStyle/>
          <a:p>
            <a:r>
              <a:rPr lang="en-US" b="0" i="0" dirty="0">
                <a:solidFill>
                  <a:srgbClr val="ECECEC"/>
                </a:solidFill>
                <a:effectLst/>
                <a:latin typeface="ui-sans-serif"/>
              </a:rPr>
              <a:t>After generating the candidate itemsets, the next step is to scan the dataset to calculate the support for each candidate. The support of an itemset is the fraction of transactions in which the itemset appears. Here's the detailed process:</a:t>
            </a:r>
          </a:p>
          <a:p>
            <a:pPr algn="l">
              <a:buFont typeface="+mj-lt"/>
              <a:buAutoNum type="arabicPeriod"/>
            </a:pPr>
            <a:r>
              <a:rPr lang="en-US" b="1" i="0" dirty="0">
                <a:solidFill>
                  <a:srgbClr val="ECECEC"/>
                </a:solidFill>
                <a:effectLst/>
                <a:latin typeface="ui-sans-serif"/>
              </a:rPr>
              <a:t>Initialize Counters</a:t>
            </a:r>
            <a:r>
              <a:rPr lang="en-US" b="0" i="0" dirty="0">
                <a:solidFill>
                  <a:srgbClr val="ECECEC"/>
                </a:solidFill>
                <a:effectLst/>
                <a:latin typeface="ui-sans-serif"/>
              </a:rPr>
              <a:t>: Create a dictionary to count occurrences of each candidate itemset.</a:t>
            </a:r>
          </a:p>
          <a:p>
            <a:pPr algn="l">
              <a:buFont typeface="+mj-lt"/>
              <a:buAutoNum type="arabicPeriod"/>
            </a:pPr>
            <a:r>
              <a:rPr lang="en-US" b="1" i="0" dirty="0">
                <a:solidFill>
                  <a:srgbClr val="ECECEC"/>
                </a:solidFill>
                <a:effectLst/>
                <a:latin typeface="ui-sans-serif"/>
              </a:rPr>
              <a:t>Subset Checking</a:t>
            </a:r>
            <a:r>
              <a:rPr lang="en-US" b="0" i="0" dirty="0">
                <a:solidFill>
                  <a:srgbClr val="ECECEC"/>
                </a:solidFill>
                <a:effectLst/>
                <a:latin typeface="ui-sans-serif"/>
              </a:rPr>
              <a:t>: For each transaction, check if each candidate itemset is a subset of the transaction.</a:t>
            </a:r>
          </a:p>
          <a:p>
            <a:pPr algn="l">
              <a:buFont typeface="+mj-lt"/>
              <a:buAutoNum type="arabicPeriod"/>
            </a:pPr>
            <a:r>
              <a:rPr lang="en-US" b="1" i="0" dirty="0">
                <a:solidFill>
                  <a:srgbClr val="ECECEC"/>
                </a:solidFill>
                <a:effectLst/>
                <a:latin typeface="ui-sans-serif"/>
              </a:rPr>
              <a:t>Count Subsets</a:t>
            </a:r>
            <a:r>
              <a:rPr lang="en-US" b="0" i="0" dirty="0">
                <a:solidFill>
                  <a:srgbClr val="ECECEC"/>
                </a:solidFill>
                <a:effectLst/>
                <a:latin typeface="ui-sans-serif"/>
              </a:rPr>
              <a:t>: Increment the count for each candidate itemset that is a subset of the transaction.</a:t>
            </a:r>
          </a:p>
        </p:txBody>
      </p:sp>
    </p:spTree>
    <p:extLst>
      <p:ext uri="{BB962C8B-B14F-4D97-AF65-F5344CB8AC3E}">
        <p14:creationId xmlns:p14="http://schemas.microsoft.com/office/powerpoint/2010/main" val="8632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27BEF55-9EDC-AE4D-0E5F-01AF5D4C5D58}"/>
              </a:ext>
            </a:extLst>
          </p:cNvPr>
          <p:cNvSpPr>
            <a:spLocks noGrp="1"/>
          </p:cNvSpPr>
          <p:nvPr>
            <p:ph type="title"/>
          </p:nvPr>
        </p:nvSpPr>
        <p:spPr/>
        <p:txBody>
          <a:bodyPr/>
          <a:lstStyle/>
          <a:p>
            <a:pPr algn="ctr"/>
            <a:r>
              <a:rPr lang="en-US" b="1" i="0" dirty="0">
                <a:solidFill>
                  <a:srgbClr val="ECECEC"/>
                </a:solidFill>
                <a:effectLst/>
                <a:latin typeface="ui-sans-serif"/>
              </a:rPr>
              <a:t>Implementation - Scanning the Dataset and Generating new Candidates</a:t>
            </a:r>
            <a:br>
              <a:rPr lang="en-US" b="1" i="0" dirty="0">
                <a:solidFill>
                  <a:srgbClr val="ECECEC"/>
                </a:solidFill>
                <a:effectLst/>
                <a:latin typeface="ui-sans-serif"/>
              </a:rPr>
            </a:br>
            <a:endParaRPr lang="en-US" dirty="0"/>
          </a:p>
        </p:txBody>
      </p:sp>
      <p:sp>
        <p:nvSpPr>
          <p:cNvPr id="3" name="عنصر نائب للمحتوى 2">
            <a:extLst>
              <a:ext uri="{FF2B5EF4-FFF2-40B4-BE49-F238E27FC236}">
                <a16:creationId xmlns:a16="http://schemas.microsoft.com/office/drawing/2014/main" id="{3D2DA5FD-AC6B-AD06-4C21-13EBB493D8FD}"/>
              </a:ext>
            </a:extLst>
          </p:cNvPr>
          <p:cNvSpPr>
            <a:spLocks noGrp="1"/>
          </p:cNvSpPr>
          <p:nvPr>
            <p:ph idx="1"/>
          </p:nvPr>
        </p:nvSpPr>
        <p:spPr/>
        <p:txBody>
          <a:bodyPr/>
          <a:lstStyle/>
          <a:p>
            <a:pPr marL="0" indent="0" algn="l" rtl="0" eaLnBrk="1" latinLnBrk="0" hangingPunct="1">
              <a:lnSpc>
                <a:spcPct val="114000"/>
              </a:lnSpc>
              <a:spcBef>
                <a:spcPts val="1000"/>
              </a:spcBef>
              <a:spcAft>
                <a:spcPts val="0"/>
              </a:spcAft>
              <a:buClrTx/>
              <a:buSzPts val="2400"/>
              <a:buNone/>
            </a:pPr>
            <a:r>
              <a:rPr lang="en-US" b="1" i="0" kern="1200" dirty="0">
                <a:solidFill>
                  <a:srgbClr val="ECECEC"/>
                </a:solidFill>
                <a:effectLst/>
                <a:latin typeface="ui-sans-serif"/>
                <a:ea typeface="+mn-ea"/>
                <a:cs typeface="+mn-cs"/>
              </a:rPr>
              <a:t>4.Calculate Support</a:t>
            </a:r>
            <a:r>
              <a:rPr lang="en-US" b="0" i="0" kern="1200" dirty="0">
                <a:solidFill>
                  <a:srgbClr val="ECECEC"/>
                </a:solidFill>
                <a:effectLst/>
                <a:latin typeface="ui-sans-serif"/>
                <a:ea typeface="+mn-ea"/>
                <a:cs typeface="+mn-cs"/>
              </a:rPr>
              <a:t>: Compute the support for each candidate by dividing its count by the total number of transactions.</a:t>
            </a:r>
            <a:endParaRPr lang="en-US" dirty="0">
              <a:effectLst/>
            </a:endParaRPr>
          </a:p>
          <a:p>
            <a:pPr marL="0" indent="0" algn="l" rtl="0" eaLnBrk="1" latinLnBrk="0" hangingPunct="1">
              <a:lnSpc>
                <a:spcPct val="114000"/>
              </a:lnSpc>
              <a:spcBef>
                <a:spcPts val="1000"/>
              </a:spcBef>
              <a:spcAft>
                <a:spcPts val="0"/>
              </a:spcAft>
              <a:buNone/>
            </a:pPr>
            <a:r>
              <a:rPr lang="en-US" b="1" dirty="0">
                <a:solidFill>
                  <a:srgbClr val="ECECEC"/>
                </a:solidFill>
                <a:latin typeface="ui-sans-serif"/>
              </a:rPr>
              <a:t>5.</a:t>
            </a:r>
            <a:r>
              <a:rPr lang="en-US" b="1" i="0" kern="1200" dirty="0">
                <a:solidFill>
                  <a:srgbClr val="ECECEC"/>
                </a:solidFill>
                <a:effectLst/>
                <a:latin typeface="ui-sans-serif"/>
                <a:ea typeface="+mn-ea"/>
                <a:cs typeface="+mn-cs"/>
              </a:rPr>
              <a:t>Filter Candidates</a:t>
            </a:r>
            <a:r>
              <a:rPr lang="en-US" b="0" i="0" kern="1200" dirty="0">
                <a:solidFill>
                  <a:srgbClr val="ECECEC"/>
                </a:solidFill>
                <a:effectLst/>
                <a:latin typeface="ui-sans-serif"/>
                <a:ea typeface="+mn-ea"/>
                <a:cs typeface="+mn-cs"/>
              </a:rPr>
              <a:t>: Retain only those candidates whose support meets or exceeds the minimum support threshold.</a:t>
            </a:r>
          </a:p>
          <a:p>
            <a:pPr marL="0" indent="0" algn="l" rtl="0" eaLnBrk="1" latinLnBrk="0" hangingPunct="1">
              <a:lnSpc>
                <a:spcPct val="114000"/>
              </a:lnSpc>
              <a:spcBef>
                <a:spcPts val="1000"/>
              </a:spcBef>
              <a:spcAft>
                <a:spcPts val="0"/>
              </a:spcAft>
              <a:buNone/>
            </a:pPr>
            <a:endParaRPr lang="en-US" dirty="0">
              <a:effectLst/>
            </a:endParaRPr>
          </a:p>
          <a:p>
            <a:endParaRPr lang="en-US" dirty="0"/>
          </a:p>
        </p:txBody>
      </p:sp>
    </p:spTree>
    <p:extLst>
      <p:ext uri="{BB962C8B-B14F-4D97-AF65-F5344CB8AC3E}">
        <p14:creationId xmlns:p14="http://schemas.microsoft.com/office/powerpoint/2010/main" val="3191120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1E6F847-AAAC-5140-297E-1519736ADB67}"/>
              </a:ext>
            </a:extLst>
          </p:cNvPr>
          <p:cNvSpPr>
            <a:spLocks noGrp="1"/>
          </p:cNvSpPr>
          <p:nvPr>
            <p:ph type="title"/>
          </p:nvPr>
        </p:nvSpPr>
        <p:spPr/>
        <p:txBody>
          <a:bodyPr/>
          <a:lstStyle/>
          <a:p>
            <a:pPr algn="ctr"/>
            <a:r>
              <a:rPr lang="en-US" b="1" i="0" dirty="0">
                <a:solidFill>
                  <a:srgbClr val="ECECEC"/>
                </a:solidFill>
                <a:effectLst/>
                <a:latin typeface="ui-sans-serif"/>
              </a:rPr>
              <a:t>Results - Frequent Itemsets</a:t>
            </a:r>
            <a:endParaRPr lang="en-US" dirty="0"/>
          </a:p>
        </p:txBody>
      </p:sp>
      <p:sp>
        <p:nvSpPr>
          <p:cNvPr id="3" name="عنصر نائب للمحتوى 2">
            <a:extLst>
              <a:ext uri="{FF2B5EF4-FFF2-40B4-BE49-F238E27FC236}">
                <a16:creationId xmlns:a16="http://schemas.microsoft.com/office/drawing/2014/main" id="{4526C68D-8D15-4C61-25A0-2BF0295E87D8}"/>
              </a:ext>
            </a:extLst>
          </p:cNvPr>
          <p:cNvSpPr>
            <a:spLocks noGrp="1"/>
          </p:cNvSpPr>
          <p:nvPr>
            <p:ph idx="1"/>
          </p:nvPr>
        </p:nvSpPr>
        <p:spPr/>
        <p:txBody>
          <a:bodyPr/>
          <a:lstStyle/>
          <a:p>
            <a:r>
              <a:rPr lang="en-US" dirty="0"/>
              <a:t>Number of scans=3</a:t>
            </a:r>
          </a:p>
          <a:p>
            <a:r>
              <a:rPr lang="en-US" dirty="0"/>
              <a:t>Min support=0.4</a:t>
            </a:r>
          </a:p>
          <a:p>
            <a:r>
              <a:rPr lang="en-US" dirty="0"/>
              <a:t>First scan:</a:t>
            </a:r>
          </a:p>
          <a:p>
            <a:pPr marL="0" indent="0">
              <a:buNone/>
            </a:pPr>
            <a:r>
              <a:rPr lang="en-US" dirty="0"/>
              <a:t>Candidates: ['Bluetooth speaker', 'USB cable', 'headphones', 'keyboard', 'laptop charger', 'phone case', 'phone stand', 'power bank', 'screen protector', 'tablet cover', 'webcam', 'wireless mouse’].</a:t>
            </a:r>
          </a:p>
          <a:p>
            <a:pPr marL="0" indent="0">
              <a:buNone/>
            </a:pPr>
            <a:r>
              <a:rPr lang="en-US" dirty="0"/>
              <a:t>Frequent Itemsets: ['screen protector', 'phone case']</a:t>
            </a:r>
          </a:p>
          <a:p>
            <a:endParaRPr lang="en-US" dirty="0"/>
          </a:p>
        </p:txBody>
      </p:sp>
    </p:spTree>
    <p:extLst>
      <p:ext uri="{BB962C8B-B14F-4D97-AF65-F5344CB8AC3E}">
        <p14:creationId xmlns:p14="http://schemas.microsoft.com/office/powerpoint/2010/main" val="1426862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530A8774-53F1-7F02-A060-B46C15B6459C}"/>
              </a:ext>
            </a:extLst>
          </p:cNvPr>
          <p:cNvSpPr>
            <a:spLocks noGrp="1"/>
          </p:cNvSpPr>
          <p:nvPr>
            <p:ph type="title"/>
          </p:nvPr>
        </p:nvSpPr>
        <p:spPr/>
        <p:txBody>
          <a:bodyPr/>
          <a:lstStyle/>
          <a:p>
            <a:pPr algn="ctr"/>
            <a:r>
              <a:rPr lang="en-US" b="1" i="0" dirty="0">
                <a:solidFill>
                  <a:srgbClr val="ECECEC"/>
                </a:solidFill>
                <a:effectLst/>
                <a:latin typeface="ui-sans-serif"/>
              </a:rPr>
              <a:t>Results - Frequent Itemsets</a:t>
            </a:r>
            <a:endParaRPr lang="en-US" dirty="0"/>
          </a:p>
        </p:txBody>
      </p:sp>
      <p:sp>
        <p:nvSpPr>
          <p:cNvPr id="3" name="عنصر نائب للمحتوى 2">
            <a:extLst>
              <a:ext uri="{FF2B5EF4-FFF2-40B4-BE49-F238E27FC236}">
                <a16:creationId xmlns:a16="http://schemas.microsoft.com/office/drawing/2014/main" id="{8C64DD29-1E65-77B4-F3CA-4F9C45A68C05}"/>
              </a:ext>
            </a:extLst>
          </p:cNvPr>
          <p:cNvSpPr>
            <a:spLocks noGrp="1"/>
          </p:cNvSpPr>
          <p:nvPr>
            <p:ph idx="1"/>
          </p:nvPr>
        </p:nvSpPr>
        <p:spPr/>
        <p:txBody>
          <a:bodyPr/>
          <a:lstStyle/>
          <a:p>
            <a:r>
              <a:rPr lang="en-US" dirty="0"/>
              <a:t>Second scan:</a:t>
            </a:r>
          </a:p>
          <a:p>
            <a:pPr marL="0" indent="0">
              <a:buNone/>
            </a:pPr>
            <a:r>
              <a:rPr lang="en-US" dirty="0"/>
              <a:t>Candidates: ['phone case', 'screen protector']</a:t>
            </a:r>
          </a:p>
          <a:p>
            <a:pPr marL="0" indent="0">
              <a:buNone/>
            </a:pPr>
            <a:r>
              <a:rPr lang="en-US" dirty="0"/>
              <a:t>Frequent Itemsets: []</a:t>
            </a:r>
          </a:p>
          <a:p>
            <a:pPr marL="0" indent="0">
              <a:buNone/>
            </a:pPr>
            <a:r>
              <a:rPr lang="en-US" dirty="0"/>
              <a:t>Third scan:</a:t>
            </a:r>
          </a:p>
          <a:p>
            <a:pPr marL="0" indent="0">
              <a:buNone/>
            </a:pPr>
            <a:r>
              <a:rPr lang="en-US" dirty="0"/>
              <a:t>Frequent Itemsets:</a:t>
            </a:r>
          </a:p>
          <a:p>
            <a:pPr marL="0" indent="0">
              <a:buNone/>
            </a:pPr>
            <a:r>
              <a:rPr lang="en-US" dirty="0"/>
              <a:t>[['screen protector'], ['phone case']]</a:t>
            </a:r>
          </a:p>
        </p:txBody>
      </p:sp>
    </p:spTree>
    <p:extLst>
      <p:ext uri="{BB962C8B-B14F-4D97-AF65-F5344CB8AC3E}">
        <p14:creationId xmlns:p14="http://schemas.microsoft.com/office/powerpoint/2010/main" val="413275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9A46852-A904-A96D-5070-661FC202FE7B}"/>
              </a:ext>
            </a:extLst>
          </p:cNvPr>
          <p:cNvSpPr>
            <a:spLocks noGrp="1"/>
          </p:cNvSpPr>
          <p:nvPr>
            <p:ph type="title"/>
          </p:nvPr>
        </p:nvSpPr>
        <p:spPr/>
        <p:txBody>
          <a:bodyPr/>
          <a:lstStyle/>
          <a:p>
            <a:pPr algn="ctr"/>
            <a:r>
              <a:rPr lang="en-US" b="1" i="0" dirty="0">
                <a:solidFill>
                  <a:srgbClr val="ECECEC"/>
                </a:solidFill>
                <a:effectLst/>
                <a:latin typeface="ui-sans-serif"/>
              </a:rPr>
              <a:t>Results - Support Data</a:t>
            </a:r>
            <a:endParaRPr lang="en-US" dirty="0"/>
          </a:p>
        </p:txBody>
      </p:sp>
      <p:sp>
        <p:nvSpPr>
          <p:cNvPr id="3" name="عنصر نائب للمحتوى 2">
            <a:extLst>
              <a:ext uri="{FF2B5EF4-FFF2-40B4-BE49-F238E27FC236}">
                <a16:creationId xmlns:a16="http://schemas.microsoft.com/office/drawing/2014/main" id="{61B2AE84-E69D-9E88-9E85-B9F90E5C6158}"/>
              </a:ext>
            </a:extLst>
          </p:cNvPr>
          <p:cNvSpPr>
            <a:spLocks noGrp="1"/>
          </p:cNvSpPr>
          <p:nvPr>
            <p:ph idx="1"/>
          </p:nvPr>
        </p:nvSpPr>
        <p:spPr/>
        <p:txBody>
          <a:bodyPr/>
          <a:lstStyle/>
          <a:p>
            <a:r>
              <a:rPr lang="en-US" dirty="0"/>
              <a:t>Support Data:</a:t>
            </a:r>
          </a:p>
          <a:p>
            <a:pPr marL="0" indent="0">
              <a:buNone/>
            </a:pPr>
            <a:r>
              <a:rPr lang="en-US" dirty="0"/>
              <a:t>['headphones']: 0.365</a:t>
            </a:r>
          </a:p>
          <a:p>
            <a:pPr marL="0" indent="0">
              <a:buNone/>
            </a:pPr>
            <a:r>
              <a:rPr lang="en-US" dirty="0"/>
              <a:t>['phone case']: 0.516</a:t>
            </a:r>
          </a:p>
          <a:p>
            <a:pPr marL="0" indent="0">
              <a:buNone/>
            </a:pPr>
            <a:r>
              <a:rPr lang="en-US" dirty="0"/>
              <a:t>['power bank']: 0.364</a:t>
            </a:r>
          </a:p>
          <a:p>
            <a:pPr marL="0" indent="0">
              <a:buNone/>
            </a:pPr>
            <a:r>
              <a:rPr lang="en-US" dirty="0"/>
              <a:t>['screen protector']: 0.499</a:t>
            </a:r>
          </a:p>
          <a:p>
            <a:pPr marL="0" indent="0">
              <a:buNone/>
            </a:pPr>
            <a:r>
              <a:rPr lang="en-US" dirty="0"/>
              <a:t>['webcam']: 0.046</a:t>
            </a:r>
          </a:p>
          <a:p>
            <a:pPr marL="0" indent="0">
              <a:buNone/>
            </a:pPr>
            <a:r>
              <a:rPr lang="en-US" dirty="0"/>
              <a:t>['USB cable']: 0.398</a:t>
            </a:r>
          </a:p>
          <a:p>
            <a:pPr marL="0" indent="0">
              <a:buNone/>
            </a:pPr>
            <a:r>
              <a:rPr lang="en-US" dirty="0"/>
              <a:t>['laptop charger']: 0.372</a:t>
            </a:r>
          </a:p>
          <a:p>
            <a:pPr marL="0" indent="0">
              <a:buNone/>
            </a:pPr>
            <a:endParaRPr lang="en-US" dirty="0"/>
          </a:p>
        </p:txBody>
      </p:sp>
      <p:sp>
        <p:nvSpPr>
          <p:cNvPr id="4" name="مستطيل 3">
            <a:extLst>
              <a:ext uri="{FF2B5EF4-FFF2-40B4-BE49-F238E27FC236}">
                <a16:creationId xmlns:a16="http://schemas.microsoft.com/office/drawing/2014/main" id="{16FED741-0EE8-95E0-4802-F626274A4A69}"/>
              </a:ext>
            </a:extLst>
          </p:cNvPr>
          <p:cNvSpPr/>
          <p:nvPr/>
        </p:nvSpPr>
        <p:spPr>
          <a:xfrm>
            <a:off x="6096000" y="1690688"/>
            <a:ext cx="5425440" cy="448627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indent="0" algn="l">
              <a:lnSpc>
                <a:spcPct val="150000"/>
              </a:lnSpc>
              <a:buNone/>
            </a:pPr>
            <a:endParaRPr lang="en-US" sz="2400" dirty="0"/>
          </a:p>
          <a:p>
            <a:pPr marL="0" indent="0" algn="l">
              <a:lnSpc>
                <a:spcPct val="150000"/>
              </a:lnSpc>
              <a:buNone/>
            </a:pPr>
            <a:r>
              <a:rPr lang="en-US" sz="2400" dirty="0"/>
              <a:t>['phone stand']: 0.197</a:t>
            </a:r>
          </a:p>
          <a:p>
            <a:pPr marL="0" indent="0" algn="l" rtl="0">
              <a:lnSpc>
                <a:spcPct val="150000"/>
              </a:lnSpc>
              <a:buNone/>
            </a:pPr>
            <a:r>
              <a:rPr lang="en-US" sz="2400" dirty="0"/>
              <a:t>['wireless mouse']: 0.368</a:t>
            </a:r>
          </a:p>
          <a:p>
            <a:pPr marL="0" indent="0" algn="l">
              <a:lnSpc>
                <a:spcPct val="150000"/>
              </a:lnSpc>
              <a:buNone/>
            </a:pPr>
            <a:r>
              <a:rPr lang="en-US" sz="2400" dirty="0"/>
              <a:t>['keyboard']: 0.2</a:t>
            </a:r>
          </a:p>
          <a:p>
            <a:pPr marL="0" indent="0" algn="l">
              <a:lnSpc>
                <a:spcPct val="150000"/>
              </a:lnSpc>
              <a:buNone/>
            </a:pPr>
            <a:r>
              <a:rPr lang="en-US" sz="2400" dirty="0"/>
              <a:t>['Bluetooth speaker']: 0.035</a:t>
            </a:r>
          </a:p>
          <a:p>
            <a:pPr marL="0" indent="0" algn="l">
              <a:lnSpc>
                <a:spcPct val="150000"/>
              </a:lnSpc>
              <a:buNone/>
            </a:pPr>
            <a:r>
              <a:rPr lang="en-US" sz="2400" dirty="0"/>
              <a:t>['tablet cover']: 0.044</a:t>
            </a:r>
          </a:p>
          <a:p>
            <a:pPr marL="0" indent="0" algn="l">
              <a:lnSpc>
                <a:spcPct val="150000"/>
              </a:lnSpc>
              <a:buNone/>
            </a:pPr>
            <a:r>
              <a:rPr lang="en-US" sz="2400" dirty="0"/>
              <a:t>['phone case', 'screen protector']: 0.252</a:t>
            </a:r>
          </a:p>
        </p:txBody>
      </p:sp>
    </p:spTree>
    <p:extLst>
      <p:ext uri="{BB962C8B-B14F-4D97-AF65-F5344CB8AC3E}">
        <p14:creationId xmlns:p14="http://schemas.microsoft.com/office/powerpoint/2010/main" val="1282578877"/>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docProps/app.xml><?xml version="1.0" encoding="utf-8"?>
<Properties xmlns="http://schemas.openxmlformats.org/officeDocument/2006/extended-properties" xmlns:vt="http://schemas.openxmlformats.org/officeDocument/2006/docPropsVTypes">
  <TotalTime>412</TotalTime>
  <Words>1254</Words>
  <Application>Microsoft Office PowerPoint</Application>
  <PresentationFormat>شاشة عريضة</PresentationFormat>
  <Paragraphs>129</Paragraphs>
  <Slides>16</Slides>
  <Notes>0</Notes>
  <HiddenSlides>0</HiddenSlides>
  <MMClips>0</MMClips>
  <ScaleCrop>false</ScaleCrop>
  <HeadingPairs>
    <vt:vector size="6" baseType="variant">
      <vt:variant>
        <vt:lpstr>الخطوط المستخدمة</vt:lpstr>
      </vt:variant>
      <vt:variant>
        <vt:i4>6</vt:i4>
      </vt:variant>
      <vt:variant>
        <vt:lpstr>نسق</vt:lpstr>
      </vt:variant>
      <vt:variant>
        <vt:i4>1</vt:i4>
      </vt:variant>
      <vt:variant>
        <vt:lpstr>عناوين الشرائح</vt:lpstr>
      </vt:variant>
      <vt:variant>
        <vt:i4>16</vt:i4>
      </vt:variant>
    </vt:vector>
  </HeadingPairs>
  <TitlesOfParts>
    <vt:vector size="23" baseType="lpstr">
      <vt:lpstr>Arial</vt:lpstr>
      <vt:lpstr>Consolas</vt:lpstr>
      <vt:lpstr>Helvetica</vt:lpstr>
      <vt:lpstr>Segoe UI</vt:lpstr>
      <vt:lpstr>ui-monospace</vt:lpstr>
      <vt:lpstr>ui-sans-serif</vt:lpstr>
      <vt:lpstr>FunkyShapesDarkVTI</vt:lpstr>
      <vt:lpstr>Application of the Apriori Algorithm for Market Basket Analysis</vt:lpstr>
      <vt:lpstr>Introduction: Market Basket Analysis  </vt:lpstr>
      <vt:lpstr>Introduction: Apriori algorithm</vt:lpstr>
      <vt:lpstr>Applications of the Apriori Algorithm </vt:lpstr>
      <vt:lpstr>Applications of the Apriori Algorithm </vt:lpstr>
      <vt:lpstr>Methodology</vt:lpstr>
      <vt:lpstr>Implementation</vt:lpstr>
      <vt:lpstr>Implementation - Loading the Dataset</vt:lpstr>
      <vt:lpstr>Implementation - Generating Candidates</vt:lpstr>
      <vt:lpstr>Implementation - Generating Candidates</vt:lpstr>
      <vt:lpstr>Implementation - Generating Candidates(code)</vt:lpstr>
      <vt:lpstr>Implementation - Scanning the Dataset and Generating new Candidates </vt:lpstr>
      <vt:lpstr>Implementation - Scanning the Dataset and Generating new Candidates </vt:lpstr>
      <vt:lpstr>Results - Frequent Itemsets</vt:lpstr>
      <vt:lpstr>Results - Frequent Itemsets</vt:lpstr>
      <vt:lpstr>Results - Support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of the Apriori Algorithm for Market Basket Analysis</dc:title>
  <dc:creator>البراء خالد احمد المسيعديين</dc:creator>
  <cp:lastModifiedBy>البراء خالد احمد المسيعديين</cp:lastModifiedBy>
  <cp:revision>5</cp:revision>
  <dcterms:created xsi:type="dcterms:W3CDTF">2024-05-24T21:13:09Z</dcterms:created>
  <dcterms:modified xsi:type="dcterms:W3CDTF">2024-05-26T13:47:52Z</dcterms:modified>
</cp:coreProperties>
</file>